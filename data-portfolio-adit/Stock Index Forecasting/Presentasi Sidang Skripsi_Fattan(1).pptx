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15_C4991243.xml" ContentType="application/vnd.ms-powerpoint.comment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6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7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8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9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0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13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14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15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16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17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notesSlides/notesSlide18.xml" ContentType="application/vnd.openxmlformats-officedocument.presentationml.notesSlide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notesSlides/notesSlide19.xml" ContentType="application/vnd.openxmlformats-officedocument.presentationml.notesSlide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notesSlides/notesSlide20.xml" ContentType="application/vnd.openxmlformats-officedocument.presentationml.notesSlide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notesSlides/notesSlide21.xml" ContentType="application/vnd.openxmlformats-officedocument.presentationml.notesSlide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notesSlides/notesSlide22.xml" ContentType="application/vnd.openxmlformats-officedocument.presentationml.notesSlide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notesSlides/notesSlide23.xml" ContentType="application/vnd.openxmlformats-officedocument.presentationml.notesSlide+xml"/>
  <Override PartName="/ppt/tags/tag246.xml" ContentType="application/vnd.openxmlformats-officedocument.presentationml.tags+xml"/>
  <Override PartName="/ppt/notesSlides/notesSlide24.xml" ContentType="application/vnd.openxmlformats-officedocument.presentationml.notesSlide+xml"/>
  <Override PartName="/ppt/tags/tag247.xml" ContentType="application/vnd.openxmlformats-officedocument.presentationml.tags+xml"/>
  <Override PartName="/ppt/notesSlides/notesSlide25.xml" ContentType="application/vnd.openxmlformats-officedocument.presentationml.notesSlide+xml"/>
  <Override PartName="/ppt/media/image97.jpg" ContentType="image/png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85" r:id="rId3"/>
    <p:sldId id="296" r:id="rId4"/>
    <p:sldId id="257" r:id="rId5"/>
    <p:sldId id="277" r:id="rId6"/>
    <p:sldId id="278" r:id="rId7"/>
    <p:sldId id="265" r:id="rId8"/>
    <p:sldId id="266" r:id="rId9"/>
    <p:sldId id="279" r:id="rId10"/>
    <p:sldId id="288" r:id="rId11"/>
    <p:sldId id="272" r:id="rId12"/>
    <p:sldId id="289" r:id="rId13"/>
    <p:sldId id="290" r:id="rId14"/>
    <p:sldId id="286" r:id="rId15"/>
    <p:sldId id="267" r:id="rId16"/>
    <p:sldId id="274" r:id="rId17"/>
    <p:sldId id="284" r:id="rId18"/>
    <p:sldId id="295" r:id="rId19"/>
    <p:sldId id="293" r:id="rId20"/>
    <p:sldId id="294" r:id="rId21"/>
    <p:sldId id="291" r:id="rId22"/>
    <p:sldId id="269" r:id="rId23"/>
    <p:sldId id="270" r:id="rId24"/>
    <p:sldId id="271" r:id="rId25"/>
    <p:sldId id="283" r:id="rId26"/>
    <p:sldId id="268" r:id="rId27"/>
    <p:sldId id="280" r:id="rId28"/>
    <p:sldId id="292" r:id="rId29"/>
    <p:sldId id="281" r:id="rId30"/>
    <p:sldId id="273" r:id="rId31"/>
    <p:sldId id="282" r:id="rId32"/>
    <p:sldId id="287" r:id="rId33"/>
    <p:sldId id="263" r:id="rId34"/>
    <p:sldId id="276" r:id="rId35"/>
    <p:sldId id="275" r:id="rId36"/>
    <p:sldId id="26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8F50E1-54DC-2B7E-5E5B-FA33405BFBEA}" name="Fattan Raditya Anggoro" initials="FRA" userId="S::fattan.raditya@office.ui.ac.id::23b3155c-d21d-4ead-8f47-d2b6c47c49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FFC000"/>
    <a:srgbClr val="70AD47"/>
    <a:srgbClr val="BEE7BB"/>
    <a:srgbClr val="002060"/>
    <a:srgbClr val="0042C8"/>
    <a:srgbClr val="C9C9C9"/>
    <a:srgbClr val="BFBFBF"/>
    <a:srgbClr val="ED7D31"/>
    <a:srgbClr val="BF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78589" autoAdjust="0"/>
  </p:normalViewPr>
  <p:slideViewPr>
    <p:cSldViewPr>
      <p:cViewPr>
        <p:scale>
          <a:sx n="45" d="100"/>
          <a:sy n="45" d="100"/>
        </p:scale>
        <p:origin x="1372" y="3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4" d="100"/>
          <a:sy n="54" d="100"/>
        </p:scale>
        <p:origin x="2564" y="48"/>
      </p:cViewPr>
      <p:guideLst/>
    </p:cSldViewPr>
  </p:notesViewPr>
  <p:gridSpacing cx="68400" cy="684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omments/modernComment_115_C499124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6CDB498-1486-4CFE-BAA0-07813062AA98}" authorId="{FD8F50E1-54DC-2B7E-5E5B-FA33405BFBEA}" created="2026-06-22T04:28:19.164">
    <pc:sldMkLst xmlns:pc="http://schemas.microsoft.com/office/powerpoint/2013/main/command">
      <pc:docMk/>
      <pc:sldMk cId="3298366019" sldId="277"/>
    </pc:sldMkLst>
    <p188:replyLst>
      <p188:reply id="{572E3387-59B9-4AD3-B7E5-5326237C9484}" authorId="{FD8F50E1-54DC-2B7E-5E5B-FA33405BFBEA}" created="2026-06-22T04:29:33.176">
        <p188:txBody>
          <a:bodyPr/>
          <a:lstStyle/>
          <a:p>
            <a:r>
              <a:rPr lang="en-US"/>
              <a:t>Penelitian sebelumnya</a:t>
            </a:r>
          </a:p>
        </p188:txBody>
      </p188:reply>
    </p188:replyLst>
    <p188:txBody>
      <a:bodyPr/>
      <a:lstStyle/>
      <a:p>
        <a:r>
          <a:rPr lang="en-US"/>
          <a:t>Jadiin RM slide sendiri?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7055BA-6129-2C2F-C820-DFA2789A7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96649-3022-515F-A311-A01C5AE6BB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775AC-0B27-4C5D-8418-ED5EF22AF367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BBC36-C26A-D50E-3158-9D0073D81A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B0F74-BD0A-C792-1462-0BC2A4615B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C526B-4BD7-4C67-8859-53E93B353F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371280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0A35F-A289-4287-8FF6-DCD91D790E86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91865F-721A-421D-B33B-1CBE17E4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.si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m.sc/" TargetMode="External"/><Relationship Id="rId4" Type="http://schemas.openxmlformats.org/officeDocument/2006/relationships/hyperlink" Target="http://m.si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Assalamualaikum </a:t>
            </a:r>
            <a:r>
              <a:rPr lang="en-US" dirty="0" err="1"/>
              <a:t>warahmatullahi</a:t>
            </a:r>
            <a:r>
              <a:rPr lang="en-US" dirty="0"/>
              <a:t> </a:t>
            </a:r>
            <a:r>
              <a:rPr lang="en-US" dirty="0" err="1"/>
              <a:t>wabarakatuh</a:t>
            </a:r>
            <a:r>
              <a:rPr lang="en-US" dirty="0"/>
              <a:t>, dan </a:t>
            </a:r>
            <a:r>
              <a:rPr lang="en-US" dirty="0" err="1"/>
              <a:t>selamat</a:t>
            </a:r>
            <a:r>
              <a:rPr lang="en-US" dirty="0"/>
              <a:t> </a:t>
            </a:r>
            <a:r>
              <a:rPr lang="en-US" dirty="0" err="1"/>
              <a:t>pagi</a:t>
            </a:r>
            <a:r>
              <a:rPr lang="en-US" dirty="0"/>
              <a:t>.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hormati</a:t>
            </a:r>
            <a:r>
              <a:rPr lang="en-US" dirty="0"/>
              <a:t> Bapak Prof. Dr. </a:t>
            </a:r>
            <a:r>
              <a:rPr lang="en-US" dirty="0" err="1"/>
              <a:t>Suryadi</a:t>
            </a:r>
            <a:r>
              <a:rPr lang="en-US" dirty="0"/>
              <a:t>, M.T. dan Ibu Dr. Putri Zahra </a:t>
            </a:r>
            <a:r>
              <a:rPr lang="en-US" dirty="0" err="1"/>
              <a:t>Kamalia</a:t>
            </a:r>
            <a:r>
              <a:rPr lang="en-US" dirty="0"/>
              <a:t>, </a:t>
            </a:r>
            <a:r>
              <a:rPr lang="en-US" dirty="0" err="1">
                <a:hlinkClick r:id="rId3"/>
              </a:rPr>
              <a:t>S.Si</a:t>
            </a:r>
            <a:r>
              <a:rPr lang="en-US" dirty="0"/>
              <a:t>., </a:t>
            </a:r>
            <a:r>
              <a:rPr lang="en-US" dirty="0" err="1">
                <a:hlinkClick r:id="rId4"/>
              </a:rPr>
              <a:t>M.Si</a:t>
            </a:r>
            <a:r>
              <a:rPr lang="en-US" dirty="0"/>
              <a:t>. </a:t>
            </a:r>
            <a:r>
              <a:rPr lang="en-US" dirty="0" err="1"/>
              <a:t>selaku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penguji</a:t>
            </a:r>
            <a:r>
              <a:rPr lang="en-US" dirty="0"/>
              <a:t>, </a:t>
            </a:r>
            <a:r>
              <a:rPr lang="en-US" dirty="0" err="1"/>
              <a:t>serta</a:t>
            </a:r>
            <a:r>
              <a:rPr lang="en-US" dirty="0"/>
              <a:t> Bapak Drs. Gatot </a:t>
            </a:r>
            <a:r>
              <a:rPr lang="en-US" dirty="0" err="1"/>
              <a:t>Fatwanto</a:t>
            </a:r>
            <a:r>
              <a:rPr lang="en-US" dirty="0"/>
              <a:t> </a:t>
            </a:r>
            <a:r>
              <a:rPr lang="en-US" dirty="0" err="1"/>
              <a:t>Hertono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M.Sc</a:t>
            </a:r>
            <a:r>
              <a:rPr lang="en-US" dirty="0"/>
              <a:t>., Ph.D. dan Ibu </a:t>
            </a:r>
            <a:r>
              <a:rPr lang="en-US" dirty="0" err="1"/>
              <a:t>Devvi</a:t>
            </a:r>
            <a:r>
              <a:rPr lang="en-US" dirty="0"/>
              <a:t> </a:t>
            </a:r>
            <a:r>
              <a:rPr lang="en-US" dirty="0" err="1"/>
              <a:t>Sarwinda</a:t>
            </a:r>
            <a:r>
              <a:rPr lang="en-US" dirty="0"/>
              <a:t>, </a:t>
            </a:r>
            <a:r>
              <a:rPr lang="en-US" dirty="0" err="1">
                <a:hlinkClick r:id="rId3"/>
              </a:rPr>
              <a:t>S.Si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 </a:t>
            </a:r>
            <a:r>
              <a:rPr lang="en-US" dirty="0" err="1"/>
              <a:t>selaku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pembimbing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Perkenalkan</a:t>
            </a:r>
            <a:r>
              <a:rPr lang="en-US" dirty="0"/>
              <a:t>, nama </a:t>
            </a:r>
            <a:r>
              <a:rPr lang="en-US" dirty="0" err="1"/>
              <a:t>saya</a:t>
            </a:r>
            <a:r>
              <a:rPr lang="en-US" dirty="0"/>
              <a:t> Fattan Raditya Anggoro. Pada </a:t>
            </a:r>
            <a:r>
              <a:rPr lang="en-US" dirty="0" err="1"/>
              <a:t>kesempatan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izinkan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mempresentasikan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yang </a:t>
            </a:r>
            <a:r>
              <a:rPr lang="en-US" dirty="0" err="1"/>
              <a:t>berjudul</a:t>
            </a:r>
            <a:r>
              <a:rPr lang="en-US" dirty="0"/>
              <a:t> </a:t>
            </a:r>
            <a:r>
              <a:rPr lang="en-US" b="1" dirty="0"/>
              <a:t>"</a:t>
            </a:r>
            <a:r>
              <a:rPr lang="en-US" b="1" dirty="0" err="1"/>
              <a:t>Prediksi</a:t>
            </a:r>
            <a:r>
              <a:rPr lang="en-US" b="1" dirty="0"/>
              <a:t> </a:t>
            </a:r>
            <a:r>
              <a:rPr lang="en-US" b="1" dirty="0" err="1"/>
              <a:t>Indeks</a:t>
            </a:r>
            <a:r>
              <a:rPr lang="en-US" b="1" dirty="0"/>
              <a:t> Harga Saham LQ45 </a:t>
            </a:r>
            <a:r>
              <a:rPr lang="en-US" b="1" dirty="0" err="1"/>
              <a:t>dengan</a:t>
            </a:r>
            <a:r>
              <a:rPr lang="en-US" b="1" dirty="0"/>
              <a:t> Model GRU-ODE"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6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70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7211E-A6BF-EAF1-BB16-9081BC31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7237B-7A3A-E0CF-8241-6776554E8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E963A-EF9A-3E91-7BC2-101A9ABE8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F28F1-2606-699F-8E0F-BC561242B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31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Pertama</a:t>
            </a:r>
            <a:r>
              <a:rPr lang="en-US" dirty="0"/>
              <a:t>,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. </a:t>
            </a:r>
            <a:r>
              <a:rPr lang="en-US" b="1" dirty="0"/>
              <a:t>Saham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penyertaan</a:t>
            </a:r>
            <a:r>
              <a:rPr lang="en-US" dirty="0"/>
              <a:t> modal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yang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kepemilikan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 Jual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saham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investor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medium </a:t>
            </a:r>
            <a:r>
              <a:rPr lang="en-US" dirty="0" err="1"/>
              <a:t>bernama</a:t>
            </a:r>
            <a:r>
              <a:rPr lang="en-US" dirty="0"/>
              <a:t> pasar modal.</a:t>
            </a:r>
          </a:p>
          <a:p>
            <a:r>
              <a:rPr lang="en-US" dirty="0" err="1"/>
              <a:t>Dalam</a:t>
            </a:r>
            <a:r>
              <a:rPr lang="en-US" dirty="0"/>
              <a:t> pasar modal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yang </a:t>
            </a:r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pasar modal, salah </a:t>
            </a:r>
            <a:r>
              <a:rPr lang="en-US" dirty="0" err="1"/>
              <a:t>satunya</a:t>
            </a:r>
            <a:r>
              <a:rPr lang="en-US" dirty="0"/>
              <a:t> </a:t>
            </a:r>
            <a:r>
              <a:rPr lang="en-US" b="1" dirty="0"/>
              <a:t>LQ45</a:t>
            </a:r>
            <a:r>
              <a:rPr lang="en-US" dirty="0"/>
              <a:t>.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likuiditas</a:t>
            </a:r>
            <a:r>
              <a:rPr lang="en-US" dirty="0"/>
              <a:t> yang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sangat </a:t>
            </a:r>
            <a:r>
              <a:rPr lang="en-US" dirty="0" err="1"/>
              <a:t>sensitif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pasar. Karena </a:t>
            </a:r>
            <a:r>
              <a:rPr lang="en-US" dirty="0" err="1"/>
              <a:t>itu</a:t>
            </a:r>
            <a:r>
              <a:rPr lang="en-US" dirty="0"/>
              <a:t>, </a:t>
            </a:r>
            <a:r>
              <a:rPr lang="en-US" dirty="0" err="1"/>
              <a:t>pergerakannya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dirty="0" err="1"/>
              <a:t>perdagangan</a:t>
            </a:r>
            <a:r>
              <a:rPr lang="en-US" dirty="0"/>
              <a:t> di bursa. Data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b="1" dirty="0" err="1"/>
              <a:t>Indeks</a:t>
            </a:r>
            <a:r>
              <a:rPr lang="en-US" b="1" dirty="0"/>
              <a:t> Saham Intraday LQ45</a:t>
            </a:r>
            <a:r>
              <a:rPr lang="en-US" dirty="0"/>
              <a:t>.</a:t>
            </a:r>
          </a:p>
          <a:p>
            <a:r>
              <a:rPr lang="en-US" dirty="0"/>
              <a:t>Dari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,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pada </a:t>
            </a:r>
            <a:r>
              <a:rPr lang="en-US" dirty="0" err="1"/>
              <a:t>ranah</a:t>
            </a:r>
            <a:r>
              <a:rPr lang="en-US" dirty="0"/>
              <a:t> </a:t>
            </a:r>
            <a:r>
              <a:rPr lang="en-US" i="1" dirty="0"/>
              <a:t>machine learning</a:t>
            </a:r>
            <a:r>
              <a:rPr lang="en-US" dirty="0"/>
              <a:t>, </a:t>
            </a:r>
            <a:r>
              <a:rPr lang="en-US" dirty="0" err="1"/>
              <a:t>khususnya</a:t>
            </a:r>
            <a:r>
              <a:rPr lang="en-US" dirty="0"/>
              <a:t> </a:t>
            </a:r>
            <a:r>
              <a:rPr lang="en-US" i="1" dirty="0"/>
              <a:t>supervised learning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i="1" dirty="0"/>
              <a:t>regression</a:t>
            </a:r>
            <a:r>
              <a:rPr lang="en-US" dirty="0"/>
              <a:t>. Data yang </a:t>
            </a:r>
            <a:r>
              <a:rPr lang="en-US" dirty="0" err="1"/>
              <a:t>ditangani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b="1" dirty="0"/>
              <a:t>time-series 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sekumpulan</a:t>
            </a:r>
            <a:r>
              <a:rPr lang="en-US" dirty="0"/>
              <a:t> </a:t>
            </a:r>
            <a:r>
              <a:rPr lang="en-US" dirty="0" err="1"/>
              <a:t>observasi</a:t>
            </a:r>
            <a:r>
              <a:rPr lang="en-US" dirty="0"/>
              <a:t> yang </a:t>
            </a:r>
            <a:r>
              <a:rPr lang="en-US" dirty="0" err="1"/>
              <a:t>dicatat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berurutan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interval </a:t>
            </a:r>
            <a:r>
              <a:rPr lang="en-US" dirty="0" err="1"/>
              <a:t>waktu</a:t>
            </a:r>
            <a:r>
              <a:rPr lang="en-US" dirty="0"/>
              <a:t>. Data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: </a:t>
            </a:r>
            <a:r>
              <a:rPr lang="en-US" i="1" dirty="0"/>
              <a:t>training set</a:t>
            </a:r>
            <a:r>
              <a:rPr lang="en-US" dirty="0"/>
              <a:t>, </a:t>
            </a:r>
            <a:r>
              <a:rPr lang="en-US" i="1" dirty="0"/>
              <a:t>validation set</a:t>
            </a:r>
            <a:r>
              <a:rPr lang="en-US" dirty="0"/>
              <a:t>, dan </a:t>
            </a:r>
            <a:r>
              <a:rPr lang="en-US" i="1" dirty="0"/>
              <a:t>test set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11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Mengapa</a:t>
            </a:r>
            <a:r>
              <a:rPr lang="en-US" dirty="0"/>
              <a:t> LQ45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 Karena LQ45 </a:t>
            </a:r>
            <a:r>
              <a:rPr lang="en-US" dirty="0" err="1"/>
              <a:t>merepresentasikan</a:t>
            </a:r>
            <a:r>
              <a:rPr lang="en-US" dirty="0"/>
              <a:t> 45 </a:t>
            </a:r>
            <a:r>
              <a:rPr lang="en-US" dirty="0" err="1"/>
              <a:t>saham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likuiditas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dan </a:t>
            </a:r>
            <a:r>
              <a:rPr lang="en-US" dirty="0" err="1"/>
              <a:t>kapitalisasi</a:t>
            </a:r>
            <a:r>
              <a:rPr lang="en-US" dirty="0"/>
              <a:t> pasar </a:t>
            </a:r>
            <a:r>
              <a:rPr lang="en-US" dirty="0" err="1"/>
              <a:t>besar</a:t>
            </a:r>
            <a:r>
              <a:rPr lang="en-US" dirty="0"/>
              <a:t> di Bursa </a:t>
            </a:r>
            <a:r>
              <a:rPr lang="en-US" dirty="0" err="1"/>
              <a:t>Efek</a:t>
            </a:r>
            <a:r>
              <a:rPr lang="en-US" dirty="0"/>
              <a:t> Indonesia,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relevan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i="1" dirty="0"/>
              <a:t>benchmark</a:t>
            </a:r>
            <a:r>
              <a:rPr lang="en-US" dirty="0"/>
              <a:t> </a:t>
            </a:r>
            <a:r>
              <a:rPr lang="en-US" dirty="0" err="1"/>
              <a:t>aktivitas</a:t>
            </a:r>
            <a:r>
              <a:rPr lang="en-US" dirty="0"/>
              <a:t> bursa. </a:t>
            </a:r>
            <a:r>
              <a:rPr lang="en-US" dirty="0" err="1"/>
              <a:t>Namun</a:t>
            </a:r>
            <a:r>
              <a:rPr lang="en-US" dirty="0"/>
              <a:t>,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saham</a:t>
            </a:r>
            <a:r>
              <a:rPr lang="en-US" dirty="0"/>
              <a:t> intraday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dinamis</a:t>
            </a:r>
            <a:r>
              <a:rPr lang="en-US" dirty="0"/>
              <a:t>, non-linear, dan </a:t>
            </a:r>
            <a:r>
              <a:rPr lang="en-US" b="1" dirty="0"/>
              <a:t>interval </a:t>
            </a:r>
            <a:r>
              <a:rPr lang="en-US" b="1" dirty="0" err="1"/>
              <a:t>waktunya</a:t>
            </a:r>
            <a:r>
              <a:rPr lang="en-US" b="1" dirty="0"/>
              <a:t> </a:t>
            </a:r>
            <a:r>
              <a:rPr lang="en-US" b="1" dirty="0" err="1"/>
              <a:t>tidak</a:t>
            </a:r>
            <a:r>
              <a:rPr lang="en-US" b="1" dirty="0"/>
              <a:t> </a:t>
            </a:r>
            <a:r>
              <a:rPr lang="en-US" b="1" dirty="0" err="1"/>
              <a:t>seragam</a:t>
            </a:r>
            <a:r>
              <a:rPr lang="en-US" dirty="0"/>
              <a:t>.</a:t>
            </a:r>
          </a:p>
          <a:p>
            <a:r>
              <a:rPr lang="en-US" dirty="0" err="1"/>
              <a:t>Inilah</a:t>
            </a:r>
            <a:r>
              <a:rPr lang="en-US" dirty="0"/>
              <a:t> inti </a:t>
            </a:r>
            <a:r>
              <a:rPr lang="en-US" dirty="0" err="1"/>
              <a:t>permasalahan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: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i="1" dirty="0"/>
              <a:t>forecasting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observasi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.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gambaran</a:t>
            </a:r>
            <a:r>
              <a:rPr lang="en-US" dirty="0"/>
              <a:t>, gap </a:t>
            </a:r>
            <a:r>
              <a:rPr lang="en-US" dirty="0" err="1"/>
              <a:t>antar</a:t>
            </a:r>
            <a:r>
              <a:rPr lang="en-US" dirty="0"/>
              <a:t> data pada data intraday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bervariasi</a:t>
            </a:r>
            <a:r>
              <a:rPr lang="en-US" dirty="0"/>
              <a:t>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5 </a:t>
            </a:r>
            <a:r>
              <a:rPr lang="en-US" dirty="0" err="1"/>
              <a:t>menit</a:t>
            </a:r>
            <a:r>
              <a:rPr lang="en-US" dirty="0"/>
              <a:t> pada interval normal, 90 </a:t>
            </a:r>
            <a:r>
              <a:rPr lang="en-US" dirty="0" err="1"/>
              <a:t>menit</a:t>
            </a:r>
            <a:r>
              <a:rPr lang="en-US" dirty="0"/>
              <a:t> saat </a:t>
            </a:r>
            <a:r>
              <a:rPr lang="en-US" dirty="0" err="1"/>
              <a:t>istirahat</a:t>
            </a:r>
            <a:r>
              <a:rPr lang="en-US" dirty="0"/>
              <a:t> </a:t>
            </a:r>
            <a:r>
              <a:rPr lang="en-US" dirty="0" err="1"/>
              <a:t>siang</a:t>
            </a:r>
            <a:r>
              <a:rPr lang="en-US" dirty="0"/>
              <a:t>, 1.020 </a:t>
            </a:r>
            <a:r>
              <a:rPr lang="en-US" dirty="0" err="1"/>
              <a:t>menit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overnight close</a:t>
            </a:r>
            <a:r>
              <a:rPr lang="en-US" dirty="0"/>
              <a:t>, 3.900 </a:t>
            </a:r>
            <a:r>
              <a:rPr lang="en-US" dirty="0" err="1"/>
              <a:t>menit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pekan, </a:t>
            </a:r>
            <a:r>
              <a:rPr lang="en-US" dirty="0" err="1"/>
              <a:t>hingga</a:t>
            </a:r>
            <a:r>
              <a:rPr lang="en-US" dirty="0"/>
              <a:t> 11.520 </a:t>
            </a:r>
            <a:r>
              <a:rPr lang="en-US" dirty="0" err="1"/>
              <a:t>menit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gap </a:t>
            </a:r>
            <a:r>
              <a:rPr lang="en-US" dirty="0" err="1"/>
              <a:t>libur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.</a:t>
            </a:r>
          </a:p>
          <a:p>
            <a:r>
              <a:rPr lang="en-US" dirty="0"/>
              <a:t>Dari </a:t>
            </a:r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merumuskan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:</a:t>
            </a:r>
          </a:p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pergerakan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Harga Saham LQ45 intraday pada interval 5 </a:t>
            </a:r>
            <a:r>
              <a:rPr lang="en-US" dirty="0" err="1"/>
              <a:t>menit</a:t>
            </a:r>
            <a:r>
              <a:rPr lang="en-US" dirty="0"/>
              <a:t>?</a:t>
            </a:r>
          </a:p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model GRU-ODE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forecasting</a:t>
            </a:r>
            <a:r>
              <a:rPr lang="en-US" dirty="0"/>
              <a:t> data LQ45 intraday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i="1" dirty="0"/>
              <a:t>irregular time-series</a:t>
            </a:r>
            <a:r>
              <a:rPr lang="en-US" dirty="0"/>
              <a:t>?</a:t>
            </a:r>
          </a:p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GRU-ODE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model GRU </a:t>
            </a:r>
            <a:r>
              <a:rPr lang="en-US" i="1" dirty="0"/>
              <a:t>baseline</a:t>
            </a:r>
            <a:r>
              <a:rPr lang="en-US" dirty="0"/>
              <a:t> yang </a:t>
            </a:r>
            <a:r>
              <a:rPr lang="en-US" dirty="0" err="1"/>
              <a:t>memproses</a:t>
            </a:r>
            <a:r>
              <a:rPr lang="en-US" dirty="0"/>
              <a:t> </a:t>
            </a:r>
            <a:r>
              <a:rPr lang="en-US" i="1" dirty="0"/>
              <a:t>hidden state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00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inti </a:t>
            </a:r>
            <a:r>
              <a:rPr lang="en-US" dirty="0" err="1"/>
              <a:t>penelitian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membahas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yang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dibahas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Pertama</a:t>
            </a:r>
            <a:r>
              <a:rPr lang="en-US" dirty="0"/>
              <a:t>,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b="1" dirty="0"/>
              <a:t>Multilayer Perceptron, </a:t>
            </a:r>
            <a:r>
              <a:rPr lang="en-US" b="1" dirty="0" err="1"/>
              <a:t>sebuahbentuk</a:t>
            </a:r>
            <a:r>
              <a:rPr lang="en-US" b="1" dirty="0"/>
              <a:t> paling </a:t>
            </a:r>
            <a:r>
              <a:rPr lang="en-US" b="1" dirty="0" err="1"/>
              <a:t>dasar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neural network, </a:t>
            </a:r>
            <a:r>
              <a:rPr lang="en-US" b="1" dirty="0" err="1"/>
              <a:t>terdiri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sekumpulan</a:t>
            </a:r>
            <a:r>
              <a:rPr lang="en-US" b="1" dirty="0"/>
              <a:t> neuron yang </a:t>
            </a:r>
            <a:r>
              <a:rPr lang="en-US" b="1" dirty="0" err="1"/>
              <a:t>megambil</a:t>
            </a:r>
            <a:r>
              <a:rPr lang="en-US" b="1" dirty="0"/>
              <a:t> input, </a:t>
            </a:r>
            <a:r>
              <a:rPr lang="en-US" b="1" dirty="0" err="1"/>
              <a:t>menghitung</a:t>
            </a:r>
            <a:r>
              <a:rPr lang="en-US" b="1" dirty="0"/>
              <a:t> weighted sum, dan </a:t>
            </a:r>
            <a:r>
              <a:rPr lang="en-US" b="1" dirty="0" err="1"/>
              <a:t>mengakyivasi</a:t>
            </a:r>
            <a:r>
              <a:rPr lang="en-US" b="1" dirty="0"/>
              <a:t> </a:t>
            </a:r>
            <a:r>
              <a:rPr lang="en-US" b="1" dirty="0" err="1"/>
              <a:t>fungsi</a:t>
            </a:r>
            <a:r>
              <a:rPr lang="en-US" b="1" dirty="0"/>
              <a:t> </a:t>
            </a:r>
            <a:r>
              <a:rPr lang="en-US" b="1" dirty="0" err="1"/>
              <a:t>aktivasi</a:t>
            </a:r>
            <a:r>
              <a:rPr lang="en-US" b="1" dirty="0"/>
              <a:t>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menghasilkan</a:t>
            </a:r>
            <a:r>
              <a:rPr lang="en-US" b="1" dirty="0"/>
              <a:t> output</a:t>
            </a:r>
          </a:p>
          <a:p>
            <a:endParaRPr lang="en-US" b="1" dirty="0"/>
          </a:p>
          <a:p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sekuensial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time-series, </a:t>
            </a:r>
            <a:r>
              <a:rPr lang="en-US" dirty="0" err="1"/>
              <a:t>metode</a:t>
            </a:r>
            <a:r>
              <a:rPr lang="en-US" dirty="0"/>
              <a:t> yang popular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b="1" dirty="0"/>
              <a:t>Recurrent Neural Network (RNN), yang </a:t>
            </a:r>
            <a:r>
              <a:rPr lang="en-US" b="1" dirty="0" err="1"/>
              <a:t>adalah</a:t>
            </a:r>
            <a:r>
              <a:rPr lang="en-US" b="1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NN yang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i="1" dirty="0"/>
              <a:t>recurrent connection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memproses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 err="1"/>
              <a:t>Kemudian</a:t>
            </a:r>
            <a:r>
              <a:rPr lang="en-US" b="1" dirty="0"/>
              <a:t>, </a:t>
            </a:r>
            <a:r>
              <a:rPr lang="en-US" b="1" dirty="0" err="1"/>
              <a:t>ada</a:t>
            </a:r>
            <a:r>
              <a:rPr lang="en-US" b="1" dirty="0"/>
              <a:t> </a:t>
            </a:r>
            <a:r>
              <a:rPr lang="en-US" b="1" dirty="0" err="1"/>
              <a:t>Fungsi</a:t>
            </a:r>
            <a:r>
              <a:rPr lang="en-US" b="1" dirty="0"/>
              <a:t> </a:t>
            </a:r>
            <a:r>
              <a:rPr lang="en-US" b="1" dirty="0" err="1"/>
              <a:t>aktivasi</a:t>
            </a:r>
            <a:r>
              <a:rPr lang="en-US" b="1" dirty="0"/>
              <a:t> yang </a:t>
            </a:r>
            <a:r>
              <a:rPr lang="en-US" dirty="0" err="1"/>
              <a:t>berperan</a:t>
            </a:r>
            <a:r>
              <a:rPr lang="en-US" dirty="0"/>
              <a:t> </a:t>
            </a:r>
            <a:r>
              <a:rPr lang="en-US" dirty="0" err="1"/>
              <a:t>memperkenalkan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non-</a:t>
            </a:r>
            <a:r>
              <a:rPr lang="en-US" dirty="0" err="1"/>
              <a:t>linearitas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linear (pre-activation value) pada node input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aktivasi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node input (post-activation value). Pada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aktivasi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sigmoid dan tanh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81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GRU</a:t>
            </a:r>
            <a:r>
              <a:rPr lang="en-US" dirty="0"/>
              <a:t> </a:t>
            </a:r>
            <a:r>
              <a:rPr lang="en-US" dirty="0" err="1"/>
              <a:t>dirancang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mengatasi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i="1" dirty="0"/>
              <a:t>vanishing gradient</a:t>
            </a:r>
            <a:r>
              <a:rPr lang="en-US" dirty="0"/>
              <a:t> yang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pada RNN Ketika </a:t>
            </a:r>
            <a:r>
              <a:rPr lang="en-US" dirty="0" err="1"/>
              <a:t>memproses</a:t>
            </a:r>
            <a:r>
              <a:rPr lang="en-US" dirty="0"/>
              <a:t> data </a:t>
            </a:r>
            <a:r>
              <a:rPr lang="en-US" dirty="0" err="1"/>
              <a:t>sekuensial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dependensi</a:t>
            </a:r>
            <a:r>
              <a:rPr lang="en-US" dirty="0"/>
              <a:t> </a:t>
            </a:r>
            <a:r>
              <a:rPr lang="en-US" dirty="0" err="1"/>
              <a:t>jangka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. GRU </a:t>
            </a:r>
            <a:r>
              <a:rPr lang="en-US" dirty="0" err="1"/>
              <a:t>memiliki</a:t>
            </a:r>
            <a:r>
              <a:rPr lang="en-US" dirty="0"/>
              <a:t> dua </a:t>
            </a:r>
            <a:r>
              <a:rPr lang="en-US" i="1" dirty="0"/>
              <a:t>gate</a:t>
            </a:r>
            <a:r>
              <a:rPr lang="en-US" dirty="0"/>
              <a:t>: </a:t>
            </a:r>
            <a:r>
              <a:rPr lang="en-US" i="1" dirty="0"/>
              <a:t>update gate</a:t>
            </a:r>
            <a:r>
              <a:rPr lang="en-US" dirty="0"/>
              <a:t> yang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hidden state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ditinggalkan</a:t>
            </a:r>
            <a:r>
              <a:rPr lang="en-US" dirty="0"/>
              <a:t>, dan </a:t>
            </a:r>
            <a:r>
              <a:rPr lang="en-US" i="1" dirty="0"/>
              <a:t>reset gate</a:t>
            </a:r>
            <a:r>
              <a:rPr lang="en-US" dirty="0"/>
              <a:t> yang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diteruskan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i="1" dirty="0"/>
              <a:t>hidden state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. </a:t>
            </a:r>
            <a:r>
              <a:rPr lang="en-US" dirty="0" err="1"/>
              <a:t>Terdapat</a:t>
            </a:r>
            <a:r>
              <a:rPr lang="en-US" dirty="0"/>
              <a:t> juga candidate hidden state yang </a:t>
            </a:r>
            <a:r>
              <a:rPr lang="en-US" dirty="0" err="1"/>
              <a:t>ketiganya</a:t>
            </a:r>
            <a:r>
              <a:rPr lang="en-US" dirty="0"/>
              <a:t>  </a:t>
            </a:r>
            <a:r>
              <a:rPr lang="en-US" dirty="0" err="1"/>
              <a:t>direpresentasikan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Namun</a:t>
            </a:r>
            <a:r>
              <a:rPr lang="en-US" dirty="0"/>
              <a:t>, di </a:t>
            </a:r>
            <a:r>
              <a:rPr lang="en-US" dirty="0" err="1"/>
              <a:t>sinilah</a:t>
            </a:r>
            <a:r>
              <a:rPr lang="en-US" dirty="0"/>
              <a:t> </a:t>
            </a:r>
            <a:r>
              <a:rPr lang="en-US" dirty="0" err="1"/>
              <a:t>letak</a:t>
            </a:r>
            <a:r>
              <a:rPr lang="en-US" dirty="0"/>
              <a:t> </a:t>
            </a:r>
            <a:r>
              <a:rPr lang="en-US" i="1" dirty="0"/>
              <a:t>bottleneck</a:t>
            </a:r>
            <a:r>
              <a:rPr lang="en-US" dirty="0"/>
              <a:t>-</a:t>
            </a:r>
            <a:r>
              <a:rPr lang="en-US" dirty="0" err="1"/>
              <a:t>nya</a:t>
            </a:r>
            <a:r>
              <a:rPr lang="en-US" dirty="0"/>
              <a:t>: GRU </a:t>
            </a:r>
            <a:r>
              <a:rPr lang="en-US" dirty="0" err="1"/>
              <a:t>memproses</a:t>
            </a:r>
            <a:r>
              <a:rPr lang="en-US" dirty="0"/>
              <a:t> </a:t>
            </a:r>
            <a:r>
              <a:rPr lang="en-US" i="1" dirty="0"/>
              <a:t>hidden state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b="1" dirty="0" err="1"/>
              <a:t>diskrit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implisit</a:t>
            </a:r>
            <a:r>
              <a:rPr lang="en-US" dirty="0"/>
              <a:t> </a:t>
            </a:r>
            <a:r>
              <a:rPr lang="en-US" dirty="0" err="1"/>
              <a:t>mengasumsikan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observasi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. </a:t>
            </a:r>
            <a:r>
              <a:rPr lang="en-US" dirty="0" err="1"/>
              <a:t>Padahal</a:t>
            </a:r>
            <a:r>
              <a:rPr lang="en-US" dirty="0"/>
              <a:t>, </a:t>
            </a:r>
            <a:r>
              <a:rPr lang="en-US" dirty="0" err="1"/>
              <a:t>observasi</a:t>
            </a:r>
            <a:r>
              <a:rPr lang="en-US" dirty="0"/>
              <a:t> intraday LQ45 </a:t>
            </a:r>
            <a:r>
              <a:rPr lang="en-US" dirty="0" err="1"/>
              <a:t>memiliki</a:t>
            </a:r>
            <a:r>
              <a:rPr lang="en-US" dirty="0"/>
              <a:t> gap </a:t>
            </a:r>
            <a:r>
              <a:rPr lang="en-US" dirty="0" err="1"/>
              <a:t>waktu</a:t>
            </a:r>
            <a:r>
              <a:rPr lang="en-US" dirty="0"/>
              <a:t> yang </a:t>
            </a:r>
            <a:r>
              <a:rPr lang="en-US" dirty="0" err="1"/>
              <a:t>berbeda-beda</a:t>
            </a:r>
            <a:r>
              <a:rPr lang="en-US" dirty="0"/>
              <a:t>. </a:t>
            </a:r>
            <a:r>
              <a:rPr lang="en-US" dirty="0" err="1"/>
              <a:t>Asumsi</a:t>
            </a:r>
            <a:r>
              <a:rPr lang="en-US" dirty="0"/>
              <a:t> interval </a:t>
            </a:r>
            <a:r>
              <a:rPr lang="en-US" dirty="0" err="1"/>
              <a:t>seragam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penyederhanaan</a:t>
            </a:r>
            <a:r>
              <a:rPr lang="en-US" dirty="0"/>
              <a:t> yang </a:t>
            </a:r>
            <a:r>
              <a:rPr lang="en-US" dirty="0" err="1"/>
              <a:t>signifikan</a:t>
            </a:r>
            <a:r>
              <a:rPr lang="en-US" dirty="0"/>
              <a:t> dan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celah</a:t>
            </a:r>
            <a:r>
              <a:rPr lang="en-US" dirty="0"/>
              <a:t> yang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diatasi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00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Kemudian</a:t>
            </a:r>
            <a:r>
              <a:rPr lang="en-US" b="1" dirty="0"/>
              <a:t> </a:t>
            </a:r>
            <a:r>
              <a:rPr lang="en-US" b="1" dirty="0" err="1"/>
              <a:t>ada</a:t>
            </a:r>
            <a:r>
              <a:rPr lang="en-US" b="1" dirty="0"/>
              <a:t> Neural ODE</a:t>
            </a:r>
            <a:r>
              <a:rPr lang="en-US" dirty="0"/>
              <a:t>, yang </a:t>
            </a:r>
            <a:r>
              <a:rPr lang="en-US" dirty="0" err="1"/>
              <a:t>diperkenalkan</a:t>
            </a:r>
            <a:r>
              <a:rPr lang="en-US" dirty="0"/>
              <a:t> oleh Chen </a:t>
            </a:r>
            <a:r>
              <a:rPr lang="en-US" dirty="0" err="1"/>
              <a:t>dkk</a:t>
            </a:r>
            <a:r>
              <a:rPr lang="en-US" dirty="0"/>
              <a:t>. pada 2018. Neural ODE </a:t>
            </a:r>
            <a:r>
              <a:rPr lang="en-US" dirty="0" err="1"/>
              <a:t>memodelkan</a:t>
            </a:r>
            <a:r>
              <a:rPr lang="en-US" dirty="0"/>
              <a:t> </a:t>
            </a:r>
            <a:r>
              <a:rPr lang="en-US" dirty="0" err="1"/>
              <a:t>evolusi</a:t>
            </a:r>
            <a:r>
              <a:rPr lang="en-US" dirty="0"/>
              <a:t> </a:t>
            </a:r>
            <a:r>
              <a:rPr lang="en-US" i="1" dirty="0"/>
              <a:t>hidden state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b="1" dirty="0" err="1"/>
              <a:t>kontinu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memparameterisasi</a:t>
            </a:r>
            <a:r>
              <a:rPr lang="en-US" dirty="0"/>
              <a:t> </a:t>
            </a:r>
            <a:r>
              <a:rPr lang="en-US" dirty="0" err="1"/>
              <a:t>turunannya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i="1" dirty="0"/>
              <a:t>neural network</a:t>
            </a:r>
            <a:r>
              <a:rPr lang="en-US" dirty="0"/>
              <a:t>. </a:t>
            </a:r>
            <a:r>
              <a:rPr lang="en-US" dirty="0" err="1"/>
              <a:t>Artinya</a:t>
            </a:r>
            <a:r>
              <a:rPr lang="en-US" dirty="0"/>
              <a:t>, model </a:t>
            </a:r>
            <a:r>
              <a:rPr lang="en-US" dirty="0" err="1"/>
              <a:t>belajar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i="1" dirty="0"/>
              <a:t>hidden state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sepanjang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,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pada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observasi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i="1" dirty="0">
                <a:solidFill>
                  <a:srgbClr val="1F2937"/>
                </a:solidFill>
              </a:rPr>
              <a:t>Irregular time-series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memiliki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Δt</a:t>
            </a:r>
            <a:r>
              <a:rPr lang="en-US" sz="1200" dirty="0">
                <a:solidFill>
                  <a:srgbClr val="1F2937"/>
                </a:solidFill>
              </a:rPr>
              <a:t> yang </a:t>
            </a:r>
            <a:r>
              <a:rPr lang="en-US" sz="1200" dirty="0" err="1">
                <a:solidFill>
                  <a:srgbClr val="1F2937"/>
                </a:solidFill>
              </a:rPr>
              <a:t>bervariasi</a:t>
            </a:r>
            <a:r>
              <a:rPr lang="en-US" sz="1200" dirty="0">
                <a:solidFill>
                  <a:srgbClr val="1F2937"/>
                </a:solidFill>
              </a:rPr>
              <a:t>. Neural ODE </a:t>
            </a:r>
            <a:r>
              <a:rPr lang="en-US" sz="1200" dirty="0" err="1"/>
              <a:t>mendefinisikan</a:t>
            </a:r>
            <a:r>
              <a:rPr lang="en-US" sz="1200" dirty="0"/>
              <a:t> hidden state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fungsi</a:t>
            </a:r>
            <a:r>
              <a:rPr lang="en-US" sz="1200" dirty="0"/>
              <a:t> </a:t>
            </a:r>
            <a:r>
              <a:rPr lang="en-US" sz="1200" dirty="0" err="1"/>
              <a:t>kontinu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waktu</a:t>
            </a:r>
            <a:r>
              <a:rPr lang="en-US" sz="1200" dirty="0"/>
              <a:t> yang </a:t>
            </a:r>
            <a:r>
              <a:rPr lang="en-US" sz="1200" dirty="0" err="1"/>
              <a:t>diaproksimasi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numerik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ODE, </a:t>
            </a:r>
            <a:r>
              <a:rPr lang="en-US" sz="1200" dirty="0" err="1"/>
              <a:t>sehingga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alami</a:t>
            </a:r>
            <a:r>
              <a:rPr lang="en-US" sz="1200" dirty="0"/>
              <a:t> </a:t>
            </a:r>
            <a:r>
              <a:rPr lang="en-US" sz="1200" dirty="0" err="1"/>
              <a:t>menangani</a:t>
            </a:r>
            <a:r>
              <a:rPr lang="en-US" sz="1200" dirty="0"/>
              <a:t> interval </a:t>
            </a:r>
            <a:r>
              <a:rPr lang="en-US" sz="1200" dirty="0" err="1"/>
              <a:t>waktu</a:t>
            </a:r>
            <a:r>
              <a:rPr lang="en-US" sz="1200" dirty="0"/>
              <a:t> yang irregular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29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konteks</a:t>
            </a:r>
            <a:r>
              <a:rPr lang="en-US" dirty="0"/>
              <a:t> Neural ODE,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solver ODE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numerik</a:t>
            </a:r>
            <a:r>
              <a:rPr lang="en-US" dirty="0"/>
              <a:t> un tuk </a:t>
            </a:r>
            <a:r>
              <a:rPr lang="en-US" dirty="0" err="1"/>
              <a:t>memodelkan</a:t>
            </a:r>
            <a:r>
              <a:rPr lang="en-US" dirty="0"/>
              <a:t> </a:t>
            </a:r>
            <a:r>
              <a:rPr lang="en-US" dirty="0" err="1"/>
              <a:t>evolusi</a:t>
            </a:r>
            <a:r>
              <a:rPr lang="en-US" dirty="0"/>
              <a:t> </a:t>
            </a:r>
            <a:r>
              <a:rPr lang="en-US" dirty="0" err="1"/>
              <a:t>kontinu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hidden state dan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observasi</a:t>
            </a:r>
            <a:r>
              <a:rPr lang="en-US" dirty="0"/>
              <a:t>. Pada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mempertimbangkan</a:t>
            </a:r>
            <a:r>
              <a:rPr lang="en-US" dirty="0"/>
              <a:t> dua </a:t>
            </a:r>
            <a:r>
              <a:rPr lang="en-US" dirty="0" err="1"/>
              <a:t>metode</a:t>
            </a:r>
            <a:r>
              <a:rPr lang="en-US" dirty="0"/>
              <a:t>: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b="1" dirty="0">
                <a:effectLst/>
              </a:rPr>
              <a:t>Euler</a:t>
            </a:r>
            <a:r>
              <a:rPr lang="en-US" dirty="0"/>
              <a:t> yang </a:t>
            </a:r>
            <a:r>
              <a:rPr lang="en-US" dirty="0" err="1"/>
              <a:t>sederhana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, dan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b="1" dirty="0">
                <a:effectLst/>
              </a:rPr>
              <a:t>Runge-</a:t>
            </a:r>
            <a:r>
              <a:rPr lang="en-US" b="1" dirty="0" err="1">
                <a:effectLst/>
              </a:rPr>
              <a:t>Kutta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orde</a:t>
            </a:r>
            <a:r>
              <a:rPr lang="en-US" b="1" dirty="0">
                <a:effectLst/>
              </a:rPr>
              <a:t> 4 (RK4)</a:t>
            </a:r>
            <a:r>
              <a:rPr lang="en-US" dirty="0"/>
              <a:t> yang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empat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akurat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mengaproksimasi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.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matematis</a:t>
            </a:r>
            <a:r>
              <a:rPr lang="en-US" dirty="0"/>
              <a:t>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01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pelatihan</a:t>
            </a:r>
            <a:r>
              <a:rPr lang="en-US" dirty="0"/>
              <a:t> model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meminimalkan</a:t>
            </a:r>
            <a:r>
              <a:rPr lang="en-US" dirty="0"/>
              <a:t> </a:t>
            </a:r>
            <a:r>
              <a:rPr lang="en-US" i="1" dirty="0"/>
              <a:t>loss function</a:t>
            </a:r>
            <a:r>
              <a:rPr lang="en-US" dirty="0"/>
              <a:t>. Saya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b="1" dirty="0"/>
              <a:t>Mean Squared Error (MSE)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loss yang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prediksi</a:t>
            </a:r>
            <a:r>
              <a:rPr lang="en-US" dirty="0"/>
              <a:t> dan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aktual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Optimasi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dua </a:t>
            </a:r>
            <a:r>
              <a:rPr lang="en-US" dirty="0" err="1"/>
              <a:t>tahap</a:t>
            </a:r>
            <a:r>
              <a:rPr lang="en-US" dirty="0"/>
              <a:t>: </a:t>
            </a:r>
            <a:r>
              <a:rPr lang="en-US" i="1" dirty="0"/>
              <a:t>forward pass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prediksi</a:t>
            </a:r>
            <a:r>
              <a:rPr lang="en-US" dirty="0"/>
              <a:t>, dan </a:t>
            </a:r>
            <a:r>
              <a:rPr lang="en-US" b="1" dirty="0"/>
              <a:t>backpropagation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gradien</a:t>
            </a:r>
            <a:r>
              <a:rPr lang="en-US" dirty="0"/>
              <a:t> loss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bobot</a:t>
            </a:r>
            <a:r>
              <a:rPr lang="en-US" dirty="0"/>
              <a:t> dan bias. </a:t>
            </a:r>
            <a:r>
              <a:rPr lang="en-US" dirty="0" err="1"/>
              <a:t>Gradien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vektor</a:t>
            </a:r>
            <a:r>
              <a:rPr lang="en-US" dirty="0"/>
              <a:t> </a:t>
            </a:r>
            <a:r>
              <a:rPr lang="en-US" dirty="0" err="1"/>
              <a:t>turunan</a:t>
            </a:r>
            <a:r>
              <a:rPr lang="en-US" dirty="0"/>
              <a:t> </a:t>
            </a:r>
            <a:r>
              <a:rPr lang="en-US" dirty="0" err="1"/>
              <a:t>parsial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loss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parameter model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bobot</a:t>
            </a:r>
            <a:r>
              <a:rPr lang="en-US" dirty="0"/>
              <a:t> dan bias. </a:t>
            </a:r>
            <a:r>
              <a:rPr lang="en-US" dirty="0" err="1"/>
              <a:t>Pembaruan</a:t>
            </a:r>
            <a:r>
              <a:rPr lang="en-US" dirty="0"/>
              <a:t> parameter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optimizer Adam</a:t>
            </a:r>
            <a:r>
              <a:rPr lang="en-US" dirty="0"/>
              <a:t>, yang </a:t>
            </a:r>
            <a:r>
              <a:rPr lang="en-US" dirty="0" err="1"/>
              <a:t>menggabungkan</a:t>
            </a:r>
            <a:r>
              <a:rPr lang="en-US" dirty="0"/>
              <a:t> </a:t>
            </a:r>
            <a:r>
              <a:rPr lang="en-US" dirty="0" err="1"/>
              <a:t>rerata</a:t>
            </a:r>
            <a:r>
              <a:rPr lang="en-US" dirty="0"/>
              <a:t> </a:t>
            </a:r>
            <a:r>
              <a:rPr lang="en-US" dirty="0" err="1"/>
              <a:t>gradien</a:t>
            </a:r>
            <a:r>
              <a:rPr lang="en-US" dirty="0"/>
              <a:t> dan </a:t>
            </a:r>
            <a:r>
              <a:rPr lang="en-US" dirty="0" err="1"/>
              <a:t>rerata</a:t>
            </a:r>
            <a:r>
              <a:rPr lang="en-US" dirty="0"/>
              <a:t> </a:t>
            </a:r>
            <a:r>
              <a:rPr lang="en-US" dirty="0" err="1"/>
              <a:t>kuadrat</a:t>
            </a:r>
            <a:r>
              <a:rPr lang="en-US" dirty="0"/>
              <a:t> </a:t>
            </a:r>
            <a:r>
              <a:rPr lang="en-US" dirty="0" err="1"/>
              <a:t>gradien</a:t>
            </a:r>
            <a:r>
              <a:rPr lang="en-US" dirty="0"/>
              <a:t>, yang </a:t>
            </a:r>
            <a:r>
              <a:rPr lang="en-US" dirty="0" err="1"/>
              <a:t>menangkap</a:t>
            </a:r>
            <a:r>
              <a:rPr lang="en-US" dirty="0"/>
              <a:t> </a:t>
            </a:r>
            <a:r>
              <a:rPr lang="en-US" dirty="0" err="1"/>
              <a:t>variansi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gradien</a:t>
            </a:r>
            <a:r>
              <a:rPr lang="en-US" dirty="0"/>
              <a:t> </a:t>
            </a:r>
            <a:r>
              <a:rPr lang="en-US" dirty="0" err="1"/>
              <a:t>beserta</a:t>
            </a:r>
            <a:r>
              <a:rPr lang="en-US" dirty="0"/>
              <a:t> </a:t>
            </a:r>
            <a:r>
              <a:rPr lang="en-US" dirty="0" err="1"/>
              <a:t>koreksi</a:t>
            </a:r>
            <a:r>
              <a:rPr lang="en-US" dirty="0"/>
              <a:t> bias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pembaruan</a:t>
            </a:r>
            <a:r>
              <a:rPr lang="en-US" dirty="0"/>
              <a:t> yang </a:t>
            </a:r>
            <a:r>
              <a:rPr lang="en-US" dirty="0" err="1"/>
              <a:t>adaptif</a:t>
            </a:r>
            <a:r>
              <a:rPr lang="en-US" dirty="0"/>
              <a:t> yang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4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41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model,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metrik</a:t>
            </a:r>
            <a:r>
              <a:rPr lang="en-US" dirty="0"/>
              <a:t>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data time-series,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b="1" dirty="0">
                <a:effectLst/>
              </a:rPr>
              <a:t>RMSE</a:t>
            </a:r>
            <a:r>
              <a:rPr lang="en-US" dirty="0"/>
              <a:t>, </a:t>
            </a:r>
            <a:r>
              <a:rPr lang="en-US" b="1" dirty="0">
                <a:effectLst/>
              </a:rPr>
              <a:t>MAE</a:t>
            </a:r>
            <a:r>
              <a:rPr lang="en-US" dirty="0"/>
              <a:t>, dan </a:t>
            </a:r>
            <a:r>
              <a:rPr lang="en-US" b="1" dirty="0">
                <a:effectLst/>
              </a:rPr>
              <a:t>MAPE</a:t>
            </a:r>
            <a:r>
              <a:rPr lang="en-US" dirty="0"/>
              <a:t>. </a:t>
            </a:r>
            <a:r>
              <a:rPr lang="en-US" dirty="0" err="1"/>
              <a:t>Ketiganya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mencerminkan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model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komprehensif</a:t>
            </a:r>
            <a:r>
              <a:rPr lang="en-US" dirty="0"/>
              <a:t>, </a:t>
            </a:r>
            <a:r>
              <a:rPr lang="en-US" dirty="0" err="1"/>
              <a:t>sebagaimana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oleh Hyndman dan Koehler (2006).</a:t>
            </a:r>
          </a:p>
          <a:p>
            <a:endParaRPr lang="en-US" dirty="0"/>
          </a:p>
          <a:p>
            <a:r>
              <a:rPr lang="en-US" dirty="0"/>
              <a:t>RMSE </a:t>
            </a:r>
            <a:r>
              <a:rPr lang="en-US" dirty="0" err="1"/>
              <a:t>memberikan</a:t>
            </a:r>
            <a:r>
              <a:rPr lang="en-US" dirty="0"/>
              <a:t> penalty yang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kesalahan</a:t>
            </a:r>
            <a:r>
              <a:rPr lang="en-US" dirty="0"/>
              <a:t> outlier yang </a:t>
            </a:r>
            <a:r>
              <a:rPr lang="en-US" dirty="0" err="1"/>
              <a:t>besar</a:t>
            </a:r>
            <a:r>
              <a:rPr lang="en-US" dirty="0"/>
              <a:t>. MAE </a:t>
            </a:r>
            <a:r>
              <a:rPr lang="en-US" dirty="0" err="1"/>
              <a:t>memperlakukan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error </a:t>
            </a:r>
            <a:r>
              <a:rPr lang="en-US" dirty="0" err="1"/>
              <a:t>secara</a:t>
            </a:r>
            <a:r>
              <a:rPr lang="en-US" dirty="0"/>
              <a:t> linear.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metrik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,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outlier yang </a:t>
            </a:r>
            <a:r>
              <a:rPr lang="en-US" dirty="0" err="1"/>
              <a:t>ekstrem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prediksi</a:t>
            </a:r>
            <a:r>
              <a:rPr lang="en-US" dirty="0"/>
              <a:t>. MAPE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rata </a:t>
            </a:r>
            <a:r>
              <a:rPr lang="en-US" dirty="0" err="1"/>
              <a:t>rata</a:t>
            </a:r>
            <a:r>
              <a:rPr lang="en-US" dirty="0"/>
              <a:t> </a:t>
            </a:r>
            <a:r>
              <a:rPr lang="en-US" dirty="0" err="1"/>
              <a:t>persentase</a:t>
            </a:r>
            <a:r>
              <a:rPr lang="en-US" dirty="0"/>
              <a:t> error </a:t>
            </a:r>
            <a:r>
              <a:rPr lang="en-US" dirty="0" err="1"/>
              <a:t>absolut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prdiksi</a:t>
            </a:r>
            <a:r>
              <a:rPr lang="en-US" dirty="0"/>
              <a:t> dan actual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scale independent.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75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Selanjutnya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model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dipropose</a:t>
            </a:r>
            <a:r>
              <a:rPr lang="en-US" dirty="0"/>
              <a:t> pada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27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Masuk </a:t>
            </a:r>
            <a:r>
              <a:rPr lang="en-US" dirty="0" err="1"/>
              <a:t>ke</a:t>
            </a:r>
            <a:r>
              <a:rPr lang="en-US" dirty="0"/>
              <a:t> model </a:t>
            </a:r>
            <a:r>
              <a:rPr lang="en-US" dirty="0" err="1"/>
              <a:t>utama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</a:t>
            </a:r>
            <a:r>
              <a:rPr lang="en-US" dirty="0" err="1"/>
              <a:t>diusulkan</a:t>
            </a:r>
            <a:r>
              <a:rPr lang="en-US" dirty="0"/>
              <a:t> model hybrid </a:t>
            </a:r>
            <a:r>
              <a:rPr lang="en-US" b="1" dirty="0"/>
              <a:t>GRU-ODE</a:t>
            </a:r>
            <a:r>
              <a:rPr lang="en-US" dirty="0"/>
              <a:t> yang </a:t>
            </a:r>
            <a:r>
              <a:rPr lang="en-US" dirty="0" err="1"/>
              <a:t>menggabungkan</a:t>
            </a:r>
            <a:r>
              <a:rPr lang="en-US" dirty="0"/>
              <a:t> </a:t>
            </a:r>
            <a:r>
              <a:rPr lang="en-US" dirty="0" err="1"/>
              <a:t>kelebihan</a:t>
            </a:r>
            <a:r>
              <a:rPr lang="en-US" dirty="0"/>
              <a:t> dua </a:t>
            </a:r>
            <a:r>
              <a:rPr lang="en-US" dirty="0" err="1"/>
              <a:t>pendekatan</a:t>
            </a:r>
            <a:r>
              <a:rPr lang="en-US" dirty="0"/>
              <a:t>: GRU yang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mempelajari</a:t>
            </a:r>
            <a:r>
              <a:rPr lang="en-US" dirty="0"/>
              <a:t> </a:t>
            </a:r>
            <a:r>
              <a:rPr lang="en-US" dirty="0" err="1"/>
              <a:t>dependensi</a:t>
            </a:r>
            <a:r>
              <a:rPr lang="en-US" dirty="0"/>
              <a:t> temporal </a:t>
            </a:r>
            <a:r>
              <a:rPr lang="en-US" dirty="0" err="1"/>
              <a:t>jangka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i="1" dirty="0"/>
              <a:t>gating mechanism</a:t>
            </a:r>
            <a:r>
              <a:rPr lang="en-US" dirty="0"/>
              <a:t>, dan Neural ODE yang </a:t>
            </a:r>
            <a:r>
              <a:rPr lang="en-US" dirty="0" err="1"/>
              <a:t>memodelkan</a:t>
            </a:r>
            <a:r>
              <a:rPr lang="en-US" dirty="0"/>
              <a:t> </a:t>
            </a:r>
            <a:r>
              <a:rPr lang="en-US" dirty="0" err="1"/>
              <a:t>evolusi</a:t>
            </a:r>
            <a:r>
              <a:rPr lang="en-US" dirty="0"/>
              <a:t> </a:t>
            </a:r>
            <a:r>
              <a:rPr lang="en-US" i="1" dirty="0"/>
              <a:t>hidden state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kontinu</a:t>
            </a:r>
            <a:r>
              <a:rPr lang="en-US" dirty="0"/>
              <a:t>.</a:t>
            </a:r>
          </a:p>
          <a:p>
            <a:r>
              <a:rPr lang="en-US" dirty="0" err="1"/>
              <a:t>Gabungan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model yang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i="1" dirty="0"/>
              <a:t>irregular time-series forecasting</a:t>
            </a:r>
            <a:r>
              <a:rPr lang="en-US" dirty="0"/>
              <a:t>. GRU-ODE </a:t>
            </a:r>
            <a:r>
              <a:rPr lang="en-US" dirty="0" err="1"/>
              <a:t>mendefinisikan</a:t>
            </a:r>
            <a:r>
              <a:rPr lang="en-US" dirty="0"/>
              <a:t> </a:t>
            </a:r>
            <a:r>
              <a:rPr lang="en-US" dirty="0" err="1"/>
              <a:t>evolusi</a:t>
            </a:r>
            <a:r>
              <a:rPr lang="en-US" dirty="0"/>
              <a:t> </a:t>
            </a:r>
            <a:r>
              <a:rPr lang="en-US" i="1" dirty="0"/>
              <a:t>hidden state</a:t>
            </a:r>
            <a:r>
              <a:rPr lang="en-US" dirty="0"/>
              <a:t> h(t)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diferensial</a:t>
            </a:r>
            <a:r>
              <a:rPr lang="en-US" dirty="0"/>
              <a:t>, di mana </a:t>
            </a:r>
            <a:r>
              <a:rPr lang="en-US" dirty="0" err="1"/>
              <a:t>laju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state </a:t>
            </a:r>
            <a:r>
              <a:rPr lang="en-US" dirty="0" err="1"/>
              <a:t>dipengaruhi</a:t>
            </a:r>
            <a:r>
              <a:rPr lang="en-US" dirty="0"/>
              <a:t> oleh </a:t>
            </a:r>
            <a:r>
              <a:rPr lang="en-US" i="1" dirty="0"/>
              <a:t>update gate</a:t>
            </a:r>
            <a:r>
              <a:rPr lang="en-US" dirty="0"/>
              <a:t> dan </a:t>
            </a:r>
            <a:r>
              <a:rPr lang="en-US" dirty="0" err="1"/>
              <a:t>selisih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i="1" dirty="0"/>
              <a:t>candidate state</a:t>
            </a:r>
            <a:r>
              <a:rPr lang="en-US" dirty="0"/>
              <a:t> dan hidden state </a:t>
            </a:r>
            <a:r>
              <a:rPr lang="en-US" dirty="0" err="1"/>
              <a:t>sebelumnya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47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Dari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arsitektur</a:t>
            </a:r>
            <a:r>
              <a:rPr lang="en-US" dirty="0"/>
              <a:t>, model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input layer</a:t>
            </a:r>
            <a:r>
              <a:rPr lang="en-US" dirty="0"/>
              <a:t>, </a:t>
            </a:r>
            <a:r>
              <a:rPr lang="en-US" i="1" dirty="0"/>
              <a:t>hidden layer,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evolusi</a:t>
            </a:r>
            <a:r>
              <a:rPr lang="en-US" dirty="0"/>
              <a:t> </a:t>
            </a:r>
            <a:r>
              <a:rPr lang="en-US" i="1" dirty="0"/>
              <a:t>hidden state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, dan </a:t>
            </a:r>
            <a:r>
              <a:rPr lang="en-US" i="1" dirty="0"/>
              <a:t>output layer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Input model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OHLC Intraday LQ45. Saya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b="1" dirty="0"/>
              <a:t>closing price</a:t>
            </a:r>
            <a:r>
              <a:rPr lang="en-US" dirty="0"/>
              <a:t> dan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b="1" dirty="0" err="1"/>
              <a:t>Δt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elapsed time</a:t>
            </a:r>
            <a:r>
              <a:rPr lang="en-US" dirty="0"/>
              <a:t>. </a:t>
            </a:r>
            <a:r>
              <a:rPr lang="en-US" dirty="0" err="1"/>
              <a:t>Keduanya</a:t>
            </a:r>
            <a:r>
              <a:rPr lang="en-US" dirty="0"/>
              <a:t> </a:t>
            </a:r>
            <a:r>
              <a:rPr lang="en-US" dirty="0" err="1"/>
              <a:t>digabungkan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input </a:t>
            </a:r>
            <a:r>
              <a:rPr lang="en-US" dirty="0" err="1"/>
              <a:t>berbentuk</a:t>
            </a:r>
            <a:r>
              <a:rPr lang="en-US" dirty="0"/>
              <a:t> (30, 2). Jadi, model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juga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eksplisit</a:t>
            </a:r>
            <a:r>
              <a:rPr lang="en-US" dirty="0"/>
              <a:t> </a:t>
            </a:r>
            <a:r>
              <a:rPr lang="en-US" dirty="0" err="1"/>
              <a:t>memperhitungkan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lama </a:t>
            </a:r>
            <a:r>
              <a:rPr lang="en-US" dirty="0" err="1"/>
              <a:t>jeda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observasi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33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</a:t>
            </a:r>
            <a:r>
              <a:rPr lang="en-US" dirty="0" err="1"/>
              <a:t>dalam</a:t>
            </a:r>
            <a:r>
              <a:rPr lang="en-US" dirty="0"/>
              <a:t> hidden </a:t>
            </a:r>
            <a:r>
              <a:rPr lang="en-US" i="1" dirty="0">
                <a:effectLst/>
              </a:rPr>
              <a:t>layer</a:t>
            </a:r>
            <a:r>
              <a:rPr lang="en-US" dirty="0"/>
              <a:t>,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: </a:t>
            </a:r>
            <a:r>
              <a:rPr lang="en-US" b="1" dirty="0">
                <a:effectLst/>
              </a:rPr>
              <a:t>reset gate</a:t>
            </a:r>
            <a:r>
              <a:rPr lang="en-US" dirty="0"/>
              <a:t> dan </a:t>
            </a:r>
            <a:r>
              <a:rPr lang="en-US" b="1" dirty="0">
                <a:effectLst/>
              </a:rPr>
              <a:t>update gate</a:t>
            </a:r>
            <a:r>
              <a:rPr lang="en-US" dirty="0"/>
              <a:t> yang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aktivasi</a:t>
            </a:r>
            <a:r>
              <a:rPr lang="en-US" dirty="0"/>
              <a:t> sigmoid,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b="1" dirty="0">
                <a:effectLst/>
              </a:rPr>
              <a:t>candidate hidden state</a:t>
            </a:r>
            <a:r>
              <a:rPr lang="en-US" dirty="0"/>
              <a:t> yang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tanh. </a:t>
            </a:r>
            <a:r>
              <a:rPr lang="en-US" dirty="0" err="1"/>
              <a:t>Ketiganya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diferensial</a:t>
            </a:r>
            <a:r>
              <a:rPr lang="en-US" dirty="0"/>
              <a:t> yang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evolusi</a:t>
            </a:r>
            <a:r>
              <a:rPr lang="en-US" dirty="0"/>
              <a:t> </a:t>
            </a:r>
            <a:r>
              <a:rPr lang="en-US" i="1" dirty="0">
                <a:effectLst/>
              </a:rPr>
              <a:t>hidden state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kontinu</a:t>
            </a:r>
            <a:r>
              <a:rPr lang="en-US" dirty="0"/>
              <a:t> </a:t>
            </a:r>
            <a:r>
              <a:rPr lang="en-US" dirty="0" err="1"/>
              <a:t>sepanjang</a:t>
            </a:r>
            <a:r>
              <a:rPr lang="en-US" dirty="0"/>
              <a:t> interval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observasi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978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effectLst/>
              </a:rPr>
              <a:t>Hidden state</a:t>
            </a:r>
            <a:r>
              <a:rPr lang="en-US" dirty="0"/>
              <a:t> yang </a:t>
            </a:r>
            <a:r>
              <a:rPr lang="en-US" dirty="0" err="1"/>
              <a:t>dihasilkan</a:t>
            </a:r>
            <a:r>
              <a:rPr lang="en-US" dirty="0"/>
              <a:t> pada GRU-ODE </a:t>
            </a:r>
            <a:r>
              <a:rPr lang="en-US" i="1" dirty="0">
                <a:effectLst/>
              </a:rPr>
              <a:t>layer</a:t>
            </a:r>
            <a:r>
              <a:rPr lang="en-US" dirty="0"/>
              <a:t> </a:t>
            </a:r>
            <a:r>
              <a:rPr lang="en-US" dirty="0" err="1"/>
              <a:t>selanjutnya</a:t>
            </a:r>
            <a:r>
              <a:rPr lang="en-US" dirty="0"/>
              <a:t> </a:t>
            </a:r>
            <a:r>
              <a:rPr lang="en-US" dirty="0" err="1"/>
              <a:t>diteruskan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b="1" dirty="0">
                <a:effectLst/>
              </a:rPr>
              <a:t>output layer</a:t>
            </a:r>
            <a:r>
              <a:rPr lang="en-US" dirty="0"/>
              <a:t>, di mana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dipetakan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linear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memperoleh</a:t>
            </a:r>
            <a:r>
              <a:rPr lang="en-US" dirty="0"/>
              <a:t> </a:t>
            </a:r>
            <a:r>
              <a:rPr lang="en-US" i="1" dirty="0">
                <a:effectLst/>
              </a:rPr>
              <a:t>predicted closing price</a:t>
            </a:r>
            <a:r>
              <a:rPr lang="en-US" dirty="0"/>
              <a:t>. </a:t>
            </a:r>
            <a:r>
              <a:rPr lang="en-US" dirty="0" err="1"/>
              <a:t>Inilah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model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prediksi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penutupan</a:t>
            </a:r>
            <a:r>
              <a:rPr lang="en-US" dirty="0"/>
              <a:t> LQ45.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0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Selanjutnya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074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ringkas</a:t>
            </a:r>
            <a:r>
              <a:rPr lang="en-US" dirty="0"/>
              <a:t>, </a:t>
            </a:r>
            <a:r>
              <a:rPr lang="en-US" dirty="0" err="1"/>
              <a:t>alur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.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dataset</a:t>
            </a:r>
            <a:r>
              <a:rPr lang="en-US" dirty="0"/>
              <a:t> LQ45 intraday,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i="1" dirty="0"/>
              <a:t>pre-processing</a:t>
            </a:r>
            <a:r>
              <a:rPr lang="en-US" dirty="0"/>
              <a:t> dan </a:t>
            </a:r>
            <a:r>
              <a:rPr lang="en-US" i="1" dirty="0"/>
              <a:t>data splitting</a:t>
            </a:r>
            <a:r>
              <a:rPr lang="en-US" dirty="0"/>
              <a:t>. Data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i="1" dirty="0"/>
              <a:t>training set</a:t>
            </a:r>
            <a:r>
              <a:rPr lang="en-US" dirty="0"/>
              <a:t> dan </a:t>
            </a:r>
            <a:r>
              <a:rPr lang="en-US" i="1" dirty="0"/>
              <a:t>validation set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model GRU-ODE,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i="1" dirty="0"/>
              <a:t>test set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.</a:t>
            </a:r>
          </a:p>
          <a:p>
            <a:endParaRPr lang="en-US" i="1" dirty="0"/>
          </a:p>
          <a:p>
            <a:r>
              <a:rPr lang="en-US" i="1" dirty="0"/>
              <a:t>Hyperparameter</a:t>
            </a:r>
            <a:r>
              <a:rPr lang="en-US" dirty="0"/>
              <a:t> </a:t>
            </a:r>
            <a:r>
              <a:rPr lang="en-US" dirty="0" err="1"/>
              <a:t>terbaik</a:t>
            </a:r>
            <a:r>
              <a:rPr lang="en-US" dirty="0"/>
              <a:t> </a:t>
            </a:r>
            <a:r>
              <a:rPr lang="en-US" dirty="0" err="1"/>
              <a:t>dicari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i="1" dirty="0"/>
              <a:t>grid search</a:t>
            </a:r>
            <a:r>
              <a:rPr lang="en-US" dirty="0"/>
              <a:t>. Model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dilatih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iteratif</a:t>
            </a:r>
            <a:r>
              <a:rPr lang="en-US" dirty="0"/>
              <a:t>: </a:t>
            </a:r>
            <a:r>
              <a:rPr lang="en-US" dirty="0" err="1"/>
              <a:t>menghitung</a:t>
            </a:r>
            <a:r>
              <a:rPr lang="en-US" dirty="0"/>
              <a:t> MSE loss,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pembaruan</a:t>
            </a:r>
            <a:r>
              <a:rPr lang="en-US" dirty="0"/>
              <a:t> parameter </a:t>
            </a:r>
            <a:r>
              <a:rPr lang="en-US" dirty="0" err="1"/>
              <a:t>dengan</a:t>
            </a:r>
            <a:r>
              <a:rPr lang="en-US" dirty="0"/>
              <a:t> Adam optimizer,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epoch </a:t>
            </a:r>
            <a:r>
              <a:rPr lang="en-US" dirty="0" err="1"/>
              <a:t>terpenuhi</a:t>
            </a:r>
            <a:r>
              <a:rPr lang="en-US" dirty="0"/>
              <a:t>.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prediksi</a:t>
            </a:r>
            <a:r>
              <a:rPr lang="en-US" dirty="0"/>
              <a:t> dan </a:t>
            </a:r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kinerja</a:t>
            </a:r>
            <a:r>
              <a:rPr lang="en-US" dirty="0"/>
              <a:t> model pada </a:t>
            </a:r>
            <a:r>
              <a:rPr lang="en-US" i="1" dirty="0"/>
              <a:t>test set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74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Harga Saham LQ45 intraday.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 pada </a:t>
            </a:r>
            <a:r>
              <a:rPr lang="en-US" dirty="0" err="1"/>
              <a:t>selisih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observasi</a:t>
            </a:r>
            <a:r>
              <a:rPr lang="en-US" dirty="0"/>
              <a:t>, delta t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, yang </a:t>
            </a:r>
            <a:r>
              <a:rPr lang="en-US" dirty="0" err="1"/>
              <a:t>menjunjukkan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data </a:t>
            </a:r>
            <a:r>
              <a:rPr lang="en-US" dirty="0" err="1"/>
              <a:t>dengan</a:t>
            </a:r>
            <a:r>
              <a:rPr lang="en-US" dirty="0"/>
              <a:t> interval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seragam</a:t>
            </a:r>
            <a:r>
              <a:rPr lang="en-US" dirty="0"/>
              <a:t>.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b="1" dirty="0"/>
              <a:t>min-max normalization</a:t>
            </a:r>
            <a:r>
              <a:rPr lang="en-US" dirty="0"/>
              <a:t> pada data </a:t>
            </a:r>
            <a:r>
              <a:rPr lang="en-US" dirty="0" err="1"/>
              <a:t>dengan</a:t>
            </a:r>
            <a:r>
              <a:rPr lang="en-US" dirty="0"/>
              <a:t> target interval [0,1],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denormalisasi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saat </a:t>
            </a:r>
            <a:r>
              <a:rPr lang="en-US" dirty="0" err="1"/>
              <a:t>interpretasi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.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data splitting</a:t>
            </a:r>
            <a:r>
              <a:rPr lang="en-US" dirty="0"/>
              <a:t>,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membagi</a:t>
            </a:r>
            <a:r>
              <a:rPr lang="en-US" dirty="0"/>
              <a:t> data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proporsi</a:t>
            </a:r>
            <a:r>
              <a:rPr lang="en-US" dirty="0"/>
              <a:t> </a:t>
            </a:r>
            <a:r>
              <a:rPr lang="en-US" b="1" dirty="0"/>
              <a:t>75% training</a:t>
            </a:r>
            <a:r>
              <a:rPr lang="en-US" dirty="0"/>
              <a:t> (67 </a:t>
            </a:r>
            <a:r>
              <a:rPr lang="en-US" dirty="0" err="1"/>
              <a:t>hari</a:t>
            </a:r>
            <a:r>
              <a:rPr lang="en-US" dirty="0"/>
              <a:t>, 1 Agustus–6 Oktober), </a:t>
            </a:r>
            <a:r>
              <a:rPr lang="en-US" b="1" dirty="0"/>
              <a:t>15% validation</a:t>
            </a:r>
            <a:r>
              <a:rPr lang="en-US" dirty="0"/>
              <a:t> (13 </a:t>
            </a:r>
            <a:r>
              <a:rPr lang="en-US" dirty="0" err="1"/>
              <a:t>hari</a:t>
            </a:r>
            <a:r>
              <a:rPr lang="en-US" dirty="0"/>
              <a:t>, 7–19 Oktober), dan </a:t>
            </a:r>
            <a:r>
              <a:rPr lang="en-US" b="1" dirty="0"/>
              <a:t>10% test</a:t>
            </a:r>
            <a:r>
              <a:rPr lang="en-US" dirty="0"/>
              <a:t> (9 </a:t>
            </a:r>
            <a:r>
              <a:rPr lang="en-US" dirty="0" err="1"/>
              <a:t>hari</a:t>
            </a:r>
            <a:r>
              <a:rPr lang="en-US" dirty="0"/>
              <a:t>, 20–28 Oktober). Total data </a:t>
            </a:r>
            <a:r>
              <a:rPr lang="en-US" dirty="0" err="1"/>
              <a:t>mencapai</a:t>
            </a:r>
            <a:r>
              <a:rPr lang="en-US" dirty="0"/>
              <a:t> 4.736 </a:t>
            </a:r>
            <a:r>
              <a:rPr lang="en-US" dirty="0" err="1"/>
              <a:t>sampel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71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Proses </a:t>
            </a:r>
            <a:r>
              <a:rPr lang="en-US" i="1" dirty="0"/>
              <a:t>tuning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empat</a:t>
            </a:r>
            <a:r>
              <a:rPr lang="en-US" dirty="0"/>
              <a:t> </a:t>
            </a:r>
            <a:r>
              <a:rPr lang="en-US" i="1" dirty="0"/>
              <a:t>hyperparameter </a:t>
            </a:r>
            <a:r>
              <a:rPr lang="en-US" i="1" dirty="0" err="1"/>
              <a:t>dengan</a:t>
            </a:r>
            <a:r>
              <a:rPr lang="en-US" i="1" dirty="0"/>
              <a:t> </a:t>
            </a:r>
            <a:r>
              <a:rPr lang="en-US" i="1" dirty="0" err="1"/>
              <a:t>menggunakan</a:t>
            </a:r>
            <a:r>
              <a:rPr lang="en-US" i="1" dirty="0"/>
              <a:t> Grid Search</a:t>
            </a:r>
            <a:r>
              <a:rPr lang="en-US" dirty="0"/>
              <a:t>: </a:t>
            </a:r>
            <a:r>
              <a:rPr lang="en-US" i="1" dirty="0"/>
              <a:t>hidden units</a:t>
            </a:r>
            <a:r>
              <a:rPr lang="en-US" dirty="0"/>
              <a:t> (32 dan 64), </a:t>
            </a:r>
            <a:r>
              <a:rPr lang="en-US" i="1" dirty="0"/>
              <a:t>learning rate</a:t>
            </a:r>
            <a:r>
              <a:rPr lang="en-US" dirty="0"/>
              <a:t> (0,001 dan 0,1), </a:t>
            </a:r>
            <a:r>
              <a:rPr lang="en-US" i="1" dirty="0"/>
              <a:t>batch size</a:t>
            </a:r>
            <a:r>
              <a:rPr lang="en-US" dirty="0"/>
              <a:t> (32 dan 64), dan </a:t>
            </a:r>
            <a:r>
              <a:rPr lang="en-US" i="1" dirty="0"/>
              <a:t>ODE solver</a:t>
            </a:r>
            <a:r>
              <a:rPr lang="en-US" dirty="0"/>
              <a:t> (Euler dan RK4), yang masing-masing </a:t>
            </a:r>
            <a:r>
              <a:rPr lang="en-US" dirty="0" err="1"/>
              <a:t>mengacu</a:t>
            </a:r>
            <a:r>
              <a:rPr lang="en-US" dirty="0"/>
              <a:t> pada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terdahulu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Dari </a:t>
            </a:r>
            <a:r>
              <a:rPr lang="en-US" dirty="0" err="1"/>
              <a:t>kombinasi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dihasilkan</a:t>
            </a:r>
            <a:r>
              <a:rPr lang="en-US" dirty="0"/>
              <a:t> 16 </a:t>
            </a:r>
            <a:r>
              <a:rPr lang="en-US" dirty="0" err="1"/>
              <a:t>konfigurasi</a:t>
            </a:r>
            <a:r>
              <a:rPr lang="en-US" dirty="0"/>
              <a:t>, dan </a:t>
            </a:r>
            <a:r>
              <a:rPr lang="en-US" dirty="0" err="1"/>
              <a:t>konfigurasi</a:t>
            </a:r>
            <a:r>
              <a:rPr lang="en-US" dirty="0"/>
              <a:t> </a:t>
            </a:r>
            <a:r>
              <a:rPr lang="en-US" dirty="0" err="1"/>
              <a:t>terbaik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metrik</a:t>
            </a:r>
            <a:r>
              <a:rPr lang="en-US" dirty="0"/>
              <a:t> </a:t>
            </a:r>
            <a:r>
              <a:rPr lang="en-US" b="1" dirty="0"/>
              <a:t>MAE </a:t>
            </a:r>
            <a:r>
              <a:rPr lang="en-US" b="1" dirty="0" err="1"/>
              <a:t>terendah</a:t>
            </a:r>
            <a:r>
              <a:rPr lang="en-US" b="1" dirty="0"/>
              <a:t> pada validation set</a:t>
            </a:r>
            <a:r>
              <a:rPr lang="en-US" dirty="0"/>
              <a:t>.</a:t>
            </a:r>
          </a:p>
          <a:p>
            <a:r>
              <a:rPr lang="en-US" dirty="0" err="1"/>
              <a:t>Konfigurasi</a:t>
            </a:r>
            <a:r>
              <a:rPr lang="en-US" dirty="0"/>
              <a:t> </a:t>
            </a:r>
            <a:r>
              <a:rPr lang="en-US" dirty="0" err="1"/>
              <a:t>terbaik</a:t>
            </a:r>
            <a:r>
              <a:rPr lang="en-US" dirty="0"/>
              <a:t> yang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b="1" dirty="0"/>
              <a:t>32 hidden units, learning rate 0,001, batch size 16, dan solver RK4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51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konfigurasi</a:t>
            </a:r>
            <a:r>
              <a:rPr lang="en-US" dirty="0"/>
              <a:t> </a:t>
            </a:r>
            <a:r>
              <a:rPr lang="en-US" dirty="0" err="1"/>
              <a:t>terbaik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model GRU-ODE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prediksi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pada </a:t>
            </a:r>
            <a:r>
              <a:rPr lang="en-US" dirty="0" err="1"/>
              <a:t>ketiga</a:t>
            </a:r>
            <a:r>
              <a:rPr lang="en-US" dirty="0"/>
              <a:t> set data. Pada </a:t>
            </a:r>
            <a:r>
              <a:rPr lang="en-US" b="1" dirty="0">
                <a:effectLst/>
              </a:rPr>
              <a:t>test set</a:t>
            </a:r>
            <a:r>
              <a:rPr lang="en-US" dirty="0"/>
              <a:t>, model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b="1" dirty="0">
                <a:effectLst/>
              </a:rPr>
              <a:t>MAE 0,7831, RMSE 1,0955, dan MAPE 0,0918%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Pada </a:t>
            </a:r>
            <a:r>
              <a:rPr lang="en-US" dirty="0" err="1"/>
              <a:t>ketiga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garis </a:t>
            </a:r>
            <a:r>
              <a:rPr lang="en-US" dirty="0" err="1"/>
              <a:t>biru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aktual</a:t>
            </a:r>
            <a:r>
              <a:rPr lang="en-US" dirty="0"/>
              <a:t> dan garis </a:t>
            </a:r>
            <a:r>
              <a:rPr lang="en-US" dirty="0" err="1"/>
              <a:t>merah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prediksi</a:t>
            </a:r>
            <a:r>
              <a:rPr lang="en-US" dirty="0"/>
              <a:t> model</a:t>
            </a:r>
          </a:p>
          <a:p>
            <a:endParaRPr lang="en-US" dirty="0"/>
          </a:p>
          <a:p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, </a:t>
            </a:r>
            <a:r>
              <a:rPr lang="en-US" i="1" dirty="0"/>
              <a:t>Hasil </a:t>
            </a:r>
            <a:r>
              <a:rPr lang="en-US" i="1" dirty="0" err="1"/>
              <a:t>Prediksi</a:t>
            </a:r>
            <a:r>
              <a:rPr lang="en-US" i="1" dirty="0"/>
              <a:t> Train</a:t>
            </a:r>
            <a:r>
              <a:rPr lang="en-US" dirty="0"/>
              <a:t>, </a:t>
            </a:r>
            <a:r>
              <a:rPr lang="en-US" dirty="0" err="1"/>
              <a:t>menggunakan</a:t>
            </a:r>
            <a:r>
              <a:rPr lang="en-US" dirty="0"/>
              <a:t> 3.529 </a:t>
            </a:r>
            <a:r>
              <a:rPr lang="en-US" dirty="0" err="1"/>
              <a:t>sampel</a:t>
            </a:r>
            <a:r>
              <a:rPr lang="en-US" dirty="0"/>
              <a:t>. Di </a:t>
            </a:r>
            <a:r>
              <a:rPr lang="en-US" dirty="0" err="1"/>
              <a:t>sini</a:t>
            </a:r>
            <a:r>
              <a:rPr lang="en-US" dirty="0"/>
              <a:t> </a:t>
            </a:r>
            <a:r>
              <a:rPr lang="en-US" dirty="0" err="1"/>
              <a:t>terlihat</a:t>
            </a:r>
            <a:r>
              <a:rPr lang="en-US" dirty="0"/>
              <a:t> garis </a:t>
            </a:r>
            <a:r>
              <a:rPr lang="en-US" dirty="0" err="1"/>
              <a:t>prediksi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pergerakan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aktual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, </a:t>
            </a:r>
            <a:r>
              <a:rPr lang="en-US" dirty="0" err="1"/>
              <a:t>termasuk</a:t>
            </a:r>
            <a:r>
              <a:rPr lang="en-US" dirty="0"/>
              <a:t> saat </a:t>
            </a:r>
            <a:r>
              <a:rPr lang="en-US" dirty="0" err="1"/>
              <a:t>harga</a:t>
            </a:r>
            <a:r>
              <a:rPr lang="en-US" dirty="0"/>
              <a:t> naik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turun</a:t>
            </a:r>
            <a:r>
              <a:rPr lang="en-US" dirty="0"/>
              <a:t>.</a:t>
            </a:r>
          </a:p>
          <a:p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, </a:t>
            </a:r>
            <a:r>
              <a:rPr lang="en-US" i="1" dirty="0"/>
              <a:t>Validation Set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706 </a:t>
            </a:r>
            <a:r>
              <a:rPr lang="en-US" dirty="0" err="1"/>
              <a:t>sampel</a:t>
            </a:r>
            <a:r>
              <a:rPr lang="en-US" dirty="0"/>
              <a:t>, dan 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ketiga</a:t>
            </a:r>
            <a:r>
              <a:rPr lang="en-US" dirty="0"/>
              <a:t>, </a:t>
            </a:r>
            <a:r>
              <a:rPr lang="en-US" i="1" dirty="0"/>
              <a:t>Test Set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471 </a:t>
            </a:r>
            <a:r>
              <a:rPr lang="en-US" dirty="0" err="1"/>
              <a:t>sampel</a:t>
            </a:r>
            <a:r>
              <a:rPr lang="en-US" dirty="0"/>
              <a:t>,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yang </a:t>
            </a:r>
            <a:r>
              <a:rPr lang="en-US" dirty="0" err="1"/>
              <a:t>konsisten</a:t>
            </a:r>
            <a:r>
              <a:rPr lang="en-US" dirty="0"/>
              <a:t>. Garis </a:t>
            </a:r>
            <a:r>
              <a:rPr lang="en-US" dirty="0" err="1"/>
              <a:t>prediksi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rapat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garis </a:t>
            </a:r>
            <a:r>
              <a:rPr lang="en-US" dirty="0" err="1"/>
              <a:t>aktual</a:t>
            </a:r>
            <a:r>
              <a:rPr lang="en-US" dirty="0"/>
              <a:t>, yang </a:t>
            </a:r>
            <a:r>
              <a:rPr lang="en-US" dirty="0" err="1"/>
              <a:t>berarti</a:t>
            </a:r>
            <a:r>
              <a:rPr lang="en-US" dirty="0"/>
              <a:t> model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menghafal</a:t>
            </a:r>
            <a:r>
              <a:rPr lang="en-US" dirty="0"/>
              <a:t> train set (overfitting), </a:t>
            </a:r>
            <a:r>
              <a:rPr lang="en-US" dirty="0" err="1"/>
              <a:t>tetapi</a:t>
            </a:r>
            <a:r>
              <a:rPr lang="en-US" dirty="0"/>
              <a:t> juga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generalisasi</a:t>
            </a:r>
            <a:r>
              <a:rPr lang="en-US" dirty="0"/>
              <a:t> pada data yang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pernah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.“</a:t>
            </a:r>
          </a:p>
          <a:p>
            <a:endParaRPr lang="en-US" dirty="0"/>
          </a:p>
          <a:p>
            <a:r>
              <a:rPr lang="en-US" dirty="0" err="1"/>
              <a:t>nilai</a:t>
            </a:r>
            <a:r>
              <a:rPr lang="en-US" dirty="0"/>
              <a:t> error pada data </a:t>
            </a:r>
            <a:r>
              <a:rPr lang="en-US" dirty="0" err="1"/>
              <a:t>validasi</a:t>
            </a:r>
            <a:r>
              <a:rPr lang="en-US" dirty="0"/>
              <a:t> dan uji </a:t>
            </a:r>
            <a:r>
              <a:rPr lang="en-US" dirty="0" err="1"/>
              <a:t>justru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dibanding</a:t>
            </a:r>
            <a:r>
              <a:rPr lang="en-US" dirty="0"/>
              <a:t> data </a:t>
            </a:r>
            <a:r>
              <a:rPr lang="en-US" dirty="0" err="1"/>
              <a:t>latih</a:t>
            </a:r>
            <a:r>
              <a:rPr lang="en-US" dirty="0"/>
              <a:t>. Ini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indikasi</a:t>
            </a:r>
            <a:r>
              <a:rPr lang="en-US" dirty="0"/>
              <a:t> yang sangat </a:t>
            </a:r>
            <a:r>
              <a:rPr lang="en-US" dirty="0" err="1"/>
              <a:t>baik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artinya</a:t>
            </a:r>
            <a:r>
              <a:rPr lang="en-US" dirty="0"/>
              <a:t> model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mengalami</a:t>
            </a:r>
            <a:r>
              <a:rPr lang="en-US" dirty="0"/>
              <a:t> </a:t>
            </a:r>
            <a:r>
              <a:rPr lang="en-US" i="1" dirty="0"/>
              <a:t>overfitting</a:t>
            </a:r>
            <a:r>
              <a:rPr lang="en-US" dirty="0"/>
              <a:t> dan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stabil</a:t>
            </a:r>
            <a:r>
              <a:rPr lang="en-US" dirty="0"/>
              <a:t> saat </a:t>
            </a:r>
            <a:r>
              <a:rPr lang="en-US" dirty="0" err="1"/>
              <a:t>dihadapkan</a:t>
            </a:r>
            <a:r>
              <a:rPr lang="en-US" dirty="0"/>
              <a:t> pada data </a:t>
            </a:r>
            <a:r>
              <a:rPr lang="en-US" dirty="0" err="1"/>
              <a:t>baru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454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temuan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.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GRU </a:t>
            </a:r>
            <a:r>
              <a:rPr lang="en-US" i="1" dirty="0"/>
              <a:t>baseline</a:t>
            </a:r>
            <a:r>
              <a:rPr lang="en-US" dirty="0"/>
              <a:t> pada </a:t>
            </a:r>
            <a:r>
              <a:rPr lang="en-US" i="1" dirty="0"/>
              <a:t>test set</a:t>
            </a:r>
            <a:r>
              <a:rPr lang="en-US" dirty="0"/>
              <a:t>, GRU-ODE </a:t>
            </a:r>
            <a:r>
              <a:rPr lang="en-US" dirty="0" err="1"/>
              <a:t>menurunkan</a:t>
            </a:r>
            <a:r>
              <a:rPr lang="en-US" dirty="0"/>
              <a:t> error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signifikan</a:t>
            </a:r>
            <a:r>
              <a:rPr lang="en-US" dirty="0"/>
              <a:t>: </a:t>
            </a:r>
            <a:r>
              <a:rPr lang="en-US" b="1" dirty="0"/>
              <a:t>32,84% pada MAE, 26,28% pada RMSE, dan 32,89% pada MAPE</a:t>
            </a:r>
            <a:r>
              <a:rPr lang="en-US" dirty="0"/>
              <a:t>.</a:t>
            </a:r>
          </a:p>
          <a:p>
            <a:endParaRPr lang="en-US" dirty="0"/>
          </a:p>
          <a:p>
            <a:pPr algn="just"/>
            <a:r>
              <a:rPr lang="en-ID" sz="1200" dirty="0"/>
              <a:t>Hasil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menunjukkan</a:t>
            </a:r>
            <a:r>
              <a:rPr lang="en-ID" sz="1200" dirty="0"/>
              <a:t> </a:t>
            </a:r>
            <a:r>
              <a:rPr lang="en-ID" sz="1200" dirty="0" err="1"/>
              <a:t>bahwa</a:t>
            </a:r>
            <a:r>
              <a:rPr lang="en-ID" sz="1200" dirty="0"/>
              <a:t> </a:t>
            </a:r>
            <a:r>
              <a:rPr lang="en-ID" sz="1200" dirty="0" err="1"/>
              <a:t>pemodelan</a:t>
            </a:r>
            <a:r>
              <a:rPr lang="en-ID" sz="1200" dirty="0"/>
              <a:t> hidden state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kontinu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pendekatan</a:t>
            </a:r>
            <a:r>
              <a:rPr lang="en-ID" sz="1200" dirty="0"/>
              <a:t> hybrid  GRU-ODE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efektif</a:t>
            </a:r>
            <a:r>
              <a:rPr lang="en-ID" sz="1200" dirty="0"/>
              <a:t> </a:t>
            </a:r>
            <a:r>
              <a:rPr lang="en-ID" sz="1200" dirty="0" err="1"/>
              <a:t>dibandingkan</a:t>
            </a:r>
            <a:r>
              <a:rPr lang="en-ID" sz="1200" dirty="0"/>
              <a:t> GRU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kasus</a:t>
            </a:r>
            <a:r>
              <a:rPr lang="en-ID" sz="1200" dirty="0"/>
              <a:t> </a:t>
            </a:r>
            <a:r>
              <a:rPr lang="en-ID" sz="1200" dirty="0" err="1"/>
              <a:t>prediksi</a:t>
            </a:r>
            <a:r>
              <a:rPr lang="en-ID" sz="1200" dirty="0"/>
              <a:t> </a:t>
            </a:r>
            <a:r>
              <a:rPr lang="en-ID" sz="1200" dirty="0" err="1"/>
              <a:t>Indeks</a:t>
            </a:r>
            <a:r>
              <a:rPr lang="en-ID" sz="1200" dirty="0"/>
              <a:t> Harga Saham Intraday LQ45.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903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kesimpulan</a:t>
            </a:r>
            <a:r>
              <a:rPr lang="en-US" dirty="0"/>
              <a:t>:</a:t>
            </a:r>
          </a:p>
          <a:p>
            <a:r>
              <a:rPr lang="en-US" dirty="0"/>
              <a:t>Data LQ45 intraday </a:t>
            </a:r>
            <a:r>
              <a:rPr lang="en-US" dirty="0" err="1"/>
              <a:t>periode</a:t>
            </a:r>
            <a:r>
              <a:rPr lang="en-US" dirty="0"/>
              <a:t> 1 Agustus </a:t>
            </a:r>
            <a:r>
              <a:rPr lang="en-US" dirty="0" err="1"/>
              <a:t>hingga</a:t>
            </a:r>
            <a:r>
              <a:rPr lang="en-US" dirty="0"/>
              <a:t> 28 November 2025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4.736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i="1" dirty="0"/>
              <a:t>irregular time-series</a:t>
            </a:r>
            <a:r>
              <a:rPr lang="en-US" dirty="0"/>
              <a:t>. </a:t>
            </a:r>
            <a:r>
              <a:rPr lang="en-US" dirty="0" err="1"/>
              <a:t>Ketidakteraturan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akibat</a:t>
            </a:r>
            <a:r>
              <a:rPr lang="en-US" dirty="0"/>
              <a:t> </a:t>
            </a:r>
            <a:r>
              <a:rPr lang="en-US" dirty="0" err="1"/>
              <a:t>jeda</a:t>
            </a:r>
            <a:r>
              <a:rPr lang="en-US" dirty="0"/>
              <a:t> </a:t>
            </a:r>
            <a:r>
              <a:rPr lang="en-US" dirty="0" err="1"/>
              <a:t>perdagangan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istirahat</a:t>
            </a:r>
            <a:r>
              <a:rPr lang="en-US" dirty="0"/>
              <a:t> </a:t>
            </a:r>
            <a:r>
              <a:rPr lang="en-US" dirty="0" err="1"/>
              <a:t>siang</a:t>
            </a:r>
            <a:r>
              <a:rPr lang="en-US" dirty="0"/>
              <a:t>, </a:t>
            </a:r>
            <a:r>
              <a:rPr lang="en-US" dirty="0" err="1"/>
              <a:t>penutupan</a:t>
            </a:r>
            <a:r>
              <a:rPr lang="en-US" dirty="0"/>
              <a:t> pasar, </a:t>
            </a:r>
            <a:r>
              <a:rPr lang="en-US" dirty="0" err="1"/>
              <a:t>akhir</a:t>
            </a:r>
            <a:r>
              <a:rPr lang="en-US" dirty="0"/>
              <a:t> pekan, dan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libur</a:t>
            </a:r>
            <a:r>
              <a:rPr lang="en-US" dirty="0"/>
              <a:t>.</a:t>
            </a:r>
          </a:p>
          <a:p>
            <a:r>
              <a:rPr lang="en-US" dirty="0"/>
              <a:t>Model GRU-ODE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dibangun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menggabungkan</a:t>
            </a:r>
            <a:r>
              <a:rPr lang="en-US" dirty="0"/>
              <a:t> </a:t>
            </a:r>
            <a:r>
              <a:rPr lang="en-US" i="1" dirty="0"/>
              <a:t>gating mechanism</a:t>
            </a:r>
            <a:r>
              <a:rPr lang="en-US" dirty="0"/>
              <a:t> pada GRU dan </a:t>
            </a:r>
            <a:r>
              <a:rPr lang="en-US" dirty="0" err="1"/>
              <a:t>evolusi</a:t>
            </a:r>
            <a:r>
              <a:rPr lang="en-US" dirty="0"/>
              <a:t> </a:t>
            </a:r>
            <a:r>
              <a:rPr lang="en-US" i="1" dirty="0"/>
              <a:t>hidden state</a:t>
            </a:r>
            <a:r>
              <a:rPr lang="en-US" dirty="0"/>
              <a:t> </a:t>
            </a:r>
            <a:r>
              <a:rPr lang="en-US" dirty="0" err="1"/>
              <a:t>kontinu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ODE solver,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i="1" dirty="0"/>
              <a:t>closing price</a:t>
            </a:r>
            <a:r>
              <a:rPr lang="en-US" dirty="0"/>
              <a:t> dan </a:t>
            </a:r>
            <a:r>
              <a:rPr lang="en-US" i="1" dirty="0"/>
              <a:t>elapsed time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input.</a:t>
            </a:r>
          </a:p>
          <a:p>
            <a:r>
              <a:rPr lang="en-US" dirty="0"/>
              <a:t>Pada </a:t>
            </a:r>
            <a:r>
              <a:rPr lang="en-US" i="1" dirty="0"/>
              <a:t>test set</a:t>
            </a:r>
            <a:r>
              <a:rPr lang="en-US" dirty="0"/>
              <a:t>, model </a:t>
            </a:r>
            <a:r>
              <a:rPr lang="en-US" dirty="0" err="1"/>
              <a:t>menghasilkan</a:t>
            </a:r>
            <a:r>
              <a:rPr lang="en-US" dirty="0"/>
              <a:t> MAE 0,7831, RMSE 1,0955, dan MAPE 0,0918%,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menurunkan</a:t>
            </a:r>
            <a:r>
              <a:rPr lang="en-US" dirty="0"/>
              <a:t> error </a:t>
            </a:r>
            <a:r>
              <a:rPr lang="en-US" dirty="0" err="1"/>
              <a:t>sebesar</a:t>
            </a:r>
            <a:r>
              <a:rPr lang="en-US" dirty="0"/>
              <a:t> 32,84% (MAE), 26,28% (RMSE), dan 32,89% (MAPE) </a:t>
            </a:r>
            <a:r>
              <a:rPr lang="en-US" dirty="0" err="1"/>
              <a:t>dibandingkan</a:t>
            </a:r>
            <a:r>
              <a:rPr lang="en-US" dirty="0"/>
              <a:t> GRU.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demikian</a:t>
            </a:r>
            <a:r>
              <a:rPr lang="en-US" dirty="0"/>
              <a:t>, GRU-ODE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forecasting</a:t>
            </a:r>
            <a:r>
              <a:rPr lang="en-US" dirty="0"/>
              <a:t> data LQ45 intraday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i="1" dirty="0"/>
              <a:t>irregular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selanjutnya</a:t>
            </a:r>
            <a:r>
              <a:rPr lang="en-US" dirty="0"/>
              <a:t>,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menyarankan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data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saham</a:t>
            </a:r>
            <a:r>
              <a:rPr lang="en-US" dirty="0"/>
              <a:t> lain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generalisasi</a:t>
            </a:r>
            <a:r>
              <a:rPr lang="en-US" dirty="0"/>
              <a:t>,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model </a:t>
            </a:r>
            <a:r>
              <a:rPr lang="en-US" dirty="0" err="1"/>
              <a:t>berbasis</a:t>
            </a:r>
            <a:r>
              <a:rPr lang="en-US" dirty="0"/>
              <a:t> Neural ODE lain </a:t>
            </a:r>
            <a:r>
              <a:rPr lang="en-US" dirty="0" err="1"/>
              <a:t>seperti</a:t>
            </a:r>
            <a:r>
              <a:rPr lang="en-US" dirty="0"/>
              <a:t> Latent ODE </a:t>
            </a:r>
            <a:r>
              <a:rPr lang="en-US" dirty="0" err="1"/>
              <a:t>atau</a:t>
            </a:r>
            <a:r>
              <a:rPr lang="en-US" dirty="0"/>
              <a:t> ODE-RNN, </a:t>
            </a:r>
            <a:r>
              <a:rPr lang="en-US" dirty="0" err="1"/>
              <a:t>eksplorasi</a:t>
            </a:r>
            <a:r>
              <a:rPr lang="en-US" dirty="0"/>
              <a:t> ODE solver </a:t>
            </a:r>
            <a:r>
              <a:rPr lang="en-US" dirty="0" err="1"/>
              <a:t>adaptif</a:t>
            </a:r>
            <a:r>
              <a:rPr lang="en-US" dirty="0"/>
              <a:t>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eksternal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volume </a:t>
            </a:r>
            <a:r>
              <a:rPr lang="en-US" dirty="0" err="1"/>
              <a:t>perdagangan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sentimen</a:t>
            </a:r>
            <a:r>
              <a:rPr lang="en-US" dirty="0"/>
              <a:t> </a:t>
            </a:r>
            <a:r>
              <a:rPr lang="en-US" dirty="0" err="1"/>
              <a:t>berita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541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referensi</a:t>
            </a:r>
            <a:r>
              <a:rPr lang="en-US" dirty="0"/>
              <a:t>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saya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1865F-721A-421D-B33B-1CBE17E494A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062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Demikian</a:t>
            </a:r>
            <a:r>
              <a:rPr lang="en-US" dirty="0"/>
              <a:t> </a:t>
            </a:r>
            <a:r>
              <a:rPr lang="en-US" dirty="0" err="1"/>
              <a:t>presentasi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sampaikan</a:t>
            </a:r>
            <a:r>
              <a:rPr lang="en-US" dirty="0"/>
              <a:t>. Saya </a:t>
            </a:r>
            <a:r>
              <a:rPr lang="en-US" dirty="0" err="1"/>
              <a:t>mengucapkan</a:t>
            </a:r>
            <a:r>
              <a:rPr lang="en-US" dirty="0"/>
              <a:t> </a:t>
            </a:r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Bapak dan Ibu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pembimbing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penguji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dan </a:t>
            </a:r>
            <a:r>
              <a:rPr lang="en-US" dirty="0" err="1"/>
              <a:t>perhatiannya</a:t>
            </a:r>
            <a:r>
              <a:rPr lang="en-US" dirty="0"/>
              <a:t>. Saya </a:t>
            </a:r>
            <a:r>
              <a:rPr lang="en-US" dirty="0" err="1"/>
              <a:t>membuka</a:t>
            </a:r>
            <a:r>
              <a:rPr lang="en-US" dirty="0"/>
              <a:t> </a:t>
            </a:r>
            <a:r>
              <a:rPr lang="en-US" dirty="0" err="1"/>
              <a:t>diri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, </a:t>
            </a:r>
            <a:r>
              <a:rPr lang="en-US" dirty="0" err="1"/>
              <a:t>masukan</a:t>
            </a:r>
            <a:r>
              <a:rPr lang="en-US" dirty="0"/>
              <a:t>, dan </a:t>
            </a:r>
            <a:r>
              <a:rPr lang="en-US" dirty="0" err="1"/>
              <a:t>diskusi</a:t>
            </a:r>
            <a:r>
              <a:rPr lang="en-US" dirty="0"/>
              <a:t>. </a:t>
            </a:r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. </a:t>
            </a:r>
            <a:r>
              <a:rPr lang="en-US" dirty="0" err="1"/>
              <a:t>Wassalamualaikum</a:t>
            </a:r>
            <a:r>
              <a:rPr lang="en-US" dirty="0"/>
              <a:t> </a:t>
            </a:r>
            <a:r>
              <a:rPr lang="en-US" dirty="0" err="1"/>
              <a:t>warahmatullahi</a:t>
            </a:r>
            <a:r>
              <a:rPr lang="en-US" dirty="0"/>
              <a:t> </a:t>
            </a:r>
            <a:r>
              <a:rPr lang="en-US" dirty="0" err="1"/>
              <a:t>wabarakatuh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00" name="Google Shape;2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f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AEFE0-7089-C2FF-140F-F051EFDD2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424B4-1DF1-5DDD-E7A0-3D0B1E14C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6BEA-2712-EBFB-5CA2-BF5095E3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022-EDCD-47E7-898C-784500D86403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41D0F-9526-B9A4-0F1C-F6934694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6B3BD2-01F5-749A-471D-4AF508A067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767" y="0"/>
            <a:ext cx="2288233" cy="983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356CBD-8B26-144F-9C23-30B1A942A7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0"/>
            <a:ext cx="1139723" cy="18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2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8842E-41DE-3CB8-41BB-712D31D5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3909E-1D48-346A-0E29-68E7AFFAC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81805-A534-88A0-86A3-05EBCCA3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3FD9-73D8-4511-BAF1-317B89932628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5979A-BD59-822C-7243-399071E9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0900" y="23431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40485-C714-6E4D-8375-07487EAE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CE764-12BE-5765-A30F-FD3FC0186C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0"/>
            <a:ext cx="1139723" cy="1835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E02459-3BA4-0AFC-3D52-9DA71729C9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767" y="0"/>
            <a:ext cx="2288233" cy="98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016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E4D9B-E880-F2AC-26C1-6A59B98FE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08B21-B9C6-B752-889B-AD76C41D7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6D569-726C-2589-7034-FCD46BE2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B103-9515-4DC9-8F9C-BDBF5019276B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DFB2B-63B7-B7BD-86D1-557B9C6A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2CCAE-B8AE-F4A0-2256-EE37C9659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4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D9CE-13EE-FBEF-6F2E-EEDBA8FF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5F05D-80B2-CA03-9CE8-478F75F3C8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146C0-7C21-536F-AC09-9D0294A53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B8AF6-8C3F-3325-49FB-BCA2C560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B703-92D1-4511-8EC5-049F11F31E81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9CD5C-0B71-57E4-CA86-53502328A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46A04-5A66-5AEE-08D6-A24C2F8C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1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090A-3D6F-445C-8DD2-1533D4EED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EABAE-9EDE-B3C1-900A-0AC6E94DC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8B614-9D5F-D203-497D-7A146D1F2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F7742-4199-A3CD-38A6-8809AC11C3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B92C3D-F572-2020-FB23-C5158C386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A22D74-45A4-FE7D-5993-2582C1C7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AA95-8EA0-49BF-BDDD-6B7AE02A520E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9F4F92-94A4-E2BB-651C-633617E9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FD42C3-C01A-861E-75F5-AE51D938B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10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BF9C-D0AE-8110-D826-EA5650FF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E2F92-807C-ABDB-B49B-05BF1C103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7A28-ECF2-4567-805D-A52571E67A94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BFC03-5655-B921-54EE-5D837A9E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0388B-43E1-7812-EEA2-55CF1A3B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1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04AC1-1DDA-5AF2-281C-DEB99F50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C95DD-E92A-4934-995B-DCA633CCA61D}" type="datetime1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D93AF-9913-5B1E-ED27-5A6A0673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8C49C-B9DC-80A8-B86E-C1C46C89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30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FDA2-582D-44C5-DB41-21718980D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5D322-5AC8-8060-1966-D728231E5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302D1-9356-FD3E-DC97-D718DDB54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8FB80-FEE5-AB2C-358D-1E547AB0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C34C4-C7AC-4A0A-A5B2-5D84D4F91E7D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77C1E-7B58-8DD2-E5CE-5BD99FE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81F3E-2965-C564-2449-3ADBEA2E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8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7F0C0-5AE5-6B48-9C7C-830E98F7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7A66AC-7EE0-6B9D-372F-AD3F5520C6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D7A15-5489-2A11-5627-1035A6B79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658A2-427F-6722-DE51-79DEAE6B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7123B-5461-4A61-8C0E-EFBBCC035CB3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D627C-E571-9275-4F46-1D82B58B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A5058-C228-F0B2-913A-8C396A0B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CBE1-D652-BCD1-2909-5142B398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130DC-A1F1-C7E3-296A-5351C5B5F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ADE01-E9EC-3196-69D4-D961F761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1BC4-BF14-4B83-A9EE-ECB5E98FC171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75F8A-8CE8-36A6-5D29-457E754C5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8951B-7676-40FE-309D-B7B5B0FE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40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2221D-7A15-1279-C1AD-845E759AC4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F704A-0B2B-EA74-8098-59AB227C5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84D0C-77F6-C142-7F67-5464401DA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B8F-22C6-437B-9241-A94C566E8517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70538-F046-DE5E-B326-3CEE0EE9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43984-6619-0841-1874-18B36F21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09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F792869-4897-DEFE-BE18-B031BF6A4CA1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738445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05" imgH="405" progId="TCLayout.ActiveDocument.1">
                  <p:embed/>
                </p:oleObj>
              </mc:Choice>
              <mc:Fallback>
                <p:oleObj name="think-cell Slide" r:id="rId14" imgW="405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297EA-E08C-390A-6BB0-D91635C07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614AF-CDBB-31E8-D014-49375D62D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E0E09-F46A-6DAD-B86F-4B3011907B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1D980-51F3-4247-A0AD-222D2650EC9E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8AAD4-5AC7-98C9-80D8-57BC14755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9CEC2-A9D4-D5BF-49E6-6E861F454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0BDE2-5DF1-4EE7-A693-CA505B89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3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oleObject" Target="../embeddings/oleObject3.bin"/><Relationship Id="rId18" Type="http://schemas.openxmlformats.org/officeDocument/2006/relationships/image" Target="../media/image8.pn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image" Target="../media/image4.png"/><Relationship Id="rId17" Type="http://schemas.openxmlformats.org/officeDocument/2006/relationships/image" Target="../media/image7.jpeg"/><Relationship Id="rId2" Type="http://schemas.openxmlformats.org/officeDocument/2006/relationships/tags" Target="../tags/tag4.xml"/><Relationship Id="rId16" Type="http://schemas.openxmlformats.org/officeDocument/2006/relationships/image" Target="../media/image6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9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oleObject" Target="../embeddings/oleObject4.bin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microsoft.com/office/2018/10/relationships/comments" Target="../comments/modernComment_115_C4991243.xml"/><Relationship Id="rId2" Type="http://schemas.openxmlformats.org/officeDocument/2006/relationships/tags" Target="../tags/tag13.xml"/><Relationship Id="rId16" Type="http://schemas.openxmlformats.org/officeDocument/2006/relationships/image" Target="../media/image10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16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5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1.emf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oleObject" Target="../embeddings/oleObject4.bin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1.emf"/><Relationship Id="rId18" Type="http://schemas.openxmlformats.org/officeDocument/2006/relationships/image" Target="../media/image14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3.png"/><Relationship Id="rId2" Type="http://schemas.openxmlformats.org/officeDocument/2006/relationships/tags" Target="../tags/tag31.xml"/><Relationship Id="rId16" Type="http://schemas.openxmlformats.org/officeDocument/2006/relationships/image" Target="../media/image12.pn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notesSlide" Target="../notesSlides/notesSlide6.xml"/><Relationship Id="rId5" Type="http://schemas.openxmlformats.org/officeDocument/2006/relationships/tags" Target="../tags/tag34.xml"/><Relationship Id="rId15" Type="http://schemas.openxmlformats.org/officeDocument/2006/relationships/image" Target="../media/image11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1.emf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tags" Target="../tags/tag41.xml"/><Relationship Id="rId21" Type="http://schemas.openxmlformats.org/officeDocument/2006/relationships/image" Target="../media/image21.png"/><Relationship Id="rId7" Type="http://schemas.openxmlformats.org/officeDocument/2006/relationships/tags" Target="../tags/tag45.xml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tags" Target="../tags/tag40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notesSlide" Target="../notesSlides/notesSlide7.xml"/><Relationship Id="rId24" Type="http://schemas.openxmlformats.org/officeDocument/2006/relationships/image" Target="../media/image24.png"/><Relationship Id="rId5" Type="http://schemas.openxmlformats.org/officeDocument/2006/relationships/tags" Target="../tags/tag43.xml"/><Relationship Id="rId15" Type="http://schemas.openxmlformats.org/officeDocument/2006/relationships/image" Target="../media/image5.png"/><Relationship Id="rId23" Type="http://schemas.openxmlformats.org/officeDocument/2006/relationships/image" Target="../media/image23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9.png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image" Target="../media/image15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image" Target="../media/image1.emf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oleObject" Target="../embeddings/oleObject7.bin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52.xml"/><Relationship Id="rId15" Type="http://schemas.openxmlformats.org/officeDocument/2006/relationships/image" Target="../media/image28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image" Target="../media/image1.emf"/><Relationship Id="rId18" Type="http://schemas.openxmlformats.org/officeDocument/2006/relationships/image" Target="../media/image32.png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31.png"/><Relationship Id="rId2" Type="http://schemas.openxmlformats.org/officeDocument/2006/relationships/tags" Target="../tags/tag58.xml"/><Relationship Id="rId16" Type="http://schemas.openxmlformats.org/officeDocument/2006/relationships/image" Target="../media/image30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notesSlide" Target="../notesSlides/notesSlide9.xml"/><Relationship Id="rId5" Type="http://schemas.openxmlformats.org/officeDocument/2006/relationships/tags" Target="../tags/tag61.xml"/><Relationship Id="rId15" Type="http://schemas.openxmlformats.org/officeDocument/2006/relationships/image" Target="../media/image29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image" Target="../media/image5.png"/><Relationship Id="rId18" Type="http://schemas.openxmlformats.org/officeDocument/2006/relationships/image" Target="../media/image37.png"/><Relationship Id="rId3" Type="http://schemas.openxmlformats.org/officeDocument/2006/relationships/tags" Target="../tags/tag68.xml"/><Relationship Id="rId21" Type="http://schemas.openxmlformats.org/officeDocument/2006/relationships/image" Target="../media/image40.png"/><Relationship Id="rId7" Type="http://schemas.openxmlformats.org/officeDocument/2006/relationships/tags" Target="../tags/tag72.xml"/><Relationship Id="rId12" Type="http://schemas.openxmlformats.org/officeDocument/2006/relationships/image" Target="../media/image1.emf"/><Relationship Id="rId17" Type="http://schemas.openxmlformats.org/officeDocument/2006/relationships/image" Target="../media/image36.png"/><Relationship Id="rId2" Type="http://schemas.openxmlformats.org/officeDocument/2006/relationships/tags" Target="../tags/tag67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43.png"/><Relationship Id="rId5" Type="http://schemas.openxmlformats.org/officeDocument/2006/relationships/tags" Target="../tags/tag70.xml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38.png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image" Target="../media/image1.emf"/><Relationship Id="rId18" Type="http://schemas.openxmlformats.org/officeDocument/2006/relationships/image" Target="../media/image43.png"/><Relationship Id="rId3" Type="http://schemas.openxmlformats.org/officeDocument/2006/relationships/tags" Target="../tags/tag77.xml"/><Relationship Id="rId21" Type="http://schemas.openxmlformats.org/officeDocument/2006/relationships/image" Target="../media/image46.png"/><Relationship Id="rId7" Type="http://schemas.openxmlformats.org/officeDocument/2006/relationships/tags" Target="../tags/tag81.xml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42.png"/><Relationship Id="rId2" Type="http://schemas.openxmlformats.org/officeDocument/2006/relationships/tags" Target="../tags/tag76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79.xml"/><Relationship Id="rId15" Type="http://schemas.openxmlformats.org/officeDocument/2006/relationships/image" Target="../media/image40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44.png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image" Target="../media/image5.png"/><Relationship Id="rId22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image" Target="../media/image1.emf"/><Relationship Id="rId18" Type="http://schemas.openxmlformats.org/officeDocument/2006/relationships/image" Target="../media/image51.png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50.png"/><Relationship Id="rId2" Type="http://schemas.openxmlformats.org/officeDocument/2006/relationships/tags" Target="../tags/tag85.xml"/><Relationship Id="rId16" Type="http://schemas.openxmlformats.org/officeDocument/2006/relationships/image" Target="../media/image49.png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notesSlide" Target="../notesSlides/notesSlide11.xml"/><Relationship Id="rId5" Type="http://schemas.openxmlformats.org/officeDocument/2006/relationships/tags" Target="../tags/tag88.xml"/><Relationship Id="rId15" Type="http://schemas.openxmlformats.org/officeDocument/2006/relationships/image" Target="../media/image48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image" Target="../media/image1.emf"/><Relationship Id="rId18" Type="http://schemas.openxmlformats.org/officeDocument/2006/relationships/image" Target="../media/image55.png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54.png"/><Relationship Id="rId2" Type="http://schemas.openxmlformats.org/officeDocument/2006/relationships/tags" Target="../tags/tag94.xml"/><Relationship Id="rId16" Type="http://schemas.openxmlformats.org/officeDocument/2006/relationships/image" Target="../media/image53.png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notesSlide" Target="../notesSlides/notesSlide13.xml"/><Relationship Id="rId5" Type="http://schemas.openxmlformats.org/officeDocument/2006/relationships/tags" Target="../tags/tag97.xml"/><Relationship Id="rId15" Type="http://schemas.openxmlformats.org/officeDocument/2006/relationships/image" Target="../media/image52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image" Target="../media/image5.png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image" Target="../media/image1.emf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oleObject" Target="../embeddings/oleObject10.bin"/><Relationship Id="rId5" Type="http://schemas.openxmlformats.org/officeDocument/2006/relationships/tags" Target="../tags/tag10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image" Target="../media/image5.png"/><Relationship Id="rId18" Type="http://schemas.openxmlformats.org/officeDocument/2006/relationships/image" Target="../media/image57.png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image" Target="../media/image1.emf"/><Relationship Id="rId17" Type="http://schemas.openxmlformats.org/officeDocument/2006/relationships/image" Target="../media/image290.png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115.xml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58.png"/><Relationship Id="rId4" Type="http://schemas.openxmlformats.org/officeDocument/2006/relationships/tags" Target="../tags/tag114.xml"/><Relationship Id="rId9" Type="http://schemas.openxmlformats.org/officeDocument/2006/relationships/tags" Target="../tags/tag11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image" Target="../media/image1.emf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60.png"/><Relationship Id="rId2" Type="http://schemas.openxmlformats.org/officeDocument/2006/relationships/tags" Target="../tags/tag121.xml"/><Relationship Id="rId16" Type="http://schemas.openxmlformats.org/officeDocument/2006/relationships/image" Target="../media/image57.png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notesSlide" Target="../notesSlides/notesSlide14.xml"/><Relationship Id="rId5" Type="http://schemas.openxmlformats.org/officeDocument/2006/relationships/tags" Target="../tags/tag124.xml"/><Relationship Id="rId15" Type="http://schemas.openxmlformats.org/officeDocument/2006/relationships/image" Target="../media/image59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image" Target="../media/image1.emf"/><Relationship Id="rId18" Type="http://schemas.openxmlformats.org/officeDocument/2006/relationships/image" Target="../media/image64.png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63.png"/><Relationship Id="rId2" Type="http://schemas.openxmlformats.org/officeDocument/2006/relationships/tags" Target="../tags/tag130.xml"/><Relationship Id="rId16" Type="http://schemas.openxmlformats.org/officeDocument/2006/relationships/image" Target="../media/image62.png"/><Relationship Id="rId20" Type="http://schemas.openxmlformats.org/officeDocument/2006/relationships/image" Target="../media/image60.png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notesSlide" Target="../notesSlides/notesSlide15.xml"/><Relationship Id="rId5" Type="http://schemas.openxmlformats.org/officeDocument/2006/relationships/tags" Target="../tags/tag133.xml"/><Relationship Id="rId15" Type="http://schemas.openxmlformats.org/officeDocument/2006/relationships/image" Target="../media/image61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57.png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image" Target="../media/image1.emf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60.png"/><Relationship Id="rId2" Type="http://schemas.openxmlformats.org/officeDocument/2006/relationships/tags" Target="../tags/tag139.xml"/><Relationship Id="rId16" Type="http://schemas.openxmlformats.org/officeDocument/2006/relationships/image" Target="../media/image57.png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142.xml"/><Relationship Id="rId15" Type="http://schemas.openxmlformats.org/officeDocument/2006/relationships/image" Target="../media/image65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image" Target="../media/image1.emf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oleObject" Target="../embeddings/oleObject10.bin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image" Target="../media/image66.png"/><Relationship Id="rId5" Type="http://schemas.openxmlformats.org/officeDocument/2006/relationships/tags" Target="../tags/tag151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image" Target="../media/image67.png"/><Relationship Id="rId18" Type="http://schemas.openxmlformats.org/officeDocument/2006/relationships/image" Target="../media/image70.png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12" Type="http://schemas.openxmlformats.org/officeDocument/2006/relationships/image" Target="../media/image1.emf"/><Relationship Id="rId17" Type="http://schemas.openxmlformats.org/officeDocument/2006/relationships/image" Target="../media/image60.png"/><Relationship Id="rId2" Type="http://schemas.openxmlformats.org/officeDocument/2006/relationships/tags" Target="../tags/tag157.xml"/><Relationship Id="rId16" Type="http://schemas.openxmlformats.org/officeDocument/2006/relationships/image" Target="../media/image69.png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oleObject" Target="../embeddings/oleObject14.bin"/><Relationship Id="rId5" Type="http://schemas.openxmlformats.org/officeDocument/2006/relationships/tags" Target="../tags/tag160.xml"/><Relationship Id="rId15" Type="http://schemas.openxmlformats.org/officeDocument/2006/relationships/image" Target="../media/image68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image" Target="../media/image5.png"/><Relationship Id="rId18" Type="http://schemas.openxmlformats.org/officeDocument/2006/relationships/image" Target="../media/image75.png"/><Relationship Id="rId3" Type="http://schemas.openxmlformats.org/officeDocument/2006/relationships/tags" Target="../tags/tag167.xml"/><Relationship Id="rId7" Type="http://schemas.openxmlformats.org/officeDocument/2006/relationships/tags" Target="../tags/tag171.xml"/><Relationship Id="rId12" Type="http://schemas.openxmlformats.org/officeDocument/2006/relationships/image" Target="../media/image1.emf"/><Relationship Id="rId17" Type="http://schemas.openxmlformats.org/officeDocument/2006/relationships/image" Target="../media/image74.png"/><Relationship Id="rId2" Type="http://schemas.openxmlformats.org/officeDocument/2006/relationships/tags" Target="../tags/tag166.xml"/><Relationship Id="rId16" Type="http://schemas.openxmlformats.org/officeDocument/2006/relationships/image" Target="../media/image73.png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oleObject" Target="../embeddings/oleObject15.bin"/><Relationship Id="rId5" Type="http://schemas.openxmlformats.org/officeDocument/2006/relationships/tags" Target="../tags/tag169.xml"/><Relationship Id="rId15" Type="http://schemas.openxmlformats.org/officeDocument/2006/relationships/image" Target="../media/image72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81.xml"/><Relationship Id="rId13" Type="http://schemas.openxmlformats.org/officeDocument/2006/relationships/image" Target="../media/image5.png"/><Relationship Id="rId18" Type="http://schemas.openxmlformats.org/officeDocument/2006/relationships/image" Target="../media/image80.png"/><Relationship Id="rId3" Type="http://schemas.openxmlformats.org/officeDocument/2006/relationships/tags" Target="../tags/tag176.xml"/><Relationship Id="rId21" Type="http://schemas.openxmlformats.org/officeDocument/2006/relationships/image" Target="../media/image83.png"/><Relationship Id="rId7" Type="http://schemas.openxmlformats.org/officeDocument/2006/relationships/tags" Target="../tags/tag180.xml"/><Relationship Id="rId12" Type="http://schemas.openxmlformats.org/officeDocument/2006/relationships/image" Target="../media/image1.emf"/><Relationship Id="rId17" Type="http://schemas.openxmlformats.org/officeDocument/2006/relationships/image" Target="../media/image79.png"/><Relationship Id="rId2" Type="http://schemas.openxmlformats.org/officeDocument/2006/relationships/tags" Target="../tags/tag175.xml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tags" Target="../tags/tag174.xml"/><Relationship Id="rId6" Type="http://schemas.openxmlformats.org/officeDocument/2006/relationships/tags" Target="../tags/tag179.xml"/><Relationship Id="rId11" Type="http://schemas.openxmlformats.org/officeDocument/2006/relationships/oleObject" Target="../embeddings/oleObject15.bin"/><Relationship Id="rId5" Type="http://schemas.openxmlformats.org/officeDocument/2006/relationships/tags" Target="../tags/tag178.xml"/><Relationship Id="rId15" Type="http://schemas.openxmlformats.org/officeDocument/2006/relationships/image" Target="../media/image77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81.png"/><Relationship Id="rId4" Type="http://schemas.openxmlformats.org/officeDocument/2006/relationships/tags" Target="../tags/tag177.xml"/><Relationship Id="rId9" Type="http://schemas.openxmlformats.org/officeDocument/2006/relationships/tags" Target="../tags/tag182.xml"/><Relationship Id="rId14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13" Type="http://schemas.openxmlformats.org/officeDocument/2006/relationships/image" Target="../media/image1.emf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12" Type="http://schemas.openxmlformats.org/officeDocument/2006/relationships/oleObject" Target="../embeddings/oleObject16.bin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notesSlide" Target="../notesSlides/notesSlide18.xml"/><Relationship Id="rId5" Type="http://schemas.openxmlformats.org/officeDocument/2006/relationships/tags" Target="../tags/tag187.xml"/><Relationship Id="rId15" Type="http://schemas.openxmlformats.org/officeDocument/2006/relationships/image" Target="../media/image84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86.xml"/><Relationship Id="rId9" Type="http://schemas.openxmlformats.org/officeDocument/2006/relationships/tags" Target="../tags/tag191.xml"/><Relationship Id="rId1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13" Type="http://schemas.openxmlformats.org/officeDocument/2006/relationships/image" Target="../media/image5.png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12" Type="http://schemas.openxmlformats.org/officeDocument/2006/relationships/image" Target="../media/image1.emf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9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95.xml"/><Relationship Id="rId9" Type="http://schemas.openxmlformats.org/officeDocument/2006/relationships/tags" Target="../tags/tag200.xml"/><Relationship Id="rId1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image" Target="../media/image1.emf"/><Relationship Id="rId18" Type="http://schemas.openxmlformats.org/officeDocument/2006/relationships/image" Target="../media/image88.png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87.png"/><Relationship Id="rId2" Type="http://schemas.openxmlformats.org/officeDocument/2006/relationships/tags" Target="../tags/tag202.xml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notesSlide" Target="../notesSlides/notesSlide19.xml"/><Relationship Id="rId5" Type="http://schemas.openxmlformats.org/officeDocument/2006/relationships/tags" Target="../tags/tag205.xml"/><Relationship Id="rId15" Type="http://schemas.openxmlformats.org/officeDocument/2006/relationships/image" Target="../media/image85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89.png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image" Target="../media/image1.emf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oleObject" Target="../embeddings/oleObject19.bin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notesSlide" Target="../notesSlides/notesSlide20.xml"/><Relationship Id="rId5" Type="http://schemas.openxmlformats.org/officeDocument/2006/relationships/tags" Target="../tags/tag21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26.xml"/><Relationship Id="rId13" Type="http://schemas.openxmlformats.org/officeDocument/2006/relationships/image" Target="../media/image1.emf"/><Relationship Id="rId18" Type="http://schemas.openxmlformats.org/officeDocument/2006/relationships/image" Target="../media/image94.png"/><Relationship Id="rId3" Type="http://schemas.openxmlformats.org/officeDocument/2006/relationships/tags" Target="../tags/tag221.xml"/><Relationship Id="rId7" Type="http://schemas.openxmlformats.org/officeDocument/2006/relationships/tags" Target="../tags/tag225.xml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93.png"/><Relationship Id="rId2" Type="http://schemas.openxmlformats.org/officeDocument/2006/relationships/tags" Target="../tags/tag220.xml"/><Relationship Id="rId16" Type="http://schemas.openxmlformats.org/officeDocument/2006/relationships/image" Target="../media/image92.png"/><Relationship Id="rId1" Type="http://schemas.openxmlformats.org/officeDocument/2006/relationships/tags" Target="../tags/tag219.xml"/><Relationship Id="rId6" Type="http://schemas.openxmlformats.org/officeDocument/2006/relationships/tags" Target="../tags/tag224.xml"/><Relationship Id="rId11" Type="http://schemas.openxmlformats.org/officeDocument/2006/relationships/notesSlide" Target="../notesSlides/notesSlide21.xml"/><Relationship Id="rId5" Type="http://schemas.openxmlformats.org/officeDocument/2006/relationships/tags" Target="../tags/tag223.xml"/><Relationship Id="rId15" Type="http://schemas.openxmlformats.org/officeDocument/2006/relationships/image" Target="../media/image91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22.xml"/><Relationship Id="rId9" Type="http://schemas.openxmlformats.org/officeDocument/2006/relationships/tags" Target="../tags/tag227.xml"/><Relationship Id="rId1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235.xml"/><Relationship Id="rId13" Type="http://schemas.openxmlformats.org/officeDocument/2006/relationships/image" Target="../media/image1.emf"/><Relationship Id="rId3" Type="http://schemas.openxmlformats.org/officeDocument/2006/relationships/tags" Target="../tags/tag230.xml"/><Relationship Id="rId7" Type="http://schemas.openxmlformats.org/officeDocument/2006/relationships/tags" Target="../tags/tag234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11" Type="http://schemas.openxmlformats.org/officeDocument/2006/relationships/notesSlide" Target="../notesSlides/notesSlide22.xml"/><Relationship Id="rId5" Type="http://schemas.openxmlformats.org/officeDocument/2006/relationships/tags" Target="../tags/tag232.xml"/><Relationship Id="rId15" Type="http://schemas.openxmlformats.org/officeDocument/2006/relationships/image" Target="../media/image95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31.xml"/><Relationship Id="rId9" Type="http://schemas.openxmlformats.org/officeDocument/2006/relationships/tags" Target="../tags/tag236.xml"/><Relationship Id="rId1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244.xml"/><Relationship Id="rId13" Type="http://schemas.openxmlformats.org/officeDocument/2006/relationships/image" Target="../media/image1.emf"/><Relationship Id="rId3" Type="http://schemas.openxmlformats.org/officeDocument/2006/relationships/tags" Target="../tags/tag239.xml"/><Relationship Id="rId7" Type="http://schemas.openxmlformats.org/officeDocument/2006/relationships/tags" Target="../tags/tag243.xml"/><Relationship Id="rId12" Type="http://schemas.openxmlformats.org/officeDocument/2006/relationships/oleObject" Target="../embeddings/oleObject22.bin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notesSlide" Target="../notesSlides/notesSlide23.xml"/><Relationship Id="rId5" Type="http://schemas.openxmlformats.org/officeDocument/2006/relationships/tags" Target="../tags/tag241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0.xml"/><Relationship Id="rId9" Type="http://schemas.openxmlformats.org/officeDocument/2006/relationships/tags" Target="../tags/tag24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6.xml"/><Relationship Id="rId6" Type="http://schemas.openxmlformats.org/officeDocument/2006/relationships/hyperlink" Target="https://www.idx.co.id/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7.xml"/><Relationship Id="rId4" Type="http://schemas.openxmlformats.org/officeDocument/2006/relationships/image" Target="../media/image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FE7B65-9592-E4E8-C9F5-B4B4277163B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454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oogle Shape;90;p14">
            <a:extLst>
              <a:ext uri="{FF2B5EF4-FFF2-40B4-BE49-F238E27FC236}">
                <a16:creationId xmlns:a16="http://schemas.microsoft.com/office/drawing/2014/main" id="{210EEC95-EE71-C28A-1791-3893AEA82CD5}"/>
              </a:ext>
            </a:extLst>
          </p:cNvPr>
          <p:cNvGrpSpPr/>
          <p:nvPr/>
        </p:nvGrpSpPr>
        <p:grpSpPr>
          <a:xfrm>
            <a:off x="746125" y="5842000"/>
            <a:ext cx="10720388" cy="1038225"/>
            <a:chOff x="739492" y="5839674"/>
            <a:chExt cx="10720513" cy="1038245"/>
          </a:xfrm>
        </p:grpSpPr>
        <p:sp>
          <p:nvSpPr>
            <p:cNvPr id="7" name="Google Shape;91;p14">
              <a:extLst>
                <a:ext uri="{FF2B5EF4-FFF2-40B4-BE49-F238E27FC236}">
                  <a16:creationId xmlns:a16="http://schemas.microsoft.com/office/drawing/2014/main" id="{2997C268-FDCC-D020-CAD6-5331EEF5A518}"/>
                </a:ext>
              </a:extLst>
            </p:cNvPr>
            <p:cNvSpPr/>
            <p:nvPr/>
          </p:nvSpPr>
          <p:spPr>
            <a:xfrm>
              <a:off x="739492" y="6167045"/>
              <a:ext cx="10720513" cy="710874"/>
            </a:xfrm>
            <a:custGeom>
              <a:avLst/>
              <a:gdLst/>
              <a:ahLst/>
              <a:cxnLst/>
              <a:rect l="l" t="t" r="r" b="b"/>
              <a:pathLst>
                <a:path w="1881624" h="525363" extrusionOk="0">
                  <a:moveTo>
                    <a:pt x="0" y="0"/>
                  </a:moveTo>
                  <a:lnTo>
                    <a:pt x="1881624" y="0"/>
                  </a:lnTo>
                  <a:lnTo>
                    <a:pt x="1881624" y="525363"/>
                  </a:lnTo>
                  <a:lnTo>
                    <a:pt x="0" y="525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92;p14">
              <a:extLst>
                <a:ext uri="{FF2B5EF4-FFF2-40B4-BE49-F238E27FC236}">
                  <a16:creationId xmlns:a16="http://schemas.microsoft.com/office/drawing/2014/main" id="{53C43D37-1D64-3AEB-10AD-2CD0E0D07E99}"/>
                </a:ext>
              </a:extLst>
            </p:cNvPr>
            <p:cNvSpPr/>
            <p:nvPr/>
          </p:nvSpPr>
          <p:spPr>
            <a:xfrm>
              <a:off x="739492" y="5839674"/>
              <a:ext cx="10720513" cy="413588"/>
            </a:xfrm>
            <a:custGeom>
              <a:avLst/>
              <a:gdLst/>
              <a:ahLst/>
              <a:cxnLst/>
              <a:rect l="l" t="t" r="r" b="b"/>
              <a:pathLst>
                <a:path w="3003165" h="525363" extrusionOk="0">
                  <a:moveTo>
                    <a:pt x="0" y="0"/>
                  </a:moveTo>
                  <a:lnTo>
                    <a:pt x="3003165" y="0"/>
                  </a:lnTo>
                  <a:lnTo>
                    <a:pt x="3003165" y="525363"/>
                  </a:lnTo>
                  <a:lnTo>
                    <a:pt x="0" y="525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95;p14">
            <a:extLst>
              <a:ext uri="{FF2B5EF4-FFF2-40B4-BE49-F238E27FC236}">
                <a16:creationId xmlns:a16="http://schemas.microsoft.com/office/drawing/2014/main" id="{232BE818-2472-7ACC-4567-1407098CDFB9}"/>
              </a:ext>
            </a:extLst>
          </p:cNvPr>
          <p:cNvSpPr txBox="1"/>
          <p:nvPr/>
        </p:nvSpPr>
        <p:spPr>
          <a:xfrm>
            <a:off x="2735263" y="5364840"/>
            <a:ext cx="7146925" cy="1040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38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 Studi S1 </a:t>
            </a:r>
            <a:r>
              <a:rPr lang="en-US" sz="2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Matematika</a:t>
            </a:r>
            <a:r>
              <a:rPr lang="en-US" sz="2000" b="1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Departemen</a:t>
            </a:r>
            <a:r>
              <a:rPr lang="en-US" sz="2000" b="1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Matematika</a:t>
            </a:r>
            <a:endParaRPr dirty="0"/>
          </a:p>
        </p:txBody>
      </p:sp>
      <p:sp>
        <p:nvSpPr>
          <p:cNvPr id="10" name="Google Shape;93;p14">
            <a:extLst>
              <a:ext uri="{FF2B5EF4-FFF2-40B4-BE49-F238E27FC236}">
                <a16:creationId xmlns:a16="http://schemas.microsoft.com/office/drawing/2014/main" id="{3D4F9997-AB90-9ECE-488F-21BD09489629}"/>
              </a:ext>
            </a:extLst>
          </p:cNvPr>
          <p:cNvSpPr txBox="1"/>
          <p:nvPr/>
        </p:nvSpPr>
        <p:spPr>
          <a:xfrm>
            <a:off x="3221038" y="6283325"/>
            <a:ext cx="5770562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Fakultas Matematika dan Ilmu Pengetahuan Alam (FMIPA) - Universitas Indonesia</a:t>
            </a:r>
            <a:endParaRPr/>
          </a:p>
        </p:txBody>
      </p:sp>
      <p:sp>
        <p:nvSpPr>
          <p:cNvPr id="11" name="Google Shape;94;p14">
            <a:extLst>
              <a:ext uri="{FF2B5EF4-FFF2-40B4-BE49-F238E27FC236}">
                <a16:creationId xmlns:a16="http://schemas.microsoft.com/office/drawing/2014/main" id="{F8E21F06-0384-2C7C-F780-0886BD8C17A0}"/>
              </a:ext>
            </a:extLst>
          </p:cNvPr>
          <p:cNvSpPr txBox="1"/>
          <p:nvPr/>
        </p:nvSpPr>
        <p:spPr>
          <a:xfrm>
            <a:off x="2181225" y="6537325"/>
            <a:ext cx="7443788" cy="26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Gedung D, Kampus UI, Depok 16424, Telp. +62-21-7862719, Fax. +62-21-7863439, Email. </a:t>
            </a:r>
            <a:r>
              <a:rPr lang="en-US" sz="11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1" u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ep.math@ui.ac.id</a:t>
            </a:r>
            <a:endParaRPr dirty="0"/>
          </a:p>
        </p:txBody>
      </p:sp>
      <p:sp>
        <p:nvSpPr>
          <p:cNvPr id="16" name="Google Shape;87;p14">
            <a:extLst>
              <a:ext uri="{FF2B5EF4-FFF2-40B4-BE49-F238E27FC236}">
                <a16:creationId xmlns:a16="http://schemas.microsoft.com/office/drawing/2014/main" id="{5BCD136C-F004-6B20-45E5-948C163EA3C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982251"/>
            <a:ext cx="9144000" cy="125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latin typeface="Arial"/>
                <a:ea typeface="Arial"/>
                <a:cs typeface="Arial"/>
                <a:sym typeface="Arial"/>
              </a:rPr>
              <a:t>Prediksi</a:t>
            </a:r>
            <a:r>
              <a:rPr lang="en-US" sz="36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dirty="0" err="1">
                <a:latin typeface="Arial"/>
                <a:ea typeface="Arial"/>
                <a:cs typeface="Arial"/>
                <a:sym typeface="Arial"/>
              </a:rPr>
              <a:t>Indeks</a:t>
            </a:r>
            <a:r>
              <a:rPr lang="en-US" sz="3600" b="1" dirty="0">
                <a:latin typeface="Arial"/>
                <a:ea typeface="Arial"/>
                <a:cs typeface="Arial"/>
                <a:sym typeface="Arial"/>
              </a:rPr>
              <a:t> Harga Saham LQ45 </a:t>
            </a:r>
            <a:r>
              <a:rPr lang="en-US" sz="3600" b="1" dirty="0" err="1"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3600" b="1" dirty="0">
                <a:latin typeface="Arial"/>
                <a:ea typeface="Arial"/>
                <a:cs typeface="Arial"/>
                <a:sym typeface="Arial"/>
              </a:rPr>
              <a:t> Model Gated Recurrent Unit – Ordinary Differential Equation</a:t>
            </a:r>
            <a:endParaRPr dirty="0"/>
          </a:p>
        </p:txBody>
      </p:sp>
      <p:sp>
        <p:nvSpPr>
          <p:cNvPr id="17" name="Google Shape;88;p14">
            <a:extLst>
              <a:ext uri="{FF2B5EF4-FFF2-40B4-BE49-F238E27FC236}">
                <a16:creationId xmlns:a16="http://schemas.microsoft.com/office/drawing/2014/main" id="{721FD196-A4AF-5202-B4BE-D82AC9EB9EB4}"/>
              </a:ext>
            </a:extLst>
          </p:cNvPr>
          <p:cNvSpPr txBox="1"/>
          <p:nvPr/>
        </p:nvSpPr>
        <p:spPr>
          <a:xfrm>
            <a:off x="3344235" y="2550707"/>
            <a:ext cx="5461000" cy="88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Fattan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Raditya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Anggoro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2206812533</a:t>
            </a:r>
            <a:endParaRPr dirty="0"/>
          </a:p>
        </p:txBody>
      </p:sp>
      <p:sp>
        <p:nvSpPr>
          <p:cNvPr id="18" name="Google Shape;89;p14">
            <a:extLst>
              <a:ext uri="{FF2B5EF4-FFF2-40B4-BE49-F238E27FC236}">
                <a16:creationId xmlns:a16="http://schemas.microsoft.com/office/drawing/2014/main" id="{81D62F4E-4439-BBB5-3FA2-F4339896BC14}"/>
              </a:ext>
            </a:extLst>
          </p:cNvPr>
          <p:cNvSpPr txBox="1"/>
          <p:nvPr/>
        </p:nvSpPr>
        <p:spPr>
          <a:xfrm>
            <a:off x="764363" y="4742121"/>
            <a:ext cx="5531662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Dosen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Pembimbing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1: Drs. Gatot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Fatwanto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Hertono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M.Sc., Ph.D.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400"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Dosen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Pembimbing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2: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Devvi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Sarwinda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S.Si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.,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M.Kom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19" name="Google Shape;96;p14">
            <a:extLst>
              <a:ext uri="{FF2B5EF4-FFF2-40B4-BE49-F238E27FC236}">
                <a16:creationId xmlns:a16="http://schemas.microsoft.com/office/drawing/2014/main" id="{39907D21-7323-AA5A-CD0D-4CD91C03FFAB}"/>
              </a:ext>
            </a:extLst>
          </p:cNvPr>
          <p:cNvSpPr txBox="1"/>
          <p:nvPr/>
        </p:nvSpPr>
        <p:spPr>
          <a:xfrm>
            <a:off x="7068140" y="4742121"/>
            <a:ext cx="5532438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Dosen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Penguji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1: Prof. Dr.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Suryadi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M.T.</a:t>
            </a:r>
            <a:endParaRPr lang="en-US" sz="1400"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Dosen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Penguji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2: Dr. Putri Zahra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Kamalia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S.Si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.,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M.Si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en-US" sz="1400"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C1CEF33-5D90-1831-923D-C773FA42E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98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9A152-FA01-7800-5BE7-C7517B191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47EA2-B362-86CA-5D6E-975C97B53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9A3BE-AABC-9136-2321-3B3B48D6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7C641-E193-4783-5B0B-F85B784A3434}"/>
              </a:ext>
            </a:extLst>
          </p:cNvPr>
          <p:cNvSpPr/>
          <p:nvPr/>
        </p:nvSpPr>
        <p:spPr>
          <a:xfrm>
            <a:off x="3531000" y="2197800"/>
            <a:ext cx="5130000" cy="878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/>
              <a:t>Pendahuluan</a:t>
            </a:r>
            <a:endParaRPr lang="en-US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C5F0CF-14BE-E162-D8D8-E2454171D403}"/>
              </a:ext>
            </a:extLst>
          </p:cNvPr>
          <p:cNvSpPr/>
          <p:nvPr/>
        </p:nvSpPr>
        <p:spPr>
          <a:xfrm>
            <a:off x="3531000" y="3342434"/>
            <a:ext cx="5130000" cy="878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182D47-BB57-153E-C563-1C72AF6466F2}"/>
              </a:ext>
            </a:extLst>
          </p:cNvPr>
          <p:cNvSpPr/>
          <p:nvPr/>
        </p:nvSpPr>
        <p:spPr>
          <a:xfrm>
            <a:off x="3531000" y="4487068"/>
            <a:ext cx="5130000" cy="878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/>
              <a:t>Implementasi</a:t>
            </a:r>
            <a:endParaRPr lang="en-US" sz="3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B49932-6918-A476-D2C9-BBD96FA25BA2}"/>
              </a:ext>
            </a:extLst>
          </p:cNvPr>
          <p:cNvSpPr/>
          <p:nvPr/>
        </p:nvSpPr>
        <p:spPr>
          <a:xfrm>
            <a:off x="3543000" y="5608964"/>
            <a:ext cx="5130000" cy="878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/>
              <a:t>Penutup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17582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87551-4547-2A92-CFD6-D17605AC3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5A312-A45D-095F-0F24-2E3E3EE47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9FBBB-540B-3967-6BA4-D9094AC4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6007F9-0B11-10AA-092B-72F4FE5E9924}"/>
              </a:ext>
            </a:extLst>
          </p:cNvPr>
          <p:cNvSpPr/>
          <p:nvPr/>
        </p:nvSpPr>
        <p:spPr>
          <a:xfrm>
            <a:off x="3223200" y="3097689"/>
            <a:ext cx="5745600" cy="15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/>
              <a:t>Pendahuluan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87641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43EC1C72-E806-A846-EBB4-0442F0AB0C2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759" t="11595" r="10152"/>
          <a:stretch>
            <a:fillRect/>
          </a:stretch>
        </p:blipFill>
        <p:spPr>
          <a:xfrm>
            <a:off x="6955200" y="5446041"/>
            <a:ext cx="4801176" cy="1066354"/>
          </a:xfrm>
          <a:prstGeom prst="rect">
            <a:avLst/>
          </a:prstGeom>
        </p:spPr>
      </p:pic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59FEC7C-3991-343C-9776-8F6E6B919B6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59879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05" imgH="405" progId="TCLayout.ActiveDocument.1">
                  <p:embed/>
                </p:oleObj>
              </mc:Choice>
              <mc:Fallback>
                <p:oleObj name="think-cell Slide" r:id="rId13" imgW="405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6810107B-F8B2-CD15-3593-03C34669EA85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623B2-B103-F095-1014-FDBC9F41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4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3FBAB7-2DBD-08AE-8315-2B3E8BB5E5B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DE6ECED8-1F98-E190-EF0D-D52142E657B0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608FCA96-FA82-A8F5-3D3E-4A613841F094}"/>
              </a:ext>
            </a:extLst>
          </p:cNvPr>
          <p:cNvSpPr/>
          <p:nvPr/>
        </p:nvSpPr>
        <p:spPr>
          <a:xfrm>
            <a:off x="3907200" y="100998"/>
            <a:ext cx="4377600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Pendahuluan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 err="1">
                <a:latin typeface="+mj-lt"/>
                <a:ea typeface="Calibri"/>
                <a:cs typeface="Calibri"/>
                <a:sym typeface="Calibri"/>
              </a:rPr>
              <a:t>Konsep</a:t>
            </a:r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 Dasar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4BE5392-E72A-839D-A151-2C57A77B840C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0AF9F6-E2D2-B270-709B-5BC1E101C725}"/>
              </a:ext>
            </a:extLst>
          </p:cNvPr>
          <p:cNvSpPr/>
          <p:nvPr/>
        </p:nvSpPr>
        <p:spPr>
          <a:xfrm>
            <a:off x="1718400" y="1521060"/>
            <a:ext cx="4651200" cy="368301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Pengertian</a:t>
            </a:r>
            <a:r>
              <a:rPr lang="en-US" sz="2000" dirty="0"/>
              <a:t> Saham</a:t>
            </a:r>
            <a:endParaRPr lang="id-ID" sz="2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970D56-F74C-9553-4012-2A772C812AA4}"/>
              </a:ext>
            </a:extLst>
          </p:cNvPr>
          <p:cNvSpPr txBox="1"/>
          <p:nvPr/>
        </p:nvSpPr>
        <p:spPr>
          <a:xfrm>
            <a:off x="2390126" y="1971497"/>
            <a:ext cx="39794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>
                <a:cs typeface="Arial" panose="020B0604020202020204" pitchFamily="34" charset="0"/>
              </a:rPr>
              <a:t>Saham </a:t>
            </a:r>
            <a:r>
              <a:rPr lang="en-ID" sz="1400" dirty="0" err="1">
                <a:cs typeface="Arial" panose="020B0604020202020204" pitchFamily="34" charset="0"/>
              </a:rPr>
              <a:t>adalah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tanda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b="1" dirty="0" err="1">
                <a:cs typeface="Arial" panose="020B0604020202020204" pitchFamily="34" charset="0"/>
              </a:rPr>
              <a:t>penyertaan</a:t>
            </a:r>
            <a:r>
              <a:rPr lang="en-ID" sz="1400" b="1" dirty="0">
                <a:cs typeface="Arial" panose="020B0604020202020204" pitchFamily="34" charset="0"/>
              </a:rPr>
              <a:t> modal </a:t>
            </a:r>
            <a:r>
              <a:rPr lang="en-ID" sz="1400" dirty="0" err="1">
                <a:cs typeface="Arial" panose="020B0604020202020204" pitchFamily="34" charset="0"/>
              </a:rPr>
              <a:t>dalam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suatu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perusahaan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terbatas</a:t>
            </a:r>
            <a:r>
              <a:rPr lang="en-ID" sz="1400" dirty="0">
                <a:cs typeface="Arial" panose="020B0604020202020204" pitchFamily="34" charset="0"/>
              </a:rPr>
              <a:t> yang </a:t>
            </a:r>
            <a:r>
              <a:rPr lang="en-ID" sz="1400" dirty="0" err="1">
                <a:cs typeface="Arial" panose="020B0604020202020204" pitchFamily="34" charset="0"/>
              </a:rPr>
              <a:t>merupakan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satuan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nilai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pembukuan</a:t>
            </a:r>
            <a:r>
              <a:rPr lang="en-ID" sz="1400" dirty="0">
                <a:cs typeface="Arial" panose="020B0604020202020204" pitchFamily="34" charset="0"/>
              </a:rPr>
              <a:t> yang </a:t>
            </a:r>
            <a:r>
              <a:rPr lang="en-ID" sz="1400" dirty="0" err="1">
                <a:cs typeface="Arial" panose="020B0604020202020204" pitchFamily="34" charset="0"/>
              </a:rPr>
              <a:t>menunjukkan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b="1" dirty="0" err="1">
                <a:cs typeface="Arial" panose="020B0604020202020204" pitchFamily="34" charset="0"/>
              </a:rPr>
              <a:t>bagian</a:t>
            </a:r>
            <a:r>
              <a:rPr lang="en-ID" sz="1400" b="1" dirty="0">
                <a:cs typeface="Arial" panose="020B0604020202020204" pitchFamily="34" charset="0"/>
              </a:rPr>
              <a:t> </a:t>
            </a:r>
            <a:r>
              <a:rPr lang="en-ID" sz="1400" b="1" dirty="0" err="1">
                <a:cs typeface="Arial" panose="020B0604020202020204" pitchFamily="34" charset="0"/>
              </a:rPr>
              <a:t>kepemilikan</a:t>
            </a:r>
            <a:r>
              <a:rPr lang="en-ID" sz="1400" b="1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atas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sebuah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perusahaan</a:t>
            </a:r>
            <a:endParaRPr lang="en-ID" sz="1400" dirty="0"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4F6E7C-5ECE-E189-D8C2-E908E794B2F9}"/>
              </a:ext>
            </a:extLst>
          </p:cNvPr>
          <p:cNvSpPr txBox="1"/>
          <p:nvPr/>
        </p:nvSpPr>
        <p:spPr>
          <a:xfrm>
            <a:off x="2390126" y="3039715"/>
            <a:ext cx="39794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/>
              <a:t>Seorang</a:t>
            </a:r>
            <a:r>
              <a:rPr lang="en-ID" sz="1400" dirty="0"/>
              <a:t> investor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melakukan</a:t>
            </a:r>
            <a:r>
              <a:rPr lang="en-ID" sz="1400" dirty="0"/>
              <a:t> </a:t>
            </a:r>
            <a:r>
              <a:rPr lang="en-ID" sz="1400" b="1" dirty="0" err="1"/>
              <a:t>jual</a:t>
            </a:r>
            <a:r>
              <a:rPr lang="en-ID" sz="1400" b="1" dirty="0"/>
              <a:t> </a:t>
            </a:r>
            <a:r>
              <a:rPr lang="en-ID" sz="1400" b="1" dirty="0" err="1"/>
              <a:t>beli</a:t>
            </a:r>
            <a:r>
              <a:rPr lang="en-ID" sz="1400" b="1" dirty="0"/>
              <a:t> </a:t>
            </a:r>
            <a:r>
              <a:rPr lang="en-ID" sz="1400" b="1" dirty="0" err="1"/>
              <a:t>saham</a:t>
            </a:r>
            <a:r>
              <a:rPr lang="en-ID" sz="1400" b="1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medium </a:t>
            </a:r>
            <a:r>
              <a:rPr lang="en-ID" sz="1400" dirty="0" err="1"/>
              <a:t>bernama</a:t>
            </a:r>
            <a:r>
              <a:rPr lang="en-ID" sz="1400" dirty="0"/>
              <a:t> </a:t>
            </a:r>
            <a:r>
              <a:rPr lang="en-ID" sz="1400" b="1" dirty="0"/>
              <a:t>pasar modal</a:t>
            </a:r>
            <a:endParaRPr lang="en-ID" sz="1400" b="1" dirty="0">
              <a:cs typeface="Arial" panose="020B0604020202020204" pitchFamily="34" charset="0"/>
            </a:endParaRPr>
          </a:p>
        </p:txBody>
      </p:sp>
      <p:pic>
        <p:nvPicPr>
          <p:cNvPr id="68" name="Picture 67" descr="Stock Information - Sreeya Indonesia">
            <a:extLst>
              <a:ext uri="{FF2B5EF4-FFF2-40B4-BE49-F238E27FC236}">
                <a16:creationId xmlns:a16="http://schemas.microsoft.com/office/drawing/2014/main" id="{5F87F6BF-95CC-31A4-0602-8EE3CE79B37F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70000"/>
          </a:blip>
          <a:stretch>
            <a:fillRect/>
          </a:stretch>
        </p:blipFill>
        <p:spPr>
          <a:xfrm>
            <a:off x="1620834" y="2045615"/>
            <a:ext cx="730059" cy="796852"/>
          </a:xfrm>
          <a:prstGeom prst="rect">
            <a:avLst/>
          </a:prstGeom>
        </p:spPr>
      </p:pic>
      <p:pic>
        <p:nvPicPr>
          <p:cNvPr id="69" name="Picture 68" descr="Otoritas Jasa Keuangan">
            <a:extLst>
              <a:ext uri="{FF2B5EF4-FFF2-40B4-BE49-F238E27FC236}">
                <a16:creationId xmlns:a16="http://schemas.microsoft.com/office/drawing/2014/main" id="{42212B7D-CBC3-D607-E85B-B0C94DB6C711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8577" t="9330" r="13269" b="15828"/>
          <a:stretch>
            <a:fillRect/>
          </a:stretch>
        </p:blipFill>
        <p:spPr>
          <a:xfrm>
            <a:off x="1685170" y="3013574"/>
            <a:ext cx="601385" cy="575896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03E733C9-39E9-5B53-80A4-6FB3957F22EE}"/>
              </a:ext>
            </a:extLst>
          </p:cNvPr>
          <p:cNvSpPr/>
          <p:nvPr/>
        </p:nvSpPr>
        <p:spPr>
          <a:xfrm>
            <a:off x="6846268" y="1521060"/>
            <a:ext cx="5141829" cy="368301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Indeks</a:t>
            </a:r>
            <a:r>
              <a:rPr lang="en-US" sz="2000" dirty="0"/>
              <a:t> Saham</a:t>
            </a:r>
            <a:endParaRPr lang="id-ID" sz="2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4EF5571-1B7B-258C-2365-6AD91D94D773}"/>
              </a:ext>
            </a:extLst>
          </p:cNvPr>
          <p:cNvSpPr txBox="1"/>
          <p:nvPr/>
        </p:nvSpPr>
        <p:spPr>
          <a:xfrm>
            <a:off x="6901347" y="2943912"/>
            <a:ext cx="14306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400" b="1" dirty="0">
                <a:cs typeface="Arial" panose="020B0604020202020204" pitchFamily="34" charset="0"/>
              </a:rPr>
              <a:t>LQ45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D03F150-5411-70C2-4316-40D267416E95}"/>
              </a:ext>
            </a:extLst>
          </p:cNvPr>
          <p:cNvSpPr txBox="1"/>
          <p:nvPr/>
        </p:nvSpPr>
        <p:spPr>
          <a:xfrm>
            <a:off x="8332025" y="2108328"/>
            <a:ext cx="364424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/>
              <a:t>Tingginya</a:t>
            </a:r>
            <a:r>
              <a:rPr lang="en-ID" sz="1400" dirty="0"/>
              <a:t> </a:t>
            </a:r>
            <a:r>
              <a:rPr lang="en-ID" sz="1400" dirty="0" err="1"/>
              <a:t>likuiditas</a:t>
            </a:r>
            <a:r>
              <a:rPr lang="en-ID" sz="1400" dirty="0"/>
              <a:t> LQ45 </a:t>
            </a:r>
            <a:r>
              <a:rPr lang="en-ID" sz="1400" dirty="0" err="1"/>
              <a:t>menjadikannya</a:t>
            </a:r>
            <a:r>
              <a:rPr lang="en-ID" sz="1400" dirty="0"/>
              <a:t> </a:t>
            </a:r>
            <a:r>
              <a:rPr lang="en-ID" sz="1400" b="1" dirty="0"/>
              <a:t>sangat </a:t>
            </a:r>
            <a:r>
              <a:rPr lang="en-ID" sz="1400" b="1" dirty="0" err="1"/>
              <a:t>sensitif</a:t>
            </a:r>
            <a:r>
              <a:rPr lang="en-ID" sz="1400" b="1" dirty="0"/>
              <a:t> </a:t>
            </a:r>
            <a:r>
              <a:rPr lang="en-ID" sz="1400" dirty="0" err="1"/>
              <a:t>terhadap</a:t>
            </a:r>
            <a:r>
              <a:rPr lang="en-ID" sz="1400" dirty="0"/>
              <a:t> </a:t>
            </a:r>
            <a:r>
              <a:rPr lang="en-ID" sz="1400" dirty="0" err="1"/>
              <a:t>perubahan</a:t>
            </a:r>
            <a:r>
              <a:rPr lang="en-ID" sz="1400" dirty="0"/>
              <a:t> </a:t>
            </a:r>
            <a:r>
              <a:rPr lang="en-ID" sz="1400" dirty="0" err="1"/>
              <a:t>informasi</a:t>
            </a:r>
            <a:r>
              <a:rPr lang="en-ID" sz="1400" dirty="0"/>
              <a:t> pasar, </a:t>
            </a:r>
            <a:r>
              <a:rPr lang="en-ID" sz="1400" dirty="0" err="1"/>
              <a:t>sehingga</a:t>
            </a:r>
            <a:r>
              <a:rPr lang="en-ID" sz="1400" dirty="0"/>
              <a:t> </a:t>
            </a:r>
            <a:r>
              <a:rPr lang="en-ID" sz="1400" b="1" dirty="0" err="1"/>
              <a:t>pergerakannya</a:t>
            </a:r>
            <a:r>
              <a:rPr lang="en-ID" sz="1400" b="1" dirty="0"/>
              <a:t> </a:t>
            </a:r>
            <a:r>
              <a:rPr lang="en-ID" sz="1400" b="1" dirty="0" err="1"/>
              <a:t>menjadi</a:t>
            </a:r>
            <a:r>
              <a:rPr lang="en-ID" sz="1400" b="1" dirty="0"/>
              <a:t> </a:t>
            </a:r>
            <a:r>
              <a:rPr lang="en-ID" sz="1400" b="1" dirty="0" err="1"/>
              <a:t>representasi</a:t>
            </a:r>
            <a:r>
              <a:rPr lang="en-ID" sz="1400" b="1" dirty="0"/>
              <a:t> </a:t>
            </a:r>
            <a:r>
              <a:rPr lang="en-ID" sz="1400" b="1" dirty="0" err="1"/>
              <a:t>utama</a:t>
            </a:r>
            <a:r>
              <a:rPr lang="en-ID" sz="1400" b="1" dirty="0"/>
              <a:t> </a:t>
            </a:r>
            <a:r>
              <a:rPr lang="en-ID" sz="1400" dirty="0" err="1"/>
              <a:t>aktivitas</a:t>
            </a:r>
            <a:r>
              <a:rPr lang="en-ID" sz="1400" dirty="0"/>
              <a:t> </a:t>
            </a:r>
            <a:r>
              <a:rPr lang="en-ID" sz="1400" dirty="0" err="1"/>
              <a:t>perdagangan</a:t>
            </a:r>
            <a:r>
              <a:rPr lang="en-ID" sz="1400" dirty="0"/>
              <a:t> di bursa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99DDACF-9F4D-171C-37CE-1C687C6F8FCF}"/>
              </a:ext>
            </a:extLst>
          </p:cNvPr>
          <p:cNvSpPr txBox="1"/>
          <p:nvPr/>
        </p:nvSpPr>
        <p:spPr>
          <a:xfrm>
            <a:off x="6858098" y="3384580"/>
            <a:ext cx="5129999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cs typeface="Arial" panose="020B0604020202020204" pitchFamily="34" charset="0"/>
              </a:rPr>
              <a:t>Data yang </a:t>
            </a:r>
            <a:r>
              <a:rPr lang="en-ID" sz="1400" dirty="0" err="1">
                <a:cs typeface="Arial" panose="020B0604020202020204" pitchFamily="34" charset="0"/>
              </a:rPr>
              <a:t>akan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digunakan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dalam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penelitian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ini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adalah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Indeks</a:t>
            </a:r>
            <a:r>
              <a:rPr lang="en-ID" sz="1400" dirty="0">
                <a:cs typeface="Arial" panose="020B0604020202020204" pitchFamily="34" charset="0"/>
              </a:rPr>
              <a:t> Saham Intraday LQ45.</a:t>
            </a:r>
          </a:p>
        </p:txBody>
      </p:sp>
      <p:sp>
        <p:nvSpPr>
          <p:cNvPr id="100" name="Rectangle 3">
            <a:extLst>
              <a:ext uri="{FF2B5EF4-FFF2-40B4-BE49-F238E27FC236}">
                <a16:creationId xmlns:a16="http://schemas.microsoft.com/office/drawing/2014/main" id="{A66141E1-3995-ED78-3B54-9A7CFFB0954B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02" name="Rectangle 3">
            <a:extLst>
              <a:ext uri="{FF2B5EF4-FFF2-40B4-BE49-F238E27FC236}">
                <a16:creationId xmlns:a16="http://schemas.microsoft.com/office/drawing/2014/main" id="{CBFE88F5-A2F3-DB8F-0E2E-794C91D6A6D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04" name="Rectangle 3">
            <a:extLst>
              <a:ext uri="{FF2B5EF4-FFF2-40B4-BE49-F238E27FC236}">
                <a16:creationId xmlns:a16="http://schemas.microsoft.com/office/drawing/2014/main" id="{AD1A4E03-A9DD-1078-543E-7C5315F502F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06" name="Rectangle 3">
            <a:extLst>
              <a:ext uri="{FF2B5EF4-FFF2-40B4-BE49-F238E27FC236}">
                <a16:creationId xmlns:a16="http://schemas.microsoft.com/office/drawing/2014/main" id="{2D109E37-902A-45B6-13C9-B197C3317316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08" name="Rectangle 3">
            <a:extLst>
              <a:ext uri="{FF2B5EF4-FFF2-40B4-BE49-F238E27FC236}">
                <a16:creationId xmlns:a16="http://schemas.microsoft.com/office/drawing/2014/main" id="{B5912522-C231-81BC-B192-2DBBB84F09FC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110" name="Rectangle 3">
            <a:extLst>
              <a:ext uri="{FF2B5EF4-FFF2-40B4-BE49-F238E27FC236}">
                <a16:creationId xmlns:a16="http://schemas.microsoft.com/office/drawing/2014/main" id="{47501E7E-9115-EE97-7826-57D34FE21920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112" name="Rectangle 3">
            <a:extLst>
              <a:ext uri="{FF2B5EF4-FFF2-40B4-BE49-F238E27FC236}">
                <a16:creationId xmlns:a16="http://schemas.microsoft.com/office/drawing/2014/main" id="{9107D447-0214-684E-5503-0AE85F49F0B0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114" name="Rectangle 3">
            <a:extLst>
              <a:ext uri="{FF2B5EF4-FFF2-40B4-BE49-F238E27FC236}">
                <a16:creationId xmlns:a16="http://schemas.microsoft.com/office/drawing/2014/main" id="{8E4FBD5F-043A-9410-87D2-8B24B60BEA3F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A15668B-DA81-1C67-5E2F-1B5786C631EA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C3D9CA6-6D39-4002-88AC-F46624CA1E4C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075EB02-4C13-EC77-8A9B-B242A19BD5C5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0DD30E0-5AB0-9822-61A4-A32865273CDC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7230C80-56FB-D438-1C8A-1880517F827D}"/>
              </a:ext>
            </a:extLst>
          </p:cNvPr>
          <p:cNvSpPr/>
          <p:nvPr/>
        </p:nvSpPr>
        <p:spPr>
          <a:xfrm>
            <a:off x="111779" y="2950954"/>
            <a:ext cx="1528712" cy="286024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CE81A9-45F9-A523-5189-F9692A0D1635}"/>
              </a:ext>
            </a:extLst>
          </p:cNvPr>
          <p:cNvSpPr/>
          <p:nvPr/>
        </p:nvSpPr>
        <p:spPr>
          <a:xfrm>
            <a:off x="1628231" y="3950842"/>
            <a:ext cx="4735297" cy="368301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cs typeface="Arial" panose="020B0604020202020204" pitchFamily="34" charset="0"/>
              </a:rPr>
              <a:t>Machine Learning</a:t>
            </a:r>
            <a:endParaRPr lang="id-ID" sz="2000" i="1" dirty="0"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A77B86-7F10-7706-AFC1-DEC5E8D831F8}"/>
              </a:ext>
            </a:extLst>
          </p:cNvPr>
          <p:cNvSpPr txBox="1"/>
          <p:nvPr/>
        </p:nvSpPr>
        <p:spPr>
          <a:xfrm>
            <a:off x="2215132" y="4504378"/>
            <a:ext cx="3642403" cy="31673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ID" sz="1200" dirty="0">
                <a:cs typeface="Arial" panose="020B0604020202020204" pitchFamily="34" charset="0"/>
              </a:rPr>
              <a:t>Supervised Learning</a:t>
            </a:r>
            <a:endParaRPr lang="en-ID" sz="1200" i="1" dirty="0">
              <a:cs typeface="Arial" panose="020B0604020202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77EF6B1-AA57-34B7-83FE-4CE35AB5B984}"/>
              </a:ext>
            </a:extLst>
          </p:cNvPr>
          <p:cNvSpPr/>
          <p:nvPr/>
        </p:nvSpPr>
        <p:spPr>
          <a:xfrm>
            <a:off x="6846266" y="3947047"/>
            <a:ext cx="5108499" cy="368301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i="1" dirty="0">
                <a:cs typeface="Arial" panose="020B0604020202020204" pitchFamily="34" charset="0"/>
              </a:rPr>
              <a:t>Time-Series</a:t>
            </a:r>
            <a:endParaRPr lang="id-ID" sz="2000" i="1" dirty="0"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3BE72AD-C7A2-95DE-9595-7B92CDF1F44F}"/>
              </a:ext>
            </a:extLst>
          </p:cNvPr>
          <p:cNvSpPr txBox="1"/>
          <p:nvPr/>
        </p:nvSpPr>
        <p:spPr>
          <a:xfrm>
            <a:off x="6846266" y="4828313"/>
            <a:ext cx="5129999" cy="415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/>
            <a:r>
              <a:rPr lang="en-ID" sz="1400" dirty="0">
                <a:cs typeface="Arial" panose="020B0604020202020204" pitchFamily="34" charset="0"/>
              </a:rPr>
              <a:t>Data Splitting: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4E7406A-51E6-EBC5-B3B3-C0BEDC1F4AF8}"/>
              </a:ext>
            </a:extLst>
          </p:cNvPr>
          <p:cNvSpPr txBox="1"/>
          <p:nvPr/>
        </p:nvSpPr>
        <p:spPr>
          <a:xfrm>
            <a:off x="6906922" y="5114718"/>
            <a:ext cx="1506576" cy="30777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i="1" dirty="0">
                <a:cs typeface="Arial" panose="020B0604020202020204" pitchFamily="34" charset="0"/>
              </a:rPr>
              <a:t>Training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9225ADA-D364-3E04-5A5B-BA8D2C7DBDFE}"/>
              </a:ext>
            </a:extLst>
          </p:cNvPr>
          <p:cNvSpPr txBox="1"/>
          <p:nvPr/>
        </p:nvSpPr>
        <p:spPr>
          <a:xfrm>
            <a:off x="8468920" y="5106164"/>
            <a:ext cx="1506454" cy="30777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ID" sz="1400" i="1" dirty="0">
                <a:cs typeface="Arial" panose="020B0604020202020204" pitchFamily="34" charset="0"/>
              </a:rPr>
              <a:t>Validation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D42EC36-A42D-10B5-B345-5A78ABF17A86}"/>
              </a:ext>
            </a:extLst>
          </p:cNvPr>
          <p:cNvSpPr txBox="1"/>
          <p:nvPr/>
        </p:nvSpPr>
        <p:spPr>
          <a:xfrm>
            <a:off x="10030807" y="5109465"/>
            <a:ext cx="1506454" cy="30777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ID" sz="1400" i="1" dirty="0">
                <a:cs typeface="Arial" panose="020B0604020202020204" pitchFamily="34" charset="0"/>
              </a:rPr>
              <a:t>Test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DD6FDB8-AA20-605B-40A4-BD59B5BD3875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3995582" y="4319143"/>
            <a:ext cx="298" cy="187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157C3D-F576-101C-61A7-1FCB2F8AD808}"/>
              </a:ext>
            </a:extLst>
          </p:cNvPr>
          <p:cNvSpPr txBox="1"/>
          <p:nvPr/>
        </p:nvSpPr>
        <p:spPr>
          <a:xfrm>
            <a:off x="2211276" y="5010755"/>
            <a:ext cx="3642403" cy="31673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ID" sz="1200" dirty="0">
                <a:cs typeface="Arial" panose="020B0604020202020204" pitchFamily="34" charset="0"/>
              </a:rPr>
              <a:t>Regression</a:t>
            </a:r>
            <a:endParaRPr lang="en-ID" sz="1200" i="1" dirty="0">
              <a:cs typeface="Arial" panose="020B06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2FF90C-A5D5-ED7E-F55F-F5EA67502CCA}"/>
              </a:ext>
            </a:extLst>
          </p:cNvPr>
          <p:cNvCxnSpPr>
            <a:cxnSpLocks/>
          </p:cNvCxnSpPr>
          <p:nvPr/>
        </p:nvCxnSpPr>
        <p:spPr>
          <a:xfrm flipH="1">
            <a:off x="4006527" y="4822891"/>
            <a:ext cx="298" cy="187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CB9C8CC-A0C6-B1A3-EF5C-7A7ACE236FC9}"/>
              </a:ext>
            </a:extLst>
          </p:cNvPr>
          <p:cNvSpPr txBox="1"/>
          <p:nvPr/>
        </p:nvSpPr>
        <p:spPr>
          <a:xfrm>
            <a:off x="1221166" y="323106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CD67F07-BA56-CA0B-A15B-2C6160F0B9E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564" y="1983913"/>
            <a:ext cx="1032369" cy="10058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BF84F23-C5A0-69AF-99E0-E2CE00A1A3B9}"/>
              </a:ext>
            </a:extLst>
          </p:cNvPr>
          <p:cNvSpPr txBox="1"/>
          <p:nvPr/>
        </p:nvSpPr>
        <p:spPr>
          <a:xfrm>
            <a:off x="6858098" y="4360177"/>
            <a:ext cx="5129999" cy="415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/>
            <a:r>
              <a:rPr lang="en-ID" sz="1400" b="1" dirty="0">
                <a:cs typeface="Arial" panose="020B0604020202020204" pitchFamily="34" charset="0"/>
              </a:rPr>
              <a:t>Time-Series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adalah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sekumpulan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observasi</a:t>
            </a:r>
            <a:r>
              <a:rPr lang="en-ID" sz="1400" dirty="0">
                <a:cs typeface="Arial" panose="020B0604020202020204" pitchFamily="34" charset="0"/>
              </a:rPr>
              <a:t> yang </a:t>
            </a:r>
            <a:r>
              <a:rPr lang="en-ID" sz="1400" dirty="0" err="1">
                <a:cs typeface="Arial" panose="020B0604020202020204" pitchFamily="34" charset="0"/>
              </a:rPr>
              <a:t>dicatat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secara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b="1" dirty="0" err="1">
                <a:cs typeface="Arial" panose="020B0604020202020204" pitchFamily="34" charset="0"/>
              </a:rPr>
              <a:t>berurutan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dalam</a:t>
            </a:r>
            <a:r>
              <a:rPr lang="en-ID" sz="1400" dirty="0">
                <a:cs typeface="Arial" panose="020B0604020202020204" pitchFamily="34" charset="0"/>
              </a:rPr>
              <a:t> interval </a:t>
            </a:r>
            <a:r>
              <a:rPr lang="en-ID" sz="1400" dirty="0" err="1">
                <a:cs typeface="Arial" panose="020B0604020202020204" pitchFamily="34" charset="0"/>
              </a:rPr>
              <a:t>waktu</a:t>
            </a:r>
            <a:r>
              <a:rPr lang="en-ID" sz="1400" dirty="0"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632C1C-CF03-EDC8-8785-9B31D7FCAB8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8597" y="4884328"/>
            <a:ext cx="2875898" cy="23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5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31F5E-3C4D-6510-4BB8-7BA85A70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137A5AD-0B81-37C6-BAE2-0F911074CDF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05" imgH="405" progId="TCLayout.ActiveDocument.1">
                  <p:embed/>
                </p:oleObj>
              </mc:Choice>
              <mc:Fallback>
                <p:oleObj name="think-cell Slide" r:id="rId13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A8FC9C-7FCD-F689-A6D4-6A9A629A99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24A5E423-6478-A44D-03BA-17A4DE4C7D91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2DE97-293D-D8C6-F762-CEB28A9E4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5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845FF4-DD56-D118-17E4-54BD8AB4B8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F993DDEC-D135-BAE8-CB52-1A81A3D18788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5887AA18-D091-539B-66B8-E005BF6ACE64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Pendahuluan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>
                <a:latin typeface="+mj-lt"/>
                <a:ea typeface="Calibri"/>
                <a:cs typeface="Calibri"/>
                <a:sym typeface="Calibri"/>
              </a:rPr>
              <a:t>Konsep Dasar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139BF7-C179-E30E-F384-1DDA0C0AF658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0" name="Rectangle 3">
            <a:extLst>
              <a:ext uri="{FF2B5EF4-FFF2-40B4-BE49-F238E27FC236}">
                <a16:creationId xmlns:a16="http://schemas.microsoft.com/office/drawing/2014/main" id="{14E2E4D9-BC3D-298B-E018-EC3F0BD36BA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2" name="Rectangle 3">
            <a:extLst>
              <a:ext uri="{FF2B5EF4-FFF2-40B4-BE49-F238E27FC236}">
                <a16:creationId xmlns:a16="http://schemas.microsoft.com/office/drawing/2014/main" id="{4A094CB0-22CC-3C7B-1E7A-C1F1503A6E4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4" name="Rectangle 3">
            <a:extLst>
              <a:ext uri="{FF2B5EF4-FFF2-40B4-BE49-F238E27FC236}">
                <a16:creationId xmlns:a16="http://schemas.microsoft.com/office/drawing/2014/main" id="{7837D75F-E164-7568-331F-1F0DDC0B969E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6" name="Rectangle 3">
            <a:extLst>
              <a:ext uri="{FF2B5EF4-FFF2-40B4-BE49-F238E27FC236}">
                <a16:creationId xmlns:a16="http://schemas.microsoft.com/office/drawing/2014/main" id="{174648CF-C639-8CBD-6B14-A5538470AED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8" name="Rectangle 3">
            <a:extLst>
              <a:ext uri="{FF2B5EF4-FFF2-40B4-BE49-F238E27FC236}">
                <a16:creationId xmlns:a16="http://schemas.microsoft.com/office/drawing/2014/main" id="{C65F46A3-7F69-279A-1B2D-622DEE52A7E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140" name="Rectangle 3">
            <a:extLst>
              <a:ext uri="{FF2B5EF4-FFF2-40B4-BE49-F238E27FC236}">
                <a16:creationId xmlns:a16="http://schemas.microsoft.com/office/drawing/2014/main" id="{E77F0816-88DA-C545-84E0-F9C3797A572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142" name="Rectangle 3">
            <a:extLst>
              <a:ext uri="{FF2B5EF4-FFF2-40B4-BE49-F238E27FC236}">
                <a16:creationId xmlns:a16="http://schemas.microsoft.com/office/drawing/2014/main" id="{96167901-0698-C869-CFF1-8A56E0DDA4AA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144" name="Rectangle 3">
            <a:extLst>
              <a:ext uri="{FF2B5EF4-FFF2-40B4-BE49-F238E27FC236}">
                <a16:creationId xmlns:a16="http://schemas.microsoft.com/office/drawing/2014/main" id="{9B4F87FD-655E-C03F-1C16-575582A09503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9FC4DD0-4226-C165-7637-DFA6F414085D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E7788C0-E0A7-82F5-445F-DB828BC0F3E3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2C0DE08-D68A-EAA6-C830-D9B02DB2A0E5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50379D5-48A4-C97F-92C4-A7F91F4638FB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EC3A78B-4F75-2300-3CF2-52D6BB2C180C}"/>
              </a:ext>
            </a:extLst>
          </p:cNvPr>
          <p:cNvSpPr/>
          <p:nvPr/>
        </p:nvSpPr>
        <p:spPr>
          <a:xfrm>
            <a:off x="111779" y="2950954"/>
            <a:ext cx="1528712" cy="286024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7AA252-168A-96F1-7134-E15B4F3540D7}"/>
              </a:ext>
            </a:extLst>
          </p:cNvPr>
          <p:cNvSpPr txBox="1"/>
          <p:nvPr/>
        </p:nvSpPr>
        <p:spPr>
          <a:xfrm>
            <a:off x="6867111" y="1935291"/>
            <a:ext cx="470089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LQ45 </a:t>
            </a:r>
            <a:r>
              <a:rPr lang="en-US" sz="1400" dirty="0" err="1">
                <a:solidFill>
                  <a:srgbClr val="1F2937"/>
                </a:solidFill>
              </a:rPr>
              <a:t>merepresentasikan</a:t>
            </a:r>
            <a:r>
              <a:rPr lang="en-US" sz="1400" dirty="0">
                <a:solidFill>
                  <a:srgbClr val="1F2937"/>
                </a:solidFill>
              </a:rPr>
              <a:t> </a:t>
            </a:r>
            <a:r>
              <a:rPr lang="en-US" sz="1400" b="1" dirty="0">
                <a:solidFill>
                  <a:srgbClr val="1F2937"/>
                </a:solidFill>
              </a:rPr>
              <a:t>45 </a:t>
            </a:r>
            <a:r>
              <a:rPr lang="en-US" sz="1400" b="1" dirty="0" err="1">
                <a:solidFill>
                  <a:srgbClr val="1F2937"/>
                </a:solidFill>
              </a:rPr>
              <a:t>saham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dengan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likuiditas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tinggi</a:t>
            </a:r>
            <a:r>
              <a:rPr lang="en-US" sz="1400" b="1" dirty="0">
                <a:solidFill>
                  <a:srgbClr val="1F2937"/>
                </a:solidFill>
              </a:rPr>
              <a:t> dan </a:t>
            </a:r>
            <a:r>
              <a:rPr lang="en-US" sz="1400" b="1" dirty="0" err="1">
                <a:solidFill>
                  <a:srgbClr val="1F2937"/>
                </a:solidFill>
              </a:rPr>
              <a:t>kapitalisasi</a:t>
            </a:r>
            <a:r>
              <a:rPr lang="en-US" sz="1400" b="1" dirty="0">
                <a:solidFill>
                  <a:srgbClr val="1F2937"/>
                </a:solidFill>
              </a:rPr>
              <a:t> pasar </a:t>
            </a:r>
            <a:r>
              <a:rPr lang="en-US" sz="1400" b="1" dirty="0" err="1">
                <a:solidFill>
                  <a:srgbClr val="1F2937"/>
                </a:solidFill>
              </a:rPr>
              <a:t>besar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dirty="0">
                <a:solidFill>
                  <a:srgbClr val="1F2937"/>
                </a:solidFill>
              </a:rPr>
              <a:t>di Bursa </a:t>
            </a:r>
            <a:r>
              <a:rPr lang="en-US" sz="1400" dirty="0" err="1">
                <a:solidFill>
                  <a:srgbClr val="1F2937"/>
                </a:solidFill>
              </a:rPr>
              <a:t>Efek</a:t>
            </a:r>
            <a:r>
              <a:rPr lang="en-US" sz="1400" dirty="0">
                <a:solidFill>
                  <a:srgbClr val="1F2937"/>
                </a:solidFill>
              </a:rPr>
              <a:t> Indonesia.</a:t>
            </a: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F2937"/>
                </a:solidFill>
              </a:rPr>
              <a:t>Likuiditas</a:t>
            </a:r>
            <a:r>
              <a:rPr lang="en-US" sz="1400" dirty="0">
                <a:solidFill>
                  <a:srgbClr val="1F2937"/>
                </a:solidFill>
              </a:rPr>
              <a:t> </a:t>
            </a:r>
            <a:r>
              <a:rPr lang="en-US" sz="1400" dirty="0" err="1">
                <a:solidFill>
                  <a:srgbClr val="1F2937"/>
                </a:solidFill>
              </a:rPr>
              <a:t>tinggi</a:t>
            </a:r>
            <a:r>
              <a:rPr lang="en-US" sz="1400" dirty="0">
                <a:solidFill>
                  <a:srgbClr val="1F2937"/>
                </a:solidFill>
              </a:rPr>
              <a:t> </a:t>
            </a:r>
            <a:r>
              <a:rPr lang="en-US" sz="1400" dirty="0" err="1">
                <a:solidFill>
                  <a:srgbClr val="1F2937"/>
                </a:solidFill>
              </a:rPr>
              <a:t>membuat</a:t>
            </a:r>
            <a:r>
              <a:rPr lang="en-US" sz="1400" dirty="0">
                <a:solidFill>
                  <a:srgbClr val="1F2937"/>
                </a:solidFill>
              </a:rPr>
              <a:t> </a:t>
            </a:r>
            <a:r>
              <a:rPr lang="en-US" sz="1400" b="1" dirty="0">
                <a:solidFill>
                  <a:srgbClr val="1F2937"/>
                </a:solidFill>
              </a:rPr>
              <a:t>LQ45 </a:t>
            </a:r>
            <a:r>
              <a:rPr lang="en-US" sz="1400" b="1" dirty="0" err="1">
                <a:solidFill>
                  <a:srgbClr val="1F2937"/>
                </a:solidFill>
              </a:rPr>
              <a:t>sensitif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terhadap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informasi</a:t>
            </a:r>
            <a:r>
              <a:rPr lang="en-US" sz="1400" b="1" dirty="0">
                <a:solidFill>
                  <a:srgbClr val="1F2937"/>
                </a:solidFill>
              </a:rPr>
              <a:t> pasar</a:t>
            </a:r>
            <a:r>
              <a:rPr lang="en-US" sz="1400" dirty="0">
                <a:solidFill>
                  <a:srgbClr val="1F2937"/>
                </a:solidFill>
              </a:rPr>
              <a:t> dan </a:t>
            </a:r>
            <a:r>
              <a:rPr lang="en-US" sz="1400" b="1" dirty="0" err="1">
                <a:solidFill>
                  <a:srgbClr val="1F2937"/>
                </a:solidFill>
              </a:rPr>
              <a:t>relevan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sebagai</a:t>
            </a:r>
            <a:r>
              <a:rPr lang="en-US" sz="1400" b="1" dirty="0">
                <a:solidFill>
                  <a:srgbClr val="1F2937"/>
                </a:solidFill>
              </a:rPr>
              <a:t> benchmark </a:t>
            </a:r>
            <a:r>
              <a:rPr lang="en-US" sz="1400" b="1" dirty="0" err="1">
                <a:solidFill>
                  <a:srgbClr val="1F2937"/>
                </a:solidFill>
              </a:rPr>
              <a:t>aktivitas</a:t>
            </a:r>
            <a:r>
              <a:rPr lang="en-US" sz="1400" b="1" dirty="0">
                <a:solidFill>
                  <a:srgbClr val="1F2937"/>
                </a:solidFill>
              </a:rPr>
              <a:t> bursa.</a:t>
            </a:r>
            <a:endParaRPr lang="en-US" sz="1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Harga </a:t>
            </a:r>
            <a:r>
              <a:rPr lang="en-US" sz="1400" dirty="0" err="1">
                <a:solidFill>
                  <a:srgbClr val="1F2937"/>
                </a:solidFill>
              </a:rPr>
              <a:t>saham</a:t>
            </a:r>
            <a:r>
              <a:rPr lang="en-US" sz="1400" dirty="0">
                <a:solidFill>
                  <a:srgbClr val="1F2937"/>
                </a:solidFill>
              </a:rPr>
              <a:t> intraday </a:t>
            </a:r>
            <a:r>
              <a:rPr lang="en-US" sz="1400" dirty="0" err="1">
                <a:solidFill>
                  <a:srgbClr val="1F2937"/>
                </a:solidFill>
              </a:rPr>
              <a:t>bersifat</a:t>
            </a:r>
            <a:r>
              <a:rPr lang="en-US" sz="1400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dinamis</a:t>
            </a:r>
            <a:r>
              <a:rPr lang="en-US" sz="1400" b="1" dirty="0">
                <a:solidFill>
                  <a:srgbClr val="1F2937"/>
                </a:solidFill>
              </a:rPr>
              <a:t>, non-linear, dan interval </a:t>
            </a:r>
            <a:r>
              <a:rPr lang="en-US" sz="1400" b="1" dirty="0" err="1">
                <a:solidFill>
                  <a:srgbClr val="1F2937"/>
                </a:solidFill>
              </a:rPr>
              <a:t>waktunya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tidak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seragam</a:t>
            </a:r>
            <a:r>
              <a:rPr lang="en-US" sz="1400" dirty="0">
                <a:solidFill>
                  <a:srgbClr val="1F2937"/>
                </a:solidFill>
              </a:rPr>
              <a:t>, </a:t>
            </a:r>
            <a:r>
              <a:rPr lang="en-US" sz="1400" dirty="0" err="1">
                <a:solidFill>
                  <a:srgbClr val="1F2937"/>
                </a:solidFill>
              </a:rPr>
              <a:t>sehingga</a:t>
            </a:r>
            <a:r>
              <a:rPr lang="en-US" sz="1400" dirty="0">
                <a:solidFill>
                  <a:srgbClr val="1F2937"/>
                </a:solidFill>
              </a:rPr>
              <a:t> </a:t>
            </a:r>
            <a:r>
              <a:rPr lang="en-US" sz="1400" dirty="0" err="1">
                <a:solidFill>
                  <a:srgbClr val="1F2937"/>
                </a:solidFill>
              </a:rPr>
              <a:t>dibutuhkan</a:t>
            </a:r>
            <a:r>
              <a:rPr lang="en-US" sz="1400" dirty="0">
                <a:solidFill>
                  <a:srgbClr val="1F2937"/>
                </a:solidFill>
              </a:rPr>
              <a:t> model yang </a:t>
            </a:r>
            <a:r>
              <a:rPr lang="en-US" sz="1400" dirty="0" err="1">
                <a:solidFill>
                  <a:srgbClr val="1F2937"/>
                </a:solidFill>
              </a:rPr>
              <a:t>mampu</a:t>
            </a:r>
            <a:r>
              <a:rPr lang="en-US" sz="1400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mempelajari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pola</a:t>
            </a:r>
            <a:r>
              <a:rPr lang="en-US" sz="1400" b="1" dirty="0">
                <a:solidFill>
                  <a:srgbClr val="1F2937"/>
                </a:solidFill>
              </a:rPr>
              <a:t> temporal dan </a:t>
            </a:r>
            <a:r>
              <a:rPr lang="en-US" sz="1400" b="1" dirty="0" err="1">
                <a:solidFill>
                  <a:srgbClr val="1F2937"/>
                </a:solidFill>
              </a:rPr>
              <a:t>irregularitas</a:t>
            </a:r>
            <a:r>
              <a:rPr lang="en-US" sz="1400" b="1" dirty="0">
                <a:solidFill>
                  <a:srgbClr val="1F2937"/>
                </a:solidFill>
              </a:rPr>
              <a:t>.</a:t>
            </a:r>
            <a:endParaRPr lang="en-US" sz="1400" b="1" dirty="0"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92CF7B0A-86D9-B459-9266-F27A471A481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32615" y="1432955"/>
            <a:ext cx="4983480" cy="266100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FD05AA0-DC6F-8E52-5543-C7C977018682}"/>
              </a:ext>
            </a:extLst>
          </p:cNvPr>
          <p:cNvSpPr/>
          <p:nvPr/>
        </p:nvSpPr>
        <p:spPr>
          <a:xfrm>
            <a:off x="6846268" y="1521060"/>
            <a:ext cx="5141829" cy="368301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bg1"/>
                </a:solidFill>
              </a:rPr>
              <a:t>Kenapa</a:t>
            </a:r>
            <a:r>
              <a:rPr lang="en-US" sz="2000" dirty="0">
                <a:solidFill>
                  <a:schemeClr val="bg1"/>
                </a:solidFill>
              </a:rPr>
              <a:t> LQ45?</a:t>
            </a:r>
            <a:endParaRPr lang="en-ID" sz="20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4DFF2C-B290-2007-B279-E19F6B7F1738}"/>
              </a:ext>
            </a:extLst>
          </p:cNvPr>
          <p:cNvSpPr txBox="1"/>
          <p:nvPr/>
        </p:nvSpPr>
        <p:spPr>
          <a:xfrm>
            <a:off x="1721878" y="4196919"/>
            <a:ext cx="10279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183B5B"/>
                </a:solidFill>
              </a:rPr>
              <a:t>Masalah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utama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penelitian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adalah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melakukan</a:t>
            </a:r>
            <a:r>
              <a:rPr lang="en-US" sz="1400" dirty="0">
                <a:solidFill>
                  <a:srgbClr val="183B5B"/>
                </a:solidFill>
              </a:rPr>
              <a:t> forecasting </a:t>
            </a:r>
            <a:r>
              <a:rPr lang="en-US" sz="1400" dirty="0" err="1">
                <a:solidFill>
                  <a:srgbClr val="183B5B"/>
                </a:solidFill>
              </a:rPr>
              <a:t>ketika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jarak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waktu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antar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observasi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tidak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sama</a:t>
            </a:r>
            <a:r>
              <a:rPr lang="en-US" sz="1400" dirty="0">
                <a:solidFill>
                  <a:srgbClr val="183B5B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24D49487-F83F-6A39-0856-4D67F249841D}"/>
              </a:ext>
            </a:extLst>
          </p:cNvPr>
          <p:cNvSpPr/>
          <p:nvPr/>
        </p:nvSpPr>
        <p:spPr>
          <a:xfrm>
            <a:off x="1537799" y="4630237"/>
            <a:ext cx="1380226" cy="202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26A6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menit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424C84B6-6DB3-3E14-C849-C0EF95DA046B}"/>
              </a:ext>
            </a:extLst>
          </p:cNvPr>
          <p:cNvSpPr/>
          <p:nvPr/>
        </p:nvSpPr>
        <p:spPr>
          <a:xfrm>
            <a:off x="1354919" y="4865400"/>
            <a:ext cx="1748286" cy="15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interval normal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B9CC0ED6-1E49-A003-27AE-91724DF7D4B1}"/>
              </a:ext>
            </a:extLst>
          </p:cNvPr>
          <p:cNvSpPr/>
          <p:nvPr/>
        </p:nvSpPr>
        <p:spPr>
          <a:xfrm>
            <a:off x="2863679" y="4813117"/>
            <a:ext cx="7821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D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9DBA65FD-08BC-1E5D-6FB1-0F7DB0F3A087}"/>
              </a:ext>
            </a:extLst>
          </p:cNvPr>
          <p:cNvSpPr/>
          <p:nvPr/>
        </p:nvSpPr>
        <p:spPr>
          <a:xfrm>
            <a:off x="3686639" y="4630237"/>
            <a:ext cx="1380226" cy="202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D953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 menit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158C1A95-B372-55B6-DFE5-54815ACA79F5}"/>
              </a:ext>
            </a:extLst>
          </p:cNvPr>
          <p:cNvSpPr/>
          <p:nvPr/>
        </p:nvSpPr>
        <p:spPr>
          <a:xfrm>
            <a:off x="3503759" y="4865400"/>
            <a:ext cx="1748286" cy="15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istirahat siang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0F9B0809-8B28-E5FE-4013-0A26E555AC68}"/>
              </a:ext>
            </a:extLst>
          </p:cNvPr>
          <p:cNvSpPr/>
          <p:nvPr/>
        </p:nvSpPr>
        <p:spPr>
          <a:xfrm>
            <a:off x="5012519" y="4813117"/>
            <a:ext cx="7821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D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39120D37-8346-6091-8085-B916672C2B2F}"/>
              </a:ext>
            </a:extLst>
          </p:cNvPr>
          <p:cNvSpPr/>
          <p:nvPr/>
        </p:nvSpPr>
        <p:spPr>
          <a:xfrm>
            <a:off x="5835479" y="4630237"/>
            <a:ext cx="1380226" cy="202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D953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1.020 menit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D8DCB11F-AF4C-B64C-3C95-95FA6A573168}"/>
              </a:ext>
            </a:extLst>
          </p:cNvPr>
          <p:cNvSpPr/>
          <p:nvPr/>
        </p:nvSpPr>
        <p:spPr>
          <a:xfrm>
            <a:off x="5652599" y="4865400"/>
            <a:ext cx="1748286" cy="15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overnight close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02E96031-AB63-7821-982E-F86F14844658}"/>
              </a:ext>
            </a:extLst>
          </p:cNvPr>
          <p:cNvSpPr/>
          <p:nvPr/>
        </p:nvSpPr>
        <p:spPr>
          <a:xfrm>
            <a:off x="7161359" y="4813117"/>
            <a:ext cx="7821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D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F8DFE066-7C48-6DCA-0A9C-E51C45CF7048}"/>
              </a:ext>
            </a:extLst>
          </p:cNvPr>
          <p:cNvSpPr/>
          <p:nvPr/>
        </p:nvSpPr>
        <p:spPr>
          <a:xfrm>
            <a:off x="7984319" y="4630237"/>
            <a:ext cx="1380226" cy="202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D953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3.900 menit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727F4DD9-3190-944A-A604-3ABE0C0CF862}"/>
              </a:ext>
            </a:extLst>
          </p:cNvPr>
          <p:cNvSpPr/>
          <p:nvPr/>
        </p:nvSpPr>
        <p:spPr>
          <a:xfrm>
            <a:off x="7801439" y="4865400"/>
            <a:ext cx="1748286" cy="15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akhir pekan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2BAEA5B8-9666-859A-5E2A-BAA31D108445}"/>
              </a:ext>
            </a:extLst>
          </p:cNvPr>
          <p:cNvSpPr/>
          <p:nvPr/>
        </p:nvSpPr>
        <p:spPr>
          <a:xfrm>
            <a:off x="9310199" y="4813117"/>
            <a:ext cx="7821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D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2D10BBF5-094B-FAB9-17AB-96D05D9FA740}"/>
              </a:ext>
            </a:extLst>
          </p:cNvPr>
          <p:cNvSpPr/>
          <p:nvPr/>
        </p:nvSpPr>
        <p:spPr>
          <a:xfrm>
            <a:off x="10133159" y="4630237"/>
            <a:ext cx="1380226" cy="202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D953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11.520 menit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3286A8D0-53C7-2423-E117-95B2416299BD}"/>
              </a:ext>
            </a:extLst>
          </p:cNvPr>
          <p:cNvSpPr/>
          <p:nvPr/>
        </p:nvSpPr>
        <p:spPr>
          <a:xfrm>
            <a:off x="9950279" y="4865400"/>
            <a:ext cx="1748286" cy="15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panjang / libur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74C9A9-7F62-B246-1807-2AEED3DFBE5F}"/>
              </a:ext>
            </a:extLst>
          </p:cNvPr>
          <p:cNvCxnSpPr>
            <a:cxnSpLocks/>
          </p:cNvCxnSpPr>
          <p:nvPr/>
        </p:nvCxnSpPr>
        <p:spPr>
          <a:xfrm flipH="1" flipV="1">
            <a:off x="1760477" y="5132096"/>
            <a:ext cx="10140361" cy="153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805784F-3F17-51A7-CC38-A511C417EAB5}"/>
              </a:ext>
            </a:extLst>
          </p:cNvPr>
          <p:cNvSpPr/>
          <p:nvPr/>
        </p:nvSpPr>
        <p:spPr>
          <a:xfrm rot="5400000">
            <a:off x="7142091" y="4937685"/>
            <a:ext cx="339867" cy="368301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1B039AA9-9610-5649-8E0F-AA419E069D6E}"/>
              </a:ext>
            </a:extLst>
          </p:cNvPr>
          <p:cNvSpPr/>
          <p:nvPr/>
        </p:nvSpPr>
        <p:spPr>
          <a:xfrm rot="5400000">
            <a:off x="7227061" y="5027058"/>
            <a:ext cx="169925" cy="21124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76873C-2181-9E6A-B5FF-E96C569D4741}"/>
              </a:ext>
            </a:extLst>
          </p:cNvPr>
          <p:cNvSpPr txBox="1"/>
          <p:nvPr/>
        </p:nvSpPr>
        <p:spPr>
          <a:xfrm>
            <a:off x="1769641" y="5692951"/>
            <a:ext cx="3161399" cy="58373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US" sz="1200" dirty="0" err="1">
                <a:solidFill>
                  <a:srgbClr val="1F2937"/>
                </a:solidFill>
              </a:rPr>
              <a:t>Bagaimana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memahami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karakteristik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pergerakan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Indeks</a:t>
            </a:r>
            <a:r>
              <a:rPr lang="en-US" sz="1200" dirty="0">
                <a:solidFill>
                  <a:srgbClr val="1F2937"/>
                </a:solidFill>
              </a:rPr>
              <a:t> Harga Saham LQ45 intraday interval 5 </a:t>
            </a:r>
            <a:r>
              <a:rPr lang="en-US" sz="1200" dirty="0" err="1">
                <a:solidFill>
                  <a:srgbClr val="1F2937"/>
                </a:solidFill>
              </a:rPr>
              <a:t>menit</a:t>
            </a:r>
            <a:r>
              <a:rPr lang="en-US" sz="1200" dirty="0">
                <a:solidFill>
                  <a:srgbClr val="1F2937"/>
                </a:solidFill>
              </a:rPr>
              <a:t>?</a:t>
            </a:r>
            <a:endParaRPr 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225322-69ED-8F01-533F-0326F43705D9}"/>
              </a:ext>
            </a:extLst>
          </p:cNvPr>
          <p:cNvSpPr txBox="1"/>
          <p:nvPr/>
        </p:nvSpPr>
        <p:spPr>
          <a:xfrm>
            <a:off x="5231989" y="5690440"/>
            <a:ext cx="3161399" cy="58373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US" sz="1200" dirty="0" err="1">
                <a:solidFill>
                  <a:srgbClr val="1F2937"/>
                </a:solidFill>
              </a:rPr>
              <a:t>Bagaimana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membangun</a:t>
            </a:r>
            <a:r>
              <a:rPr lang="en-US" sz="1200" dirty="0">
                <a:solidFill>
                  <a:srgbClr val="1F2937"/>
                </a:solidFill>
              </a:rPr>
              <a:t> model GRU-ODE </a:t>
            </a:r>
            <a:r>
              <a:rPr lang="en-US" sz="1200" dirty="0" err="1">
                <a:solidFill>
                  <a:srgbClr val="1F2937"/>
                </a:solidFill>
              </a:rPr>
              <a:t>untuk</a:t>
            </a:r>
            <a:r>
              <a:rPr lang="en-US" sz="1200" dirty="0">
                <a:solidFill>
                  <a:srgbClr val="1F2937"/>
                </a:solidFill>
              </a:rPr>
              <a:t> forecasting data LQ45 intraday yang </a:t>
            </a:r>
            <a:r>
              <a:rPr lang="en-US" sz="1200" dirty="0" err="1">
                <a:solidFill>
                  <a:srgbClr val="1F2937"/>
                </a:solidFill>
              </a:rPr>
              <a:t>bersifat</a:t>
            </a:r>
            <a:r>
              <a:rPr lang="en-US" sz="1200" dirty="0">
                <a:solidFill>
                  <a:srgbClr val="1F2937"/>
                </a:solidFill>
              </a:rPr>
              <a:t> irregular time-series?</a:t>
            </a:r>
            <a:endParaRPr lang="en-US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2D11E6-BA5F-9F20-CF9D-36E1B80D6298}"/>
              </a:ext>
            </a:extLst>
          </p:cNvPr>
          <p:cNvSpPr txBox="1"/>
          <p:nvPr/>
        </p:nvSpPr>
        <p:spPr>
          <a:xfrm>
            <a:off x="8694337" y="5682279"/>
            <a:ext cx="3161399" cy="58373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US" sz="1200" dirty="0" err="1">
                <a:solidFill>
                  <a:srgbClr val="1F2937"/>
                </a:solidFill>
              </a:rPr>
              <a:t>Bagaimana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performa</a:t>
            </a:r>
            <a:r>
              <a:rPr lang="en-US" sz="1200" dirty="0">
                <a:solidFill>
                  <a:srgbClr val="1F2937"/>
                </a:solidFill>
              </a:rPr>
              <a:t> GRU-ODE </a:t>
            </a:r>
            <a:r>
              <a:rPr lang="en-US" sz="1200" dirty="0" err="1">
                <a:solidFill>
                  <a:srgbClr val="1F2937"/>
                </a:solidFill>
              </a:rPr>
              <a:t>dibandingkan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dengan</a:t>
            </a:r>
            <a:r>
              <a:rPr lang="en-US" sz="1200" dirty="0">
                <a:solidFill>
                  <a:srgbClr val="1F2937"/>
                </a:solidFill>
              </a:rPr>
              <a:t> model GRU baseline yang </a:t>
            </a:r>
            <a:r>
              <a:rPr lang="en-US" sz="1200" dirty="0" err="1">
                <a:solidFill>
                  <a:srgbClr val="1F2937"/>
                </a:solidFill>
              </a:rPr>
              <a:t>memproses</a:t>
            </a:r>
            <a:r>
              <a:rPr lang="en-US" sz="1200" dirty="0">
                <a:solidFill>
                  <a:srgbClr val="1F2937"/>
                </a:solidFill>
              </a:rPr>
              <a:t> hidden state </a:t>
            </a:r>
            <a:r>
              <a:rPr lang="en-US" sz="1200" dirty="0" err="1">
                <a:solidFill>
                  <a:srgbClr val="1F2937"/>
                </a:solidFill>
              </a:rPr>
              <a:t>secara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diskrit</a:t>
            </a:r>
            <a:r>
              <a:rPr lang="en-US" sz="1200" dirty="0">
                <a:solidFill>
                  <a:srgbClr val="1F2937"/>
                </a:solidFill>
              </a:rPr>
              <a:t>?</a:t>
            </a:r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4CDB18-329C-0A8D-894D-00AD04254528}"/>
              </a:ext>
            </a:extLst>
          </p:cNvPr>
          <p:cNvSpPr/>
          <p:nvPr/>
        </p:nvSpPr>
        <p:spPr>
          <a:xfrm>
            <a:off x="1776087" y="5240113"/>
            <a:ext cx="10140361" cy="368301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bg1"/>
                </a:solidFill>
              </a:rPr>
              <a:t>Rumusan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Masalah</a:t>
            </a:r>
            <a:endParaRPr lang="en-ID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3660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84B92AF-D110-0C2E-7CA5-90A364FB1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08DD946-B8FC-FDD1-B98B-4D37213CFAC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5" imgH="405" progId="TCLayout.ActiveDocument.1">
                  <p:embed/>
                </p:oleObj>
              </mc:Choice>
              <mc:Fallback>
                <p:oleObj name="think-cell Slide" r:id="rId11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37A5AD-0B81-37C6-BAE2-0F911074C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0BF7D605-E51C-1E93-1A2A-9BACACF1E255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01D24-44AE-C4C5-F1C9-E871C8F1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6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298CDB-5359-AE87-26C5-8E3694A0F7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E3A12D1B-3547-D880-27A4-0D75AC6D0EC3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484697BA-AA3C-8741-FD87-E6CE55D51975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Pendahuluan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>
                <a:latin typeface="+mj-lt"/>
                <a:ea typeface="Calibri"/>
                <a:cs typeface="Calibri"/>
                <a:sym typeface="Calibri"/>
              </a:rPr>
              <a:t>Batasan Penelitian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732EC48-92E7-F199-3E56-CFB071F7CF1C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0" name="Rectangle 3">
            <a:extLst>
              <a:ext uri="{FF2B5EF4-FFF2-40B4-BE49-F238E27FC236}">
                <a16:creationId xmlns:a16="http://schemas.microsoft.com/office/drawing/2014/main" id="{1E732427-524F-B805-4EAA-0C6B356C54C1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2" name="Rectangle 3">
            <a:extLst>
              <a:ext uri="{FF2B5EF4-FFF2-40B4-BE49-F238E27FC236}">
                <a16:creationId xmlns:a16="http://schemas.microsoft.com/office/drawing/2014/main" id="{02CF8628-1015-3A82-B7CA-D6B9AC1DDEB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4" name="Rectangle 3">
            <a:extLst>
              <a:ext uri="{FF2B5EF4-FFF2-40B4-BE49-F238E27FC236}">
                <a16:creationId xmlns:a16="http://schemas.microsoft.com/office/drawing/2014/main" id="{BCEB6778-2F05-B9BA-A772-ABDF915352E4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6" name="Rectangle 3">
            <a:extLst>
              <a:ext uri="{FF2B5EF4-FFF2-40B4-BE49-F238E27FC236}">
                <a16:creationId xmlns:a16="http://schemas.microsoft.com/office/drawing/2014/main" id="{9DF533A8-C7A6-FF15-798A-5E098F05E5E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8" name="Rectangle 3">
            <a:extLst>
              <a:ext uri="{FF2B5EF4-FFF2-40B4-BE49-F238E27FC236}">
                <a16:creationId xmlns:a16="http://schemas.microsoft.com/office/drawing/2014/main" id="{6CE59595-37A2-6C1B-FC7C-55078A1406F2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140" name="Rectangle 3">
            <a:extLst>
              <a:ext uri="{FF2B5EF4-FFF2-40B4-BE49-F238E27FC236}">
                <a16:creationId xmlns:a16="http://schemas.microsoft.com/office/drawing/2014/main" id="{53DB8143-45D5-EA35-5109-8A6EEB5C065C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142" name="Rectangle 3">
            <a:extLst>
              <a:ext uri="{FF2B5EF4-FFF2-40B4-BE49-F238E27FC236}">
                <a16:creationId xmlns:a16="http://schemas.microsoft.com/office/drawing/2014/main" id="{7AC3A4C3-FBDC-DD05-E29B-88F94092E4A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144" name="Rectangle 3">
            <a:extLst>
              <a:ext uri="{FF2B5EF4-FFF2-40B4-BE49-F238E27FC236}">
                <a16:creationId xmlns:a16="http://schemas.microsoft.com/office/drawing/2014/main" id="{E40ADD42-1394-5A03-2EFA-15C4D8CF4C6F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DDE91FF-FA71-1B0D-7673-FF08B0BCD773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F313458-D4B1-3C24-1345-5FAEC66B5765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64B1157-2630-4F05-9857-441217DAA563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5925AF7-96D4-87ED-31C6-89CAED801F4E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CBF145F-C1B3-71D7-A2AA-442A89241CEC}"/>
              </a:ext>
            </a:extLst>
          </p:cNvPr>
          <p:cNvSpPr/>
          <p:nvPr/>
        </p:nvSpPr>
        <p:spPr>
          <a:xfrm>
            <a:off x="111779" y="2950954"/>
            <a:ext cx="1528712" cy="286024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782FB182-8733-8710-43B6-751E38910978}"/>
              </a:ext>
            </a:extLst>
          </p:cNvPr>
          <p:cNvSpPr/>
          <p:nvPr/>
        </p:nvSpPr>
        <p:spPr>
          <a:xfrm>
            <a:off x="2060400" y="2174220"/>
            <a:ext cx="1427290" cy="541020"/>
          </a:xfrm>
          <a:prstGeom prst="rect">
            <a:avLst/>
          </a:prstGeom>
          <a:solidFill>
            <a:srgbClr val="EEF5FA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Aspek</a:t>
            </a:r>
            <a:endParaRPr lang="en-US" sz="14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2B525AD4-7EA3-7208-31B9-1B7BA2A22C35}"/>
              </a:ext>
            </a:extLst>
          </p:cNvPr>
          <p:cNvSpPr/>
          <p:nvPr/>
        </p:nvSpPr>
        <p:spPr>
          <a:xfrm>
            <a:off x="3496988" y="2174220"/>
            <a:ext cx="7854541" cy="541020"/>
          </a:xfrm>
          <a:prstGeom prst="rect">
            <a:avLst/>
          </a:prstGeom>
          <a:solidFill>
            <a:srgbClr val="EEF5FA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Batasan</a:t>
            </a:r>
            <a:endParaRPr lang="en-US" sz="14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1FC369DB-E5F9-B738-068B-BD475A02160D}"/>
              </a:ext>
            </a:extLst>
          </p:cNvPr>
          <p:cNvSpPr/>
          <p:nvPr/>
        </p:nvSpPr>
        <p:spPr>
          <a:xfrm>
            <a:off x="2060400" y="2715240"/>
            <a:ext cx="1427290" cy="5410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A6EB8B5E-A38D-D543-D3B7-16BE55F7882D}"/>
              </a:ext>
            </a:extLst>
          </p:cNvPr>
          <p:cNvSpPr/>
          <p:nvPr/>
        </p:nvSpPr>
        <p:spPr>
          <a:xfrm>
            <a:off x="3496988" y="2715240"/>
            <a:ext cx="7854541" cy="5410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price Indeks Harga Saham LQ45 dari Yahoo Finance</a:t>
            </a:r>
            <a:endParaRPr lang="en-US" sz="14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560FB1A4-350E-9503-D2A1-36E964C99354}"/>
              </a:ext>
            </a:extLst>
          </p:cNvPr>
          <p:cNvSpPr/>
          <p:nvPr/>
        </p:nvSpPr>
        <p:spPr>
          <a:xfrm>
            <a:off x="2060400" y="3256260"/>
            <a:ext cx="1427290" cy="5410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Frekuensi</a:t>
            </a:r>
            <a:endParaRPr lang="en-US" sz="140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7B5568FE-45A2-035B-E150-FA73A235F8EB}"/>
              </a:ext>
            </a:extLst>
          </p:cNvPr>
          <p:cNvSpPr/>
          <p:nvPr/>
        </p:nvSpPr>
        <p:spPr>
          <a:xfrm>
            <a:off x="3496988" y="3256260"/>
            <a:ext cx="7854541" cy="5410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9388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Observasi intraday interval 5 menit</a:t>
            </a:r>
            <a:endParaRPr lang="en-US" sz="14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9912D8F4-6D86-7716-BCB2-D9B69B06A78F}"/>
              </a:ext>
            </a:extLst>
          </p:cNvPr>
          <p:cNvSpPr/>
          <p:nvPr/>
        </p:nvSpPr>
        <p:spPr>
          <a:xfrm>
            <a:off x="2060400" y="3797280"/>
            <a:ext cx="1427290" cy="5410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Periode</a:t>
            </a:r>
            <a:endParaRPr lang="en-US" sz="1400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A63013C7-6CD8-39E8-9671-215B0EDDA7E1}"/>
              </a:ext>
            </a:extLst>
          </p:cNvPr>
          <p:cNvSpPr/>
          <p:nvPr/>
        </p:nvSpPr>
        <p:spPr>
          <a:xfrm>
            <a:off x="3496988" y="3797280"/>
            <a:ext cx="7854541" cy="5410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9388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Agustus 2025 − 28 November 2025</a:t>
            </a:r>
            <a:endParaRPr lang="en-US" sz="14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25FA4240-14B0-79DD-8E67-50B524740E44}"/>
              </a:ext>
            </a:extLst>
          </p:cNvPr>
          <p:cNvSpPr/>
          <p:nvPr/>
        </p:nvSpPr>
        <p:spPr>
          <a:xfrm>
            <a:off x="2060400" y="4338300"/>
            <a:ext cx="1427290" cy="5410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Model</a:t>
            </a:r>
            <a:endParaRPr lang="en-US" sz="14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B5B18F76-BA37-BC28-7388-1AFA31923EAB}"/>
              </a:ext>
            </a:extLst>
          </p:cNvPr>
          <p:cNvSpPr/>
          <p:nvPr/>
        </p:nvSpPr>
        <p:spPr>
          <a:xfrm>
            <a:off x="3496988" y="4338300"/>
            <a:ext cx="7854541" cy="5410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9388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MAE, RMSE, dan MAPE</a:t>
            </a:r>
            <a:endParaRPr lang="en-US" sz="14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E3A4B63F-DE73-2AE1-551F-7D70873CD2EB}"/>
              </a:ext>
            </a:extLst>
          </p:cNvPr>
          <p:cNvSpPr/>
          <p:nvPr/>
        </p:nvSpPr>
        <p:spPr>
          <a:xfrm>
            <a:off x="2060400" y="4879320"/>
            <a:ext cx="1427290" cy="5410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</a:t>
            </a:r>
            <a:endParaRPr lang="en-US" sz="14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DA428C0-947A-4F61-9EA1-FF50CA57E954}"/>
              </a:ext>
            </a:extLst>
          </p:cNvPr>
          <p:cNvSpPr/>
          <p:nvPr/>
        </p:nvSpPr>
        <p:spPr>
          <a:xfrm>
            <a:off x="3496988" y="4879320"/>
            <a:ext cx="7854541" cy="5410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9388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Simulasi berbasis Python dengan library deep learning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A3CAF0-8E91-03CF-3CE9-0E4D113ACDE6}"/>
              </a:ext>
            </a:extLst>
          </p:cNvPr>
          <p:cNvSpPr txBox="1"/>
          <p:nvPr/>
        </p:nvSpPr>
        <p:spPr>
          <a:xfrm>
            <a:off x="2041522" y="1555878"/>
            <a:ext cx="930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3B5B"/>
                </a:solidFill>
              </a:rPr>
              <a:t>Batasan </a:t>
            </a:r>
            <a:r>
              <a:rPr lang="en-US" sz="1400" dirty="0" err="1">
                <a:solidFill>
                  <a:srgbClr val="183B5B"/>
                </a:solidFill>
              </a:rPr>
              <a:t>ini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membuat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penelitian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fokus</a:t>
            </a:r>
            <a:r>
              <a:rPr lang="en-US" sz="1400" dirty="0">
                <a:solidFill>
                  <a:srgbClr val="183B5B"/>
                </a:solidFill>
              </a:rPr>
              <a:t> pada </a:t>
            </a:r>
            <a:r>
              <a:rPr lang="en-US" sz="1400" dirty="0" err="1">
                <a:solidFill>
                  <a:srgbClr val="183B5B"/>
                </a:solidFill>
              </a:rPr>
              <a:t>satu</a:t>
            </a:r>
            <a:r>
              <a:rPr lang="en-US" sz="1400" dirty="0">
                <a:solidFill>
                  <a:srgbClr val="183B5B"/>
                </a:solidFill>
              </a:rPr>
              <a:t> target </a:t>
            </a:r>
            <a:r>
              <a:rPr lang="en-US" sz="1400" dirty="0" err="1">
                <a:solidFill>
                  <a:srgbClr val="183B5B"/>
                </a:solidFill>
              </a:rPr>
              <a:t>utama</a:t>
            </a:r>
            <a:r>
              <a:rPr lang="en-US" sz="1400" dirty="0">
                <a:solidFill>
                  <a:srgbClr val="183B5B"/>
                </a:solidFill>
              </a:rPr>
              <a:t>, </a:t>
            </a:r>
            <a:r>
              <a:rPr lang="en-US" sz="1400" dirty="0" err="1">
                <a:solidFill>
                  <a:srgbClr val="183B5B"/>
                </a:solidFill>
              </a:rPr>
              <a:t>yaitu</a:t>
            </a:r>
            <a:r>
              <a:rPr lang="en-US" sz="1400" dirty="0">
                <a:solidFill>
                  <a:srgbClr val="183B5B"/>
                </a:solidFill>
              </a:rPr>
              <a:t> </a:t>
            </a:r>
            <a:r>
              <a:rPr lang="en-US" sz="1400" dirty="0" err="1">
                <a:solidFill>
                  <a:srgbClr val="183B5B"/>
                </a:solidFill>
              </a:rPr>
              <a:t>prediksi</a:t>
            </a:r>
            <a:r>
              <a:rPr lang="en-US" sz="1400" dirty="0">
                <a:solidFill>
                  <a:srgbClr val="183B5B"/>
                </a:solidFill>
              </a:rPr>
              <a:t> closing price LQ45 </a:t>
            </a:r>
            <a:r>
              <a:rPr lang="en-US" sz="1400" dirty="0" err="1">
                <a:solidFill>
                  <a:srgbClr val="183B5B"/>
                </a:solidFill>
              </a:rPr>
              <a:t>berikutnya</a:t>
            </a:r>
            <a:r>
              <a:rPr lang="en-US" sz="1400" dirty="0">
                <a:solidFill>
                  <a:srgbClr val="183B5B"/>
                </a:solidFill>
              </a:rPr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83237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8B15-A677-B503-F263-22C9478C4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34C7FAB-7084-5C53-1B4F-C2D2010F6E2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079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A8FC9C-7FCD-F689-A6D4-6A9A629A99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FFB40BB0-51D1-E7C2-0649-18966E5FDAF5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4B8D1-EEDD-9A39-D677-6D28D596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F4EF2-0CA7-C5BF-916D-A31D7213DEA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6DD09E0B-C9BD-B077-001C-14FE4CDC4A1F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4AED94A4-9B61-F34F-70AC-CB4573B68D67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Pendahuluan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pt-BR" sz="2600" dirty="0">
                <a:latin typeface="+mj-lt"/>
                <a:ea typeface="Calibri"/>
                <a:cs typeface="Calibri"/>
                <a:sym typeface="Calibri"/>
              </a:rPr>
              <a:t>Deep Neural Network dan </a:t>
            </a:r>
            <a:r>
              <a:rPr lang="en-ID" sz="2800" dirty="0"/>
              <a:t>Backpropagation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BAD654B-7235-AE87-F38B-32A84389082B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D659FE-5DFC-7DBF-AD00-E0770E434998}"/>
              </a:ext>
            </a:extLst>
          </p:cNvPr>
          <p:cNvSpPr/>
          <p:nvPr/>
        </p:nvSpPr>
        <p:spPr>
          <a:xfrm>
            <a:off x="1718400" y="1521060"/>
            <a:ext cx="4651200" cy="368301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i="1" dirty="0">
                <a:cs typeface="Arial" panose="020B0604020202020204" pitchFamily="34" charset="0"/>
              </a:rPr>
              <a:t>Multilayer Perceptron</a:t>
            </a:r>
            <a:endParaRPr lang="id-ID" sz="2000" i="1" dirty="0"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9C2AA9-E7D0-BDD7-EFAC-FE4B812DF4AD}"/>
              </a:ext>
            </a:extLst>
          </p:cNvPr>
          <p:cNvSpPr/>
          <p:nvPr/>
        </p:nvSpPr>
        <p:spPr>
          <a:xfrm>
            <a:off x="1724328" y="4360299"/>
            <a:ext cx="10254072" cy="368301"/>
          </a:xfrm>
          <a:prstGeom prst="rect">
            <a:avLst/>
          </a:prstGeom>
          <a:solidFill>
            <a:srgbClr val="70AD4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 err="1">
                <a:cs typeface="Arial" panose="020B0604020202020204" pitchFamily="34" charset="0"/>
              </a:rPr>
              <a:t>Fungsi</a:t>
            </a:r>
            <a:r>
              <a:rPr lang="en-ID" sz="2000" dirty="0">
                <a:cs typeface="Arial" panose="020B0604020202020204" pitchFamily="34" charset="0"/>
              </a:rPr>
              <a:t> </a:t>
            </a:r>
            <a:r>
              <a:rPr lang="en-ID" sz="2000" dirty="0" err="1">
                <a:cs typeface="Arial" panose="020B0604020202020204" pitchFamily="34" charset="0"/>
              </a:rPr>
              <a:t>Aktivasi</a:t>
            </a:r>
            <a:endParaRPr lang="id-ID" sz="2000" dirty="0"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899D6F6-633C-0280-7A0D-42F21385AC6E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6424"/>
          <a:stretch>
            <a:fillRect/>
          </a:stretch>
        </p:blipFill>
        <p:spPr>
          <a:xfrm>
            <a:off x="1817182" y="1924200"/>
            <a:ext cx="1982987" cy="1688341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5EB076-93D9-B81F-9517-052311AE6BED}"/>
              </a:ext>
            </a:extLst>
          </p:cNvPr>
          <p:cNvCxnSpPr>
            <a:cxnSpLocks/>
          </p:cNvCxnSpPr>
          <p:nvPr/>
        </p:nvCxnSpPr>
        <p:spPr>
          <a:xfrm>
            <a:off x="2265600" y="2129400"/>
            <a:ext cx="1534569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52FDFA5-77BD-4163-2F7E-F20D3BAA0676}"/>
              </a:ext>
            </a:extLst>
          </p:cNvPr>
          <p:cNvSpPr txBox="1"/>
          <p:nvPr/>
        </p:nvSpPr>
        <p:spPr>
          <a:xfrm>
            <a:off x="3800169" y="1924200"/>
            <a:ext cx="25219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 err="1">
                <a:cs typeface="Arial" panose="020B0604020202020204" pitchFamily="34" charset="0"/>
              </a:rPr>
              <a:t>Lapisan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ini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menerima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fitur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sebagai</a:t>
            </a:r>
            <a:r>
              <a:rPr lang="en-ID" sz="1200" dirty="0">
                <a:cs typeface="Arial" panose="020B0604020202020204" pitchFamily="34" charset="0"/>
              </a:rPr>
              <a:t> input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35EAA97-83BA-1098-B208-D97A94976BD0}"/>
              </a:ext>
            </a:extLst>
          </p:cNvPr>
          <p:cNvCxnSpPr>
            <a:cxnSpLocks/>
          </p:cNvCxnSpPr>
          <p:nvPr/>
        </p:nvCxnSpPr>
        <p:spPr>
          <a:xfrm>
            <a:off x="2881200" y="2652012"/>
            <a:ext cx="918969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A5987F-36C6-E0FF-24BE-03AEE080AF9B}"/>
              </a:ext>
            </a:extLst>
          </p:cNvPr>
          <p:cNvSpPr txBox="1"/>
          <p:nvPr/>
        </p:nvSpPr>
        <p:spPr>
          <a:xfrm>
            <a:off x="3800169" y="2383942"/>
            <a:ext cx="25219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cs typeface="Arial" panose="020B0604020202020204" pitchFamily="34" charset="0"/>
              </a:rPr>
              <a:t>Memproses input dan </a:t>
            </a:r>
            <a:r>
              <a:rPr lang="en-ID" sz="1200" dirty="0" err="1">
                <a:cs typeface="Arial" panose="020B0604020202020204" pitchFamily="34" charset="0"/>
              </a:rPr>
              <a:t>diteruskan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ke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lapisan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selanjutnya</a:t>
            </a:r>
            <a:r>
              <a:rPr lang="en-ID" sz="1200" dirty="0">
                <a:cs typeface="Arial" panose="020B0604020202020204" pitchFamily="34" charset="0"/>
              </a:rPr>
              <a:t> (proses </a:t>
            </a:r>
            <a:r>
              <a:rPr lang="en-ID" sz="1200" dirty="0" err="1">
                <a:cs typeface="Arial" panose="020B0604020202020204" pitchFamily="34" charset="0"/>
              </a:rPr>
              <a:t>komputasi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terjadi</a:t>
            </a:r>
            <a:r>
              <a:rPr lang="en-ID" sz="1200" dirty="0"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7E95BB3-E204-576C-50EC-16FAFB590D4B}"/>
              </a:ext>
            </a:extLst>
          </p:cNvPr>
          <p:cNvCxnSpPr>
            <a:cxnSpLocks/>
          </p:cNvCxnSpPr>
          <p:nvPr/>
        </p:nvCxnSpPr>
        <p:spPr>
          <a:xfrm>
            <a:off x="3565200" y="3223800"/>
            <a:ext cx="23496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486E5A-3950-83A4-343F-F05866BFDD96}"/>
              </a:ext>
            </a:extLst>
          </p:cNvPr>
          <p:cNvSpPr txBox="1"/>
          <p:nvPr/>
        </p:nvSpPr>
        <p:spPr>
          <a:xfrm>
            <a:off x="3800957" y="3035735"/>
            <a:ext cx="25219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 err="1">
                <a:cs typeface="Arial" panose="020B0604020202020204" pitchFamily="34" charset="0"/>
              </a:rPr>
              <a:t>Informasi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dari</a:t>
            </a:r>
            <a:r>
              <a:rPr lang="en-ID" sz="1200" dirty="0">
                <a:cs typeface="Arial" panose="020B0604020202020204" pitchFamily="34" charset="0"/>
              </a:rPr>
              <a:t> hidden layer </a:t>
            </a:r>
            <a:r>
              <a:rPr lang="en-ID" sz="1200" dirty="0" err="1">
                <a:cs typeface="Arial" panose="020B0604020202020204" pitchFamily="34" charset="0"/>
              </a:rPr>
              <a:t>untuk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hasil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akhir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dari</a:t>
            </a:r>
            <a:r>
              <a:rPr lang="en-ID" sz="1200" dirty="0">
                <a:cs typeface="Arial" panose="020B0604020202020204" pitchFamily="34" charset="0"/>
              </a:rPr>
              <a:t> model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6C8584-7C8C-59AA-B741-A1C45470A3AA}"/>
              </a:ext>
            </a:extLst>
          </p:cNvPr>
          <p:cNvSpPr txBox="1"/>
          <p:nvPr/>
        </p:nvSpPr>
        <p:spPr>
          <a:xfrm>
            <a:off x="1732485" y="3652159"/>
            <a:ext cx="4738409" cy="51308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ID" sz="1400" dirty="0" err="1">
                <a:cs typeface="Arial" panose="020B0604020202020204" pitchFamily="34" charset="0"/>
              </a:rPr>
              <a:t>Aliran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informasi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dari</a:t>
            </a:r>
            <a:r>
              <a:rPr lang="en-ID" sz="1400" dirty="0">
                <a:cs typeface="Arial" panose="020B0604020202020204" pitchFamily="34" charset="0"/>
              </a:rPr>
              <a:t> kiri (input) </a:t>
            </a:r>
            <a:r>
              <a:rPr lang="en-ID" sz="1400" dirty="0" err="1">
                <a:cs typeface="Arial" panose="020B0604020202020204" pitchFamily="34" charset="0"/>
              </a:rPr>
              <a:t>ke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kanan</a:t>
            </a:r>
            <a:r>
              <a:rPr lang="en-ID" sz="1400" dirty="0">
                <a:cs typeface="Arial" panose="020B0604020202020204" pitchFamily="34" charset="0"/>
              </a:rPr>
              <a:t> (output) </a:t>
            </a:r>
            <a:r>
              <a:rPr lang="en-ID" sz="1400" dirty="0" err="1">
                <a:cs typeface="Arial" panose="020B0604020202020204" pitchFamily="34" charset="0"/>
              </a:rPr>
              <a:t>melalui</a:t>
            </a:r>
            <a:r>
              <a:rPr lang="en-ID" sz="1400" dirty="0">
                <a:cs typeface="Arial" panose="020B0604020202020204" pitchFamily="34" charset="0"/>
              </a:rPr>
              <a:t> hidden layer, </a:t>
            </a:r>
            <a:r>
              <a:rPr lang="en-ID" sz="1400" dirty="0" err="1">
                <a:cs typeface="Arial" panose="020B0604020202020204" pitchFamily="34" charset="0"/>
              </a:rPr>
              <a:t>dengan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setiap</a:t>
            </a:r>
            <a:r>
              <a:rPr lang="en-ID" sz="1400" dirty="0">
                <a:cs typeface="Arial" panose="020B0604020202020204" pitchFamily="34" charset="0"/>
              </a:rPr>
              <a:t> garis </a:t>
            </a:r>
            <a:r>
              <a:rPr lang="en-ID" sz="1400" dirty="0" err="1">
                <a:cs typeface="Arial" panose="020B0604020202020204" pitchFamily="34" charset="0"/>
              </a:rPr>
              <a:t>menunjukkan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bobot</a:t>
            </a:r>
            <a:r>
              <a:rPr lang="en-ID" sz="1400" dirty="0">
                <a:cs typeface="Arial" panose="020B0604020202020204" pitchFamily="34" charset="0"/>
              </a:rPr>
              <a:t> (w)</a:t>
            </a:r>
            <a:endParaRPr lang="en-ID" sz="1400" i="1" dirty="0"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95DE3B0-62D7-7C7C-3CEA-D060D1433849}"/>
              </a:ext>
            </a:extLst>
          </p:cNvPr>
          <p:cNvSpPr txBox="1"/>
          <p:nvPr/>
        </p:nvSpPr>
        <p:spPr>
          <a:xfrm>
            <a:off x="1718399" y="4757017"/>
            <a:ext cx="9667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cs typeface="Arial" panose="020B0604020202020204" pitchFamily="34" charset="0"/>
              </a:rPr>
              <a:t>Peran </a:t>
            </a:r>
            <a:r>
              <a:rPr lang="en-ID" sz="1400" dirty="0" err="1">
                <a:cs typeface="Arial" panose="020B0604020202020204" pitchFamily="34" charset="0"/>
              </a:rPr>
              <a:t>utama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dari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fungsi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aktivasi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adalah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untuk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memperkenalkan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sifat</a:t>
            </a:r>
            <a:r>
              <a:rPr lang="en-ID" sz="1400" dirty="0">
                <a:cs typeface="Arial" panose="020B0604020202020204" pitchFamily="34" charset="0"/>
              </a:rPr>
              <a:t> non-</a:t>
            </a:r>
            <a:r>
              <a:rPr lang="en-ID" sz="1400" dirty="0" err="1">
                <a:cs typeface="Arial" panose="020B0604020202020204" pitchFamily="34" charset="0"/>
              </a:rPr>
              <a:t>linearitas</a:t>
            </a:r>
            <a:r>
              <a:rPr lang="en-ID" sz="1400" dirty="0">
                <a:cs typeface="Arial" panose="020B0604020202020204" pitchFamily="34" charset="0"/>
              </a:rPr>
              <a:t>.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E300BE9-2752-C657-ABCD-8E74E6E13CC3}"/>
              </a:ext>
            </a:extLst>
          </p:cNvPr>
          <p:cNvSpPr txBox="1"/>
          <p:nvPr/>
        </p:nvSpPr>
        <p:spPr>
          <a:xfrm>
            <a:off x="1797349" y="5049063"/>
            <a:ext cx="4802323" cy="26612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ID" sz="1400" i="1" dirty="0">
                <a:cs typeface="Arial" panose="020B0604020202020204" pitchFamily="34" charset="0"/>
              </a:rPr>
              <a:t>Sigmoid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D54C8E2-5E65-DC01-E532-BFE21B4B7F52}"/>
              </a:ext>
            </a:extLst>
          </p:cNvPr>
          <p:cNvSpPr txBox="1"/>
          <p:nvPr/>
        </p:nvSpPr>
        <p:spPr>
          <a:xfrm>
            <a:off x="6695845" y="5049063"/>
            <a:ext cx="5282555" cy="26612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ID" sz="1400" i="1" dirty="0">
                <a:cs typeface="Arial" panose="020B0604020202020204" pitchFamily="34" charset="0"/>
              </a:rPr>
              <a:t>Tanh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3CCCB64-9976-9F99-2890-73663EA06989}"/>
              </a:ext>
            </a:extLst>
          </p:cNvPr>
          <p:cNvSpPr txBox="1"/>
          <p:nvPr/>
        </p:nvSpPr>
        <p:spPr>
          <a:xfrm>
            <a:off x="3161406" y="5449540"/>
            <a:ext cx="32222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>
                <a:cs typeface="Arial" panose="020B0604020202020204" pitchFamily="34" charset="0"/>
              </a:rPr>
              <a:t>Fungsi</a:t>
            </a:r>
            <a:r>
              <a:rPr lang="en-ID" sz="1400" dirty="0">
                <a:cs typeface="Arial" panose="020B0604020202020204" pitchFamily="34" charset="0"/>
              </a:rPr>
              <a:t> sigmoid </a:t>
            </a:r>
            <a:r>
              <a:rPr lang="en-ID" sz="1400" dirty="0" err="1">
                <a:cs typeface="Arial" panose="020B0604020202020204" pitchFamily="34" charset="0"/>
              </a:rPr>
              <a:t>akan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digunakan</a:t>
            </a:r>
            <a:r>
              <a:rPr lang="en-ID" sz="1400" dirty="0">
                <a:cs typeface="Arial" panose="020B0604020202020204" pitchFamily="34" charset="0"/>
              </a:rPr>
              <a:t> pada GRU-ODE Layer pada reset gate dan update gate.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C5B7599-992A-D34D-7C8D-7C83F66E2B73}"/>
              </a:ext>
            </a:extLst>
          </p:cNvPr>
          <p:cNvSpPr txBox="1"/>
          <p:nvPr/>
        </p:nvSpPr>
        <p:spPr>
          <a:xfrm>
            <a:off x="8435079" y="5438556"/>
            <a:ext cx="34785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>
                <a:cs typeface="Arial" panose="020B0604020202020204" pitchFamily="34" charset="0"/>
              </a:rPr>
              <a:t>Fungsi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aktivasi</a:t>
            </a:r>
            <a:r>
              <a:rPr lang="en-ID" sz="1400" dirty="0">
                <a:cs typeface="Arial" panose="020B0604020202020204" pitchFamily="34" charset="0"/>
              </a:rPr>
              <a:t> Tanh </a:t>
            </a:r>
            <a:r>
              <a:rPr lang="en-ID" sz="1400" dirty="0" err="1">
                <a:cs typeface="Arial" panose="020B0604020202020204" pitchFamily="34" charset="0"/>
              </a:rPr>
              <a:t>digunakan</a:t>
            </a:r>
            <a:r>
              <a:rPr lang="en-ID" sz="1400" dirty="0">
                <a:cs typeface="Arial" panose="020B0604020202020204" pitchFamily="34" charset="0"/>
              </a:rPr>
              <a:t> pada </a:t>
            </a:r>
            <a:r>
              <a:rPr lang="en-ID" sz="1400" dirty="0" err="1">
                <a:cs typeface="Arial" panose="020B0604020202020204" pitchFamily="34" charset="0"/>
              </a:rPr>
              <a:t>pada</a:t>
            </a:r>
            <a:r>
              <a:rPr lang="en-ID" sz="1400" dirty="0">
                <a:cs typeface="Arial" panose="020B0604020202020204" pitchFamily="34" charset="0"/>
              </a:rPr>
              <a:t> GRU-ODE layer </a:t>
            </a:r>
            <a:r>
              <a:rPr lang="en-ID" sz="1400" dirty="0" err="1">
                <a:cs typeface="Arial" panose="020B0604020202020204" pitchFamily="34" charset="0"/>
              </a:rPr>
              <a:t>untuk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menentukan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derivatif</a:t>
            </a:r>
            <a:r>
              <a:rPr lang="en-ID" sz="1400" dirty="0">
                <a:cs typeface="Arial" panose="020B0604020202020204" pitchFamily="34" charset="0"/>
              </a:rPr>
              <a:t> hidden state.  </a:t>
            </a:r>
          </a:p>
        </p:txBody>
      </p:sp>
      <p:sp>
        <p:nvSpPr>
          <p:cNvPr id="125" name="Rectangle 3">
            <a:extLst>
              <a:ext uri="{FF2B5EF4-FFF2-40B4-BE49-F238E27FC236}">
                <a16:creationId xmlns:a16="http://schemas.microsoft.com/office/drawing/2014/main" id="{B54CF391-060D-0239-1F15-DD10FF9364F4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27" name="Rectangle 3">
            <a:extLst>
              <a:ext uri="{FF2B5EF4-FFF2-40B4-BE49-F238E27FC236}">
                <a16:creationId xmlns:a16="http://schemas.microsoft.com/office/drawing/2014/main" id="{83157085-FEC4-2AA9-9989-FD688CB0FB3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29" name="Rectangle 3">
            <a:extLst>
              <a:ext uri="{FF2B5EF4-FFF2-40B4-BE49-F238E27FC236}">
                <a16:creationId xmlns:a16="http://schemas.microsoft.com/office/drawing/2014/main" id="{FA78B731-3B4D-4D90-5FAF-FCEC5C24E6AE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1" name="Rectangle 3">
            <a:extLst>
              <a:ext uri="{FF2B5EF4-FFF2-40B4-BE49-F238E27FC236}">
                <a16:creationId xmlns:a16="http://schemas.microsoft.com/office/drawing/2014/main" id="{0F03E3C8-2B65-4C1E-40F0-640431AE6DA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5DAD8EB5-4EB4-B41E-D42F-AB11E8C9F1F0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135" name="Rectangle 3">
            <a:extLst>
              <a:ext uri="{FF2B5EF4-FFF2-40B4-BE49-F238E27FC236}">
                <a16:creationId xmlns:a16="http://schemas.microsoft.com/office/drawing/2014/main" id="{7B5853FC-2DDF-C5D4-D303-29815FCFC80C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137" name="Rectangle 3">
            <a:extLst>
              <a:ext uri="{FF2B5EF4-FFF2-40B4-BE49-F238E27FC236}">
                <a16:creationId xmlns:a16="http://schemas.microsoft.com/office/drawing/2014/main" id="{F5D89422-E7FF-4E83-64A5-8731D9DC6F90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139" name="Rectangle 3">
            <a:extLst>
              <a:ext uri="{FF2B5EF4-FFF2-40B4-BE49-F238E27FC236}">
                <a16:creationId xmlns:a16="http://schemas.microsoft.com/office/drawing/2014/main" id="{49C4A6DC-C5BB-45D3-BA71-9E997C23AAA7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F67929F-2731-6E05-7FBA-218671EEFBD0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38B959E-6B29-C686-C95A-4846C1B03529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5F4E2A4-82AF-34B1-0363-19F5AC61F9E6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A913AE7-1995-B869-88F3-29D195575ECD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BA4214F-10E8-561A-007A-194BF900F1B8}"/>
              </a:ext>
            </a:extLst>
          </p:cNvPr>
          <p:cNvSpPr/>
          <p:nvPr/>
        </p:nvSpPr>
        <p:spPr>
          <a:xfrm>
            <a:off x="111779" y="2950954"/>
            <a:ext cx="1528712" cy="286024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C56D2F-D3BD-1B07-DD31-4EB94A93E4DD}"/>
              </a:ext>
            </a:extLst>
          </p:cNvPr>
          <p:cNvSpPr/>
          <p:nvPr/>
        </p:nvSpPr>
        <p:spPr>
          <a:xfrm>
            <a:off x="7011522" y="1555606"/>
            <a:ext cx="4651200" cy="368301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i="1" dirty="0">
                <a:cs typeface="Arial" panose="020B0604020202020204" pitchFamily="34" charset="0"/>
              </a:rPr>
              <a:t>Recurrent Neural Network</a:t>
            </a:r>
            <a:endParaRPr lang="id-ID" sz="2000" i="1" dirty="0"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465597-9207-52BE-A52A-E70C318E5C9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4062" y="1997635"/>
            <a:ext cx="4273476" cy="13761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319DD9-ED58-04D2-DABC-1C265F3AC1F2}"/>
              </a:ext>
            </a:extLst>
          </p:cNvPr>
          <p:cNvSpPr txBox="1"/>
          <p:nvPr/>
        </p:nvSpPr>
        <p:spPr>
          <a:xfrm>
            <a:off x="7011522" y="3591017"/>
            <a:ext cx="4738409" cy="66163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just"/>
            <a:r>
              <a:rPr lang="en-US" sz="1400" dirty="0"/>
              <a:t>RNN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jenis</a:t>
            </a:r>
            <a:r>
              <a:rPr lang="en-US" sz="1400" dirty="0"/>
              <a:t> neural network yang </a:t>
            </a:r>
            <a:r>
              <a:rPr lang="en-US" sz="1400" dirty="0" err="1"/>
              <a:t>dirancang</a:t>
            </a:r>
            <a:r>
              <a:rPr lang="en-US" sz="1400" dirty="0"/>
              <a:t> </a:t>
            </a:r>
            <a:r>
              <a:rPr lang="en-US" sz="1400" dirty="0" err="1"/>
              <a:t>khusus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memproses</a:t>
            </a:r>
            <a:r>
              <a:rPr lang="en-US" sz="1400" dirty="0"/>
              <a:t> data </a:t>
            </a:r>
            <a:r>
              <a:rPr lang="en-US" sz="1400" dirty="0" err="1"/>
              <a:t>sekuensial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memanfaatkan</a:t>
            </a:r>
            <a:r>
              <a:rPr lang="en-US" sz="1400" dirty="0"/>
              <a:t> </a:t>
            </a:r>
            <a:r>
              <a:rPr lang="en-US" sz="1400" i="1" dirty="0"/>
              <a:t>recurrent connection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7A0352-07CE-3696-3CC1-81C86DACF3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95845" y="5547596"/>
            <a:ext cx="1657435" cy="5016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228DE9-7F17-1FB3-FBC3-20ECEA91B10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83960" y="5522072"/>
            <a:ext cx="1301817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6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991C9-45A3-11F2-21B9-DA414B3A8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AB5F4F8-5ED7-172C-4159-9CF82573CA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77931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34C7FAB-7084-5C53-1B4F-C2D2010F6E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" name="Picture 104">
            <a:extLst>
              <a:ext uri="{FF2B5EF4-FFF2-40B4-BE49-F238E27FC236}">
                <a16:creationId xmlns:a16="http://schemas.microsoft.com/office/drawing/2014/main" id="{746142C2-4244-A6B6-DB61-8BC40B86BB1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618112" y="2838966"/>
            <a:ext cx="1181160" cy="764813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DAA7621D-311C-F325-1025-E1EA65090839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E02D4-1E45-6FDE-97E7-D9BBE3AA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8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AE2C1E-41BF-D3F5-86E8-E6D0F08FA3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AAF826EC-7744-0D59-F70E-4C3EA6AAD53C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DD47726E-BE3F-A6BE-F66A-279CC7D20830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Pendahuluan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Gated Recurrent Unit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1748E02-309B-915A-05AF-12AD46C7614C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4F6C12-5DB9-70A9-F36D-A7DCC3B722B6}"/>
              </a:ext>
            </a:extLst>
          </p:cNvPr>
          <p:cNvSpPr/>
          <p:nvPr/>
        </p:nvSpPr>
        <p:spPr>
          <a:xfrm>
            <a:off x="1788221" y="1456390"/>
            <a:ext cx="10191600" cy="406362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i="1" dirty="0"/>
              <a:t>Gated Recurrent Unit</a:t>
            </a:r>
            <a:endParaRPr lang="id-ID" sz="2000" i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690BF9-C472-B6B0-2AFA-D817B9D87CD3}"/>
              </a:ext>
            </a:extLst>
          </p:cNvPr>
          <p:cNvSpPr txBox="1"/>
          <p:nvPr/>
        </p:nvSpPr>
        <p:spPr>
          <a:xfrm>
            <a:off x="1756930" y="2449003"/>
            <a:ext cx="4651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cs typeface="Arial" panose="020B0604020202020204" pitchFamily="34" charset="0"/>
              </a:rPr>
              <a:t>GRU </a:t>
            </a:r>
            <a:r>
              <a:rPr lang="en-ID" sz="1400" dirty="0" err="1">
                <a:cs typeface="Arial" panose="020B0604020202020204" pitchFamily="34" charset="0"/>
              </a:rPr>
              <a:t>memiliki</a:t>
            </a:r>
            <a:r>
              <a:rPr lang="en-ID" sz="1400" dirty="0">
                <a:cs typeface="Arial" panose="020B0604020202020204" pitchFamily="34" charset="0"/>
              </a:rPr>
              <a:t> dua gate </a:t>
            </a:r>
            <a:r>
              <a:rPr lang="en-ID" sz="1400" dirty="0" err="1">
                <a:cs typeface="Arial" panose="020B0604020202020204" pitchFamily="34" charset="0"/>
              </a:rPr>
              <a:t>dalam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arsitekturnya</a:t>
            </a:r>
            <a:r>
              <a:rPr lang="en-ID" sz="1400" dirty="0">
                <a:cs typeface="Arial" panose="020B0604020202020204" pitchFamily="34" charset="0"/>
              </a:rPr>
              <a:t>: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95F97548-E1F5-0B7E-DC63-F95906B133B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88220" y="2737156"/>
            <a:ext cx="2020710" cy="12872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1927855-EAD2-2794-A269-160F572DF8DD}"/>
                  </a:ext>
                </a:extLst>
              </p:cNvPr>
              <p:cNvSpPr txBox="1"/>
              <p:nvPr/>
            </p:nvSpPr>
            <p:spPr>
              <a:xfrm>
                <a:off x="3821668" y="2733744"/>
                <a:ext cx="2739824" cy="64633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D" sz="1200" b="1" dirty="0">
                    <a:cs typeface="Arial" panose="020B0604020202020204" pitchFamily="34" charset="0"/>
                  </a:rPr>
                  <a:t>Update gate </a:t>
                </a:r>
                <a:r>
                  <a:rPr lang="en-ID" sz="1200" dirty="0" err="1">
                    <a:cs typeface="Arial" panose="020B0604020202020204" pitchFamily="34" charset="0"/>
                  </a:rPr>
                  <a:t>menentukan</a:t>
                </a:r>
                <a:r>
                  <a:rPr lang="en-ID" sz="1200" dirty="0">
                    <a:cs typeface="Arial" panose="020B0604020202020204" pitchFamily="34" charset="0"/>
                  </a:rPr>
                  <a:t> </a:t>
                </a:r>
                <a:r>
                  <a:rPr lang="en-ID" sz="1200" dirty="0" err="1">
                    <a:cs typeface="Arial" panose="020B0604020202020204" pitchFamily="34" charset="0"/>
                  </a:rPr>
                  <a:t>informasi</a:t>
                </a:r>
                <a:r>
                  <a:rPr lang="en-ID" sz="1200" dirty="0">
                    <a:cs typeface="Arial" panose="020B0604020202020204" pitchFamily="34" charset="0"/>
                  </a:rPr>
                  <a:t> </a:t>
                </a:r>
                <a:r>
                  <a:rPr lang="en-ID" sz="1200" dirty="0" err="1">
                    <a:cs typeface="Arial" panose="020B0604020202020204" pitchFamily="34" charset="0"/>
                  </a:rPr>
                  <a:t>dari</a:t>
                </a:r>
                <a:r>
                  <a:rPr lang="en-ID" sz="1200" dirty="0">
                    <a:cs typeface="Arial" panose="020B0604020202020204" pitchFamily="34" charset="0"/>
                  </a:rPr>
                  <a:t> hidden state </a:t>
                </a:r>
                <a:r>
                  <a:rPr lang="en-ID" sz="1200" dirty="0" err="1">
                    <a:cs typeface="Arial" panose="020B0604020202020204" pitchFamily="34" charset="0"/>
                  </a:rPr>
                  <a:t>sebelumnya</a:t>
                </a:r>
                <a:r>
                  <a:rPr lang="en-ID" sz="1200" dirty="0"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200" i="1" dirty="0" smtClean="0">
                            <a:latin typeface="Cambria Math" panose="020F0502020204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1" dirty="0" smtClean="0">
                            <a:latin typeface="Cambria Math" panose="020F0502020204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1" dirty="0" smtClean="0">
                            <a:latin typeface="Cambria Math" panose="020F05020202040302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200" b="0" i="1" dirty="0" smtClean="0">
                            <a:latin typeface="Cambria Math" panose="020F0502020204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D" sz="1200" dirty="0">
                    <a:cs typeface="Arial" panose="020B0604020202020204" pitchFamily="34" charset="0"/>
                  </a:rPr>
                  <a:t>) yang </a:t>
                </a:r>
                <a:r>
                  <a:rPr lang="en-ID" sz="1200" dirty="0" err="1">
                    <a:cs typeface="Arial" panose="020B0604020202020204" pitchFamily="34" charset="0"/>
                  </a:rPr>
                  <a:t>akan</a:t>
                </a:r>
                <a:r>
                  <a:rPr lang="en-ID" sz="1200" dirty="0">
                    <a:cs typeface="Arial" panose="020B0604020202020204" pitchFamily="34" charset="0"/>
                  </a:rPr>
                  <a:t> </a:t>
                </a:r>
                <a:r>
                  <a:rPr lang="en-ID" sz="1200" dirty="0" err="1">
                    <a:cs typeface="Arial" panose="020B0604020202020204" pitchFamily="34" charset="0"/>
                  </a:rPr>
                  <a:t>ditinggalkan</a:t>
                </a:r>
                <a:r>
                  <a:rPr lang="en-ID" sz="1200" dirty="0"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1927855-EAD2-2794-A269-160F572DF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668" y="2733744"/>
                <a:ext cx="2739824" cy="646331"/>
              </a:xfrm>
              <a:prstGeom prst="rect">
                <a:avLst/>
              </a:prstGeom>
              <a:blipFill>
                <a:blip r:embed="rId17"/>
                <a:stretch>
                  <a:fillRect l="-223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2116179-E56E-C952-F91B-DC5B05F5FADA}"/>
                  </a:ext>
                </a:extLst>
              </p:cNvPr>
              <p:cNvSpPr txBox="1"/>
              <p:nvPr/>
            </p:nvSpPr>
            <p:spPr>
              <a:xfrm>
                <a:off x="3821668" y="3419020"/>
                <a:ext cx="2739824" cy="64633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D" sz="1200" b="1" dirty="0">
                    <a:cs typeface="Arial" panose="020B0604020202020204" pitchFamily="34" charset="0"/>
                  </a:rPr>
                  <a:t>Reset gate </a:t>
                </a:r>
                <a:r>
                  <a:rPr lang="en-ID" sz="1200" dirty="0" err="1">
                    <a:cs typeface="Arial" panose="020B0604020202020204" pitchFamily="34" charset="0"/>
                  </a:rPr>
                  <a:t>menentukan</a:t>
                </a:r>
                <a:r>
                  <a:rPr lang="en-ID" sz="1200" dirty="0">
                    <a:cs typeface="Arial" panose="020B0604020202020204" pitchFamily="34" charset="0"/>
                  </a:rPr>
                  <a:t> </a:t>
                </a:r>
                <a:r>
                  <a:rPr lang="en-ID" sz="1200" dirty="0" err="1">
                    <a:cs typeface="Arial" panose="020B0604020202020204" pitchFamily="34" charset="0"/>
                  </a:rPr>
                  <a:t>informasi</a:t>
                </a:r>
                <a:r>
                  <a:rPr lang="en-ID" sz="1200" dirty="0">
                    <a:cs typeface="Arial" panose="020B0604020202020204" pitchFamily="34" charset="0"/>
                  </a:rPr>
                  <a:t> </a:t>
                </a:r>
                <a:r>
                  <a:rPr lang="en-ID" sz="1200" dirty="0" err="1">
                    <a:cs typeface="Arial" panose="020B0604020202020204" pitchFamily="34" charset="0"/>
                  </a:rPr>
                  <a:t>dari</a:t>
                </a:r>
                <a:r>
                  <a:rPr lang="en-ID" sz="1200" dirty="0">
                    <a:cs typeface="Arial" panose="020B0604020202020204" pitchFamily="34" charset="0"/>
                  </a:rPr>
                  <a:t> hidden state </a:t>
                </a:r>
                <a:r>
                  <a:rPr lang="en-ID" sz="1200" dirty="0" err="1">
                    <a:cs typeface="Arial" panose="020B0604020202020204" pitchFamily="34" charset="0"/>
                  </a:rPr>
                  <a:t>sebelumnya</a:t>
                </a:r>
                <a:r>
                  <a:rPr lang="en-ID" sz="1200" dirty="0"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200" i="1" dirty="0">
                            <a:latin typeface="Cambria Math" panose="020F0502020204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1" dirty="0">
                            <a:latin typeface="Cambria Math" panose="020F0502020204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i="1" dirty="0">
                            <a:latin typeface="Cambria Math" panose="020F05020202040302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200" i="1" dirty="0">
                            <a:latin typeface="Cambria Math" panose="020F0502020204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F0502020204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ID" sz="1200" dirty="0">
                    <a:cs typeface="Arial" panose="020B0604020202020204" pitchFamily="34" charset="0"/>
                  </a:rPr>
                  <a:t> yang </a:t>
                </a:r>
                <a:r>
                  <a:rPr lang="en-ID" sz="1200" dirty="0" err="1">
                    <a:cs typeface="Arial" panose="020B0604020202020204" pitchFamily="34" charset="0"/>
                  </a:rPr>
                  <a:t>diteruskan</a:t>
                </a:r>
                <a:r>
                  <a:rPr lang="en-ID" sz="1200" dirty="0">
                    <a:cs typeface="Arial" panose="020B0604020202020204" pitchFamily="34" charset="0"/>
                  </a:rPr>
                  <a:t> </a:t>
                </a:r>
                <a:r>
                  <a:rPr lang="en-ID" sz="1200" dirty="0" err="1">
                    <a:cs typeface="Arial" panose="020B0604020202020204" pitchFamily="34" charset="0"/>
                  </a:rPr>
                  <a:t>ke</a:t>
                </a:r>
                <a:r>
                  <a:rPr lang="en-ID" sz="1200" dirty="0">
                    <a:cs typeface="Arial" panose="020B0604020202020204" pitchFamily="34" charset="0"/>
                  </a:rPr>
                  <a:t> 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200" i="1" dirty="0">
                            <a:latin typeface="Cambria Math" panose="020F0502020204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1" dirty="0">
                            <a:latin typeface="Cambria Math" panose="020F0502020204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i="1" dirty="0">
                            <a:latin typeface="Cambria Math" panose="020F0502020204030204" pitchFamily="18" charset="0"/>
                            <a:cs typeface="Arial" panose="020B0604020202020204" pitchFamily="34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ID" sz="1200" dirty="0"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2116179-E56E-C952-F91B-DC5B05F5F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668" y="3419020"/>
                <a:ext cx="2739824" cy="646331"/>
              </a:xfrm>
              <a:prstGeom prst="rect">
                <a:avLst/>
              </a:prstGeom>
              <a:blipFill>
                <a:blip r:embed="rId18"/>
                <a:stretch>
                  <a:fillRect l="-223" t="-943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" name="Picture 63">
            <a:extLst>
              <a:ext uri="{FF2B5EF4-FFF2-40B4-BE49-F238E27FC236}">
                <a16:creationId xmlns:a16="http://schemas.microsoft.com/office/drawing/2014/main" id="{F711D77B-C6F6-4556-F7A1-F97B926E961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13950" y="2802888"/>
            <a:ext cx="2675959" cy="1198545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282F497D-536E-714E-17F0-C10D53004C24}"/>
              </a:ext>
            </a:extLst>
          </p:cNvPr>
          <p:cNvSpPr txBox="1"/>
          <p:nvPr/>
        </p:nvSpPr>
        <p:spPr>
          <a:xfrm>
            <a:off x="7092130" y="2425967"/>
            <a:ext cx="471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>
                <a:cs typeface="Arial" panose="020B0604020202020204" pitchFamily="34" charset="0"/>
              </a:rPr>
              <a:t>Algoritma</a:t>
            </a:r>
            <a:r>
              <a:rPr lang="en-ID" sz="1400" dirty="0">
                <a:cs typeface="Arial" panose="020B0604020202020204" pitchFamily="34" charset="0"/>
              </a:rPr>
              <a:t> model Gated Recurrent Unit </a:t>
            </a:r>
            <a:r>
              <a:rPr lang="en-ID" sz="1400" dirty="0" err="1">
                <a:cs typeface="Arial" panose="020B0604020202020204" pitchFamily="34" charset="0"/>
              </a:rPr>
              <a:t>dituliskan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sebagai</a:t>
            </a:r>
            <a:endParaRPr lang="en-ID" sz="1400" dirty="0">
              <a:cs typeface="Arial" panose="020B06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6C732E-9821-C5AF-E937-4204E9A6DE35}"/>
              </a:ext>
            </a:extLst>
          </p:cNvPr>
          <p:cNvSpPr/>
          <p:nvPr/>
        </p:nvSpPr>
        <p:spPr>
          <a:xfrm>
            <a:off x="12805157" y="1346903"/>
            <a:ext cx="5130000" cy="368301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i="1" dirty="0"/>
              <a:t>Ordinary Differential Equation</a:t>
            </a:r>
            <a:endParaRPr lang="id-ID" sz="2000" i="1" dirty="0">
              <a:cs typeface="Arial" panose="020B0604020202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E16F680-CA9C-A53A-F8DB-370B4FF377FD}"/>
              </a:ext>
            </a:extLst>
          </p:cNvPr>
          <p:cNvSpPr txBox="1"/>
          <p:nvPr/>
        </p:nvSpPr>
        <p:spPr>
          <a:xfrm>
            <a:off x="12828783" y="1792177"/>
            <a:ext cx="51063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>
                <a:cs typeface="Arial" panose="020B0604020202020204" pitchFamily="34" charset="0"/>
              </a:rPr>
              <a:t>Persamaan</a:t>
            </a:r>
            <a:r>
              <a:rPr lang="en-ID" sz="1400" dirty="0">
                <a:cs typeface="Arial" panose="020B0604020202020204" pitchFamily="34" charset="0"/>
              </a:rPr>
              <a:t> yang </a:t>
            </a:r>
            <a:r>
              <a:rPr lang="en-ID" sz="1400" dirty="0" err="1">
                <a:cs typeface="Arial" panose="020B0604020202020204" pitchFamily="34" charset="0"/>
              </a:rPr>
              <a:t>melibatkan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sebuah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fungsi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satu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variabel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independen</a:t>
            </a:r>
            <a:r>
              <a:rPr lang="en-ID" sz="1400" dirty="0">
                <a:cs typeface="Arial" panose="020B0604020202020204" pitchFamily="34" charset="0"/>
              </a:rPr>
              <a:t> (</a:t>
            </a:r>
            <a:r>
              <a:rPr lang="en-ID" sz="1400" dirty="0" err="1">
                <a:cs typeface="Arial" panose="020B0604020202020204" pitchFamily="34" charset="0"/>
              </a:rPr>
              <a:t>umumnya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waktu</a:t>
            </a:r>
            <a:r>
              <a:rPr lang="en-ID" sz="1400" dirty="0">
                <a:cs typeface="Arial" panose="020B0604020202020204" pitchFamily="34" charset="0"/>
              </a:rPr>
              <a:t>, t) dan </a:t>
            </a:r>
            <a:r>
              <a:rPr lang="en-ID" sz="1400" dirty="0" err="1">
                <a:cs typeface="Arial" panose="020B0604020202020204" pitchFamily="34" charset="0"/>
              </a:rPr>
              <a:t>satu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atau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lebih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turunannya</a:t>
            </a:r>
            <a:r>
              <a:rPr lang="en-ID" sz="1400" dirty="0">
                <a:cs typeface="Arial" panose="020B0604020202020204" pitchFamily="34" charset="0"/>
              </a:rPr>
              <a:t> (</a:t>
            </a:r>
            <a:r>
              <a:rPr lang="en-ID" sz="1400" dirty="0" err="1">
                <a:cs typeface="Arial" panose="020B0604020202020204" pitchFamily="34" charset="0"/>
              </a:rPr>
              <a:t>derivatif</a:t>
            </a:r>
            <a:r>
              <a:rPr lang="en-ID" sz="1400" dirty="0">
                <a:cs typeface="Arial" panose="020B0604020202020204" pitchFamily="34" charset="0"/>
              </a:rPr>
              <a:t>) </a:t>
            </a:r>
            <a:r>
              <a:rPr lang="en-ID" sz="1400" dirty="0" err="1">
                <a:cs typeface="Arial" panose="020B0604020202020204" pitchFamily="34" charset="0"/>
              </a:rPr>
              <a:t>terhadap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variabel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tersebut</a:t>
            </a:r>
            <a:r>
              <a:rPr lang="en-ID" sz="1400" dirty="0">
                <a:cs typeface="Arial" panose="020B0604020202020204" pitchFamily="34" charset="0"/>
              </a:rPr>
              <a:t>. </a:t>
            </a:r>
            <a:r>
              <a:rPr lang="en-ID" sz="1400" dirty="0" err="1">
                <a:cs typeface="Arial" panose="020B0604020202020204" pitchFamily="34" charset="0"/>
              </a:rPr>
              <a:t>Metodenya</a:t>
            </a:r>
            <a:r>
              <a:rPr lang="en-ID" sz="1400" dirty="0">
                <a:cs typeface="Arial" panose="020B0604020202020204" pitchFamily="34" charset="0"/>
              </a:rPr>
              <a:t>: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65266E6-D4BB-909C-1152-43E538C8E3BD}"/>
              </a:ext>
            </a:extLst>
          </p:cNvPr>
          <p:cNvSpPr txBox="1"/>
          <p:nvPr/>
        </p:nvSpPr>
        <p:spPr>
          <a:xfrm>
            <a:off x="12911956" y="2594895"/>
            <a:ext cx="2439015" cy="30777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cs typeface="Arial" panose="020B0604020202020204" pitchFamily="34" charset="0"/>
              </a:rPr>
              <a:t>Metode Euler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D50DFB2-5BFF-E23F-6531-34DC3EAAAFDE}"/>
              </a:ext>
            </a:extLst>
          </p:cNvPr>
          <p:cNvSpPr txBox="1"/>
          <p:nvPr/>
        </p:nvSpPr>
        <p:spPr>
          <a:xfrm>
            <a:off x="15507236" y="2586727"/>
            <a:ext cx="2439015" cy="30777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cs typeface="Arial" panose="020B0604020202020204" pitchFamily="34" charset="0"/>
              </a:rPr>
              <a:t>Metode </a:t>
            </a:r>
            <a:r>
              <a:rPr lang="en-ID" sz="1400" dirty="0"/>
              <a:t>Runge-</a:t>
            </a:r>
            <a:r>
              <a:rPr lang="en-ID" sz="1400" dirty="0" err="1"/>
              <a:t>Kutta</a:t>
            </a:r>
            <a:r>
              <a:rPr lang="en-ID" sz="1400" dirty="0"/>
              <a:t> Orde 4</a:t>
            </a:r>
            <a:endParaRPr lang="en-ID" sz="1400" dirty="0">
              <a:cs typeface="Arial" panose="020B06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C8C902C-77B5-7F20-ABE9-1DE335FE93DB}"/>
              </a:ext>
            </a:extLst>
          </p:cNvPr>
          <p:cNvSpPr txBox="1"/>
          <p:nvPr/>
        </p:nvSpPr>
        <p:spPr>
          <a:xfrm>
            <a:off x="12920198" y="4012039"/>
            <a:ext cx="5023189" cy="30777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dirty="0"/>
              <a:t>Neural Ordinary Differential Equation</a:t>
            </a:r>
            <a:endParaRPr lang="en-ID" sz="1400" dirty="0">
              <a:cs typeface="Arial" panose="020B0604020202020204" pitchFamily="34" charset="0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7B572256-B7E0-A7C0-1DB3-D814C66A255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147157" y="2994700"/>
            <a:ext cx="1999384" cy="375430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69BD27EB-F30F-2EF7-E533-9DC7B49104CF}"/>
              </a:ext>
            </a:extLst>
          </p:cNvPr>
          <p:cNvSpPr txBox="1"/>
          <p:nvPr/>
        </p:nvSpPr>
        <p:spPr>
          <a:xfrm>
            <a:off x="12911955" y="3317544"/>
            <a:ext cx="25239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 err="1">
                <a:cs typeface="Arial" panose="020B0604020202020204" pitchFamily="34" charset="0"/>
              </a:rPr>
              <a:t>Memperkirakan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nilai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dengan</a:t>
            </a:r>
            <a:r>
              <a:rPr lang="en-ID" sz="1200" dirty="0">
                <a:cs typeface="Arial" panose="020B0604020202020204" pitchFamily="34" charset="0"/>
              </a:rPr>
              <a:t> slope (</a:t>
            </a:r>
            <a:r>
              <a:rPr lang="en-ID" sz="1200" dirty="0" err="1">
                <a:cs typeface="Arial" panose="020B0604020202020204" pitchFamily="34" charset="0"/>
              </a:rPr>
              <a:t>kemiringan</a:t>
            </a:r>
            <a:r>
              <a:rPr lang="en-ID" sz="1200" dirty="0">
                <a:cs typeface="Arial" panose="020B0604020202020204" pitchFamily="34" charset="0"/>
              </a:rPr>
              <a:t>) </a:t>
            </a:r>
            <a:r>
              <a:rPr lang="en-ID" sz="1200" dirty="0" err="1">
                <a:cs typeface="Arial" panose="020B0604020202020204" pitchFamily="34" charset="0"/>
              </a:rPr>
              <a:t>fungsi</a:t>
            </a:r>
            <a:r>
              <a:rPr lang="en-ID" sz="1200" dirty="0">
                <a:cs typeface="Arial" panose="020B0604020202020204" pitchFamily="34" charset="0"/>
              </a:rPr>
              <a:t> f pada </a:t>
            </a:r>
            <a:r>
              <a:rPr lang="en-ID" sz="1200" dirty="0" err="1">
                <a:cs typeface="Arial" panose="020B0604020202020204" pitchFamily="34" charset="0"/>
              </a:rPr>
              <a:t>titik</a:t>
            </a:r>
            <a:r>
              <a:rPr lang="en-ID" sz="1200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50CDCDC-4ABA-873B-EB93-311F2EC2E698}"/>
              </a:ext>
            </a:extLst>
          </p:cNvPr>
          <p:cNvSpPr txBox="1"/>
          <p:nvPr/>
        </p:nvSpPr>
        <p:spPr>
          <a:xfrm>
            <a:off x="15507236" y="2950390"/>
            <a:ext cx="1209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 err="1">
                <a:cs typeface="Arial" panose="020B0604020202020204" pitchFamily="34" charset="0"/>
              </a:rPr>
              <a:t>Evaluasi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nilai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fungsi</a:t>
            </a:r>
            <a:r>
              <a:rPr lang="en-ID" sz="1200" dirty="0">
                <a:cs typeface="Arial" panose="020B0604020202020204" pitchFamily="34" charset="0"/>
              </a:rPr>
              <a:t> f pada </a:t>
            </a:r>
            <a:r>
              <a:rPr lang="en-ID" sz="1200" dirty="0" err="1">
                <a:cs typeface="Arial" panose="020B0604020202020204" pitchFamily="34" charset="0"/>
              </a:rPr>
              <a:t>beberapa</a:t>
            </a:r>
            <a:r>
              <a:rPr lang="en-ID" sz="1200" dirty="0">
                <a:cs typeface="Arial" panose="020B0604020202020204" pitchFamily="34" charset="0"/>
              </a:rPr>
              <a:t> </a:t>
            </a:r>
            <a:r>
              <a:rPr lang="en-ID" sz="1200" dirty="0" err="1">
                <a:cs typeface="Arial" panose="020B0604020202020204" pitchFamily="34" charset="0"/>
              </a:rPr>
              <a:t>titik</a:t>
            </a:r>
            <a:r>
              <a:rPr lang="en-ID" sz="1200" dirty="0"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D9B5920C-01B3-E8CA-8536-1495DCCDC3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900484" y="3652165"/>
            <a:ext cx="1633454" cy="273816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FF1C9265-8881-BAF5-F6F6-D9B932AAC455}"/>
              </a:ext>
            </a:extLst>
          </p:cNvPr>
          <p:cNvSpPr txBox="1"/>
          <p:nvPr/>
        </p:nvSpPr>
        <p:spPr>
          <a:xfrm>
            <a:off x="12920198" y="4334202"/>
            <a:ext cx="50481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>
                <a:cs typeface="Arial" panose="020B0604020202020204" pitchFamily="34" charset="0"/>
              </a:rPr>
              <a:t>Neural ODE </a:t>
            </a:r>
            <a:r>
              <a:rPr lang="en-ID" sz="1400" dirty="0" err="1">
                <a:cs typeface="Arial" panose="020B0604020202020204" pitchFamily="34" charset="0"/>
              </a:rPr>
              <a:t>memodelkan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dinamika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sistem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sebagai</a:t>
            </a:r>
            <a:r>
              <a:rPr lang="en-ID" sz="1400" dirty="0">
                <a:cs typeface="Arial" panose="020B0604020202020204" pitchFamily="34" charset="0"/>
              </a:rPr>
              <a:t> proses yang </a:t>
            </a:r>
            <a:r>
              <a:rPr lang="en-ID" sz="1400" dirty="0" err="1">
                <a:cs typeface="Arial" panose="020B0604020202020204" pitchFamily="34" charset="0"/>
              </a:rPr>
              <a:t>kontinu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dengan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memparameterisasi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derivatif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dari</a:t>
            </a:r>
            <a:r>
              <a:rPr lang="en-ID" sz="1400" dirty="0">
                <a:cs typeface="Arial" panose="020B0604020202020204" pitchFamily="34" charset="0"/>
              </a:rPr>
              <a:t> hidden state </a:t>
            </a:r>
            <a:r>
              <a:rPr lang="en-ID" sz="1400" dirty="0" err="1">
                <a:cs typeface="Arial" panose="020B0604020202020204" pitchFamily="34" charset="0"/>
              </a:rPr>
              <a:t>terhadap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waktu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menggunakan</a:t>
            </a:r>
            <a:r>
              <a:rPr lang="en-ID" sz="1400" dirty="0">
                <a:cs typeface="Arial" panose="020B0604020202020204" pitchFamily="34" charset="0"/>
              </a:rPr>
              <a:t> neural network. 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EB1A446-F60F-A903-30AA-5A2A8C28579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046333" y="5164894"/>
            <a:ext cx="3012448" cy="851471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349AD003-8520-A373-D898-C02E441C4B4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234319" y="5136623"/>
            <a:ext cx="1678056" cy="908011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19635B9C-E349-EBAF-FB02-BC063C3286E3}"/>
              </a:ext>
            </a:extLst>
          </p:cNvPr>
          <p:cNvSpPr/>
          <p:nvPr/>
        </p:nvSpPr>
        <p:spPr>
          <a:xfrm>
            <a:off x="1788221" y="4628996"/>
            <a:ext cx="10071059" cy="2812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GRU memproses hidden state </a:t>
            </a:r>
            <a:r>
              <a:rPr lang="en-US" sz="1400" dirty="0" err="1"/>
              <a:t>secara</a:t>
            </a:r>
            <a:r>
              <a:rPr lang="en-US" sz="1400" dirty="0"/>
              <a:t> </a:t>
            </a:r>
            <a:r>
              <a:rPr lang="en-US" sz="1400" dirty="0" err="1"/>
              <a:t>diskrit</a:t>
            </a:r>
            <a:r>
              <a:rPr lang="en-US" sz="1400" dirty="0"/>
              <a:t>. Model ini secara implisit mengasumsikan jarak antar </a:t>
            </a:r>
            <a:r>
              <a:rPr lang="en-US" sz="1400" dirty="0" err="1"/>
              <a:t>observasi</a:t>
            </a:r>
            <a:r>
              <a:rPr lang="en-US" sz="1400" dirty="0"/>
              <a:t> </a:t>
            </a:r>
            <a:r>
              <a:rPr lang="en-US" sz="1400" dirty="0" err="1"/>
              <a:t>sama</a:t>
            </a:r>
            <a:r>
              <a:rPr lang="en-US" sz="1400" dirty="0"/>
              <a:t>.</a:t>
            </a: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BE53F52F-4D16-4BE9-0F61-64035CCF0797}"/>
              </a:ext>
            </a:extLst>
          </p:cNvPr>
          <p:cNvSpPr/>
          <p:nvPr/>
        </p:nvSpPr>
        <p:spPr>
          <a:xfrm>
            <a:off x="2336313" y="5020151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6BA8"/>
                </a:solidFill>
              </a:rPr>
              <a:t>t₁</a:t>
            </a:r>
            <a:endParaRPr lang="en-US" sz="14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AD369F98-660F-2352-F50C-B6BA5539C3C1}"/>
              </a:ext>
            </a:extLst>
          </p:cNvPr>
          <p:cNvSpPr/>
          <p:nvPr/>
        </p:nvSpPr>
        <p:spPr>
          <a:xfrm>
            <a:off x="2839233" y="5184743"/>
            <a:ext cx="137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17BDCF41-C43D-3A0A-2623-A1CA81498808}"/>
              </a:ext>
            </a:extLst>
          </p:cNvPr>
          <p:cNvSpPr/>
          <p:nvPr/>
        </p:nvSpPr>
        <p:spPr>
          <a:xfrm>
            <a:off x="4347993" y="5020151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6BA8"/>
                </a:solidFill>
              </a:rPr>
              <a:t>t₂</a:t>
            </a:r>
            <a:endParaRPr lang="en-US" sz="140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A8F356F6-5E98-EE15-B97F-A539B42FFAF1}"/>
              </a:ext>
            </a:extLst>
          </p:cNvPr>
          <p:cNvSpPr/>
          <p:nvPr/>
        </p:nvSpPr>
        <p:spPr>
          <a:xfrm>
            <a:off x="4850913" y="5184743"/>
            <a:ext cx="137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E723D840-7431-F016-D179-35387EBDE1CC}"/>
              </a:ext>
            </a:extLst>
          </p:cNvPr>
          <p:cNvSpPr/>
          <p:nvPr/>
        </p:nvSpPr>
        <p:spPr>
          <a:xfrm>
            <a:off x="6359673" y="5020151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6BA8"/>
                </a:solidFill>
              </a:rPr>
              <a:t>t₃</a:t>
            </a:r>
            <a:endParaRPr lang="en-US" sz="1400" dirty="0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1906EA2C-7D53-69BE-BF06-5CF7F2CBAF5E}"/>
              </a:ext>
            </a:extLst>
          </p:cNvPr>
          <p:cNvSpPr/>
          <p:nvPr/>
        </p:nvSpPr>
        <p:spPr>
          <a:xfrm>
            <a:off x="6862593" y="5184743"/>
            <a:ext cx="137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78CD13B0-5C85-E9C8-EAAB-DFFAE2EF11BF}"/>
              </a:ext>
            </a:extLst>
          </p:cNvPr>
          <p:cNvSpPr/>
          <p:nvPr/>
        </p:nvSpPr>
        <p:spPr>
          <a:xfrm>
            <a:off x="8371353" y="5020151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6BA8"/>
                </a:solidFill>
              </a:rPr>
              <a:t>t₄</a:t>
            </a:r>
            <a:endParaRPr lang="en-US" sz="1400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610AA658-6317-EAD4-D29E-2302F0ADDE81}"/>
              </a:ext>
            </a:extLst>
          </p:cNvPr>
          <p:cNvSpPr/>
          <p:nvPr/>
        </p:nvSpPr>
        <p:spPr>
          <a:xfrm>
            <a:off x="8874273" y="5184743"/>
            <a:ext cx="137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0FE7FF72-530C-0E68-4B9A-8A541E8EE405}"/>
              </a:ext>
            </a:extLst>
          </p:cNvPr>
          <p:cNvSpPr/>
          <p:nvPr/>
        </p:nvSpPr>
        <p:spPr>
          <a:xfrm>
            <a:off x="10383033" y="5020151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6BA8"/>
                </a:solidFill>
              </a:rPr>
              <a:t>t₅</a:t>
            </a:r>
            <a:endParaRPr lang="en-US" sz="14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FDC4F449-51C9-7401-9390-83EB99E3BCC6}"/>
              </a:ext>
            </a:extLst>
          </p:cNvPr>
          <p:cNvSpPr/>
          <p:nvPr/>
        </p:nvSpPr>
        <p:spPr>
          <a:xfrm>
            <a:off x="5052733" y="5537669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/>
              <a:t>Asumsi interval sama</a:t>
            </a:r>
            <a:endParaRPr lang="en-US" sz="13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4DF394-FD3D-EC11-47AE-722183E4C4D2}"/>
              </a:ext>
            </a:extLst>
          </p:cNvPr>
          <p:cNvSpPr/>
          <p:nvPr/>
        </p:nvSpPr>
        <p:spPr>
          <a:xfrm>
            <a:off x="1756931" y="4122365"/>
            <a:ext cx="10191600" cy="406362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/>
              <a:t>Bottleneck?</a:t>
            </a: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05383E3B-BADD-0D6E-AEFA-33A60596F343}"/>
              </a:ext>
            </a:extLst>
          </p:cNvPr>
          <p:cNvSpPr/>
          <p:nvPr/>
        </p:nvSpPr>
        <p:spPr>
          <a:xfrm>
            <a:off x="1771146" y="5916498"/>
            <a:ext cx="10040585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Masalah: observasi intraday LQ45 memiliki gap waktu yang </a:t>
            </a:r>
            <a:r>
              <a:rPr lang="en-US" sz="1400" b="1" dirty="0" err="1">
                <a:solidFill>
                  <a:srgbClr val="1F2937"/>
                </a:solidFill>
              </a:rPr>
              <a:t>berbeda-beda</a:t>
            </a:r>
            <a:r>
              <a:rPr lang="en-US" sz="1400" b="1" dirty="0">
                <a:solidFill>
                  <a:srgbClr val="1F2937"/>
                </a:solidFill>
              </a:rPr>
              <a:t>. Hal </a:t>
            </a:r>
            <a:r>
              <a:rPr lang="en-US" sz="1400" b="1" dirty="0" err="1">
                <a:solidFill>
                  <a:srgbClr val="1F2937"/>
                </a:solidFill>
              </a:rPr>
              <a:t>ini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merupakan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b="1" dirty="0" err="1">
                <a:solidFill>
                  <a:srgbClr val="1F2937"/>
                </a:solidFill>
              </a:rPr>
              <a:t>penyederhanaan</a:t>
            </a:r>
            <a:r>
              <a:rPr lang="en-US" sz="1400" b="1" dirty="0">
                <a:solidFill>
                  <a:srgbClr val="1F2937"/>
                </a:solidFill>
              </a:rPr>
              <a:t> yang </a:t>
            </a:r>
            <a:r>
              <a:rPr lang="en-US" sz="1400" b="1" dirty="0" err="1">
                <a:solidFill>
                  <a:srgbClr val="1F2937"/>
                </a:solidFill>
              </a:rPr>
              <a:t>signifikan</a:t>
            </a:r>
            <a:r>
              <a:rPr lang="en-US" sz="1400" b="1" dirty="0">
                <a:solidFill>
                  <a:srgbClr val="1F2937"/>
                </a:solidFill>
              </a:rPr>
              <a:t>.</a:t>
            </a:r>
            <a:endParaRPr lang="en-US" sz="1400" b="1" dirty="0"/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6997B415-A0F1-4F82-858D-16E0A6CC82CE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77" name="Rectangle 3">
            <a:extLst>
              <a:ext uri="{FF2B5EF4-FFF2-40B4-BE49-F238E27FC236}">
                <a16:creationId xmlns:a16="http://schemas.microsoft.com/office/drawing/2014/main" id="{3EA214E7-F95C-0F98-12D3-FB4652A177E3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2BA9892D-02E2-2054-5C5E-1A159B90898E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83" name="Rectangle 3">
            <a:extLst>
              <a:ext uri="{FF2B5EF4-FFF2-40B4-BE49-F238E27FC236}">
                <a16:creationId xmlns:a16="http://schemas.microsoft.com/office/drawing/2014/main" id="{FBBE3AA4-D852-F005-C226-4DC888C11F83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id="{4D6A246E-B9DB-0FFD-F475-E0B295F1A66E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94" name="Rectangle 3">
            <a:extLst>
              <a:ext uri="{FF2B5EF4-FFF2-40B4-BE49-F238E27FC236}">
                <a16:creationId xmlns:a16="http://schemas.microsoft.com/office/drawing/2014/main" id="{5EE98107-CC47-C783-1930-E27190AE81D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100" name="Rectangle 3">
            <a:extLst>
              <a:ext uri="{FF2B5EF4-FFF2-40B4-BE49-F238E27FC236}">
                <a16:creationId xmlns:a16="http://schemas.microsoft.com/office/drawing/2014/main" id="{3CEEA581-22D8-9350-FE2E-3209B1AB871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47179EDE-CC16-E1DE-5EF6-50D2AD361DB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7437A6B-D887-3DC6-049A-6C949F97FD36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AEE3534-A30C-51DC-5E50-C071BE5AD9DD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872C19F-1D34-F9C4-68C9-499803ADB4A7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14E536F-38C3-6146-4227-BB83EF9F7AD9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D9E5BFB-7EFE-818C-53D5-A0E55A96994B}"/>
              </a:ext>
            </a:extLst>
          </p:cNvPr>
          <p:cNvSpPr/>
          <p:nvPr/>
        </p:nvSpPr>
        <p:spPr>
          <a:xfrm>
            <a:off x="111779" y="2950954"/>
            <a:ext cx="1528712" cy="286024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DFC74020-C084-E62F-19F6-756948FF4746}"/>
                  </a:ext>
                </a:extLst>
              </p:cNvPr>
              <p:cNvSpPr txBox="1"/>
              <p:nvPr/>
            </p:nvSpPr>
            <p:spPr>
              <a:xfrm>
                <a:off x="3317089" y="5257957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F0502020204030204" pitchFamily="18" charset="0"/>
                          <a:ea typeface="Cambria Math" panose="020F0502020204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F0502020204030204" pitchFamily="18" charset="0"/>
                          <a:ea typeface="Cambria Math" panose="020F0502020204030204" pitchFamily="18" charset="0"/>
                        </a:rPr>
                        <m:t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DFC74020-C084-E62F-19F6-756948FF4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089" y="5257957"/>
                <a:ext cx="262892" cy="276999"/>
              </a:xfrm>
              <a:prstGeom prst="rect">
                <a:avLst/>
              </a:prstGeom>
              <a:blipFill>
                <a:blip r:embed="rId24"/>
                <a:stretch>
                  <a:fillRect l="-20930" r="-2325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D55B27A-BA04-DB44-A9A6-FC3BF7BA60F8}"/>
                  </a:ext>
                </a:extLst>
              </p:cNvPr>
              <p:cNvSpPr txBox="1"/>
              <p:nvPr/>
            </p:nvSpPr>
            <p:spPr>
              <a:xfrm>
                <a:off x="5367700" y="5237009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F0502020204030204" pitchFamily="18" charset="0"/>
                          <a:ea typeface="Cambria Math" panose="020F0502020204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F0502020204030204" pitchFamily="18" charset="0"/>
                          <a:ea typeface="Cambria Math" panose="020F0502020204030204" pitchFamily="18" charset="0"/>
                        </a:rPr>
                        <m:t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D55B27A-BA04-DB44-A9A6-FC3BF7BA6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700" y="5237009"/>
                <a:ext cx="262892" cy="276999"/>
              </a:xfrm>
              <a:prstGeom prst="rect">
                <a:avLst/>
              </a:prstGeom>
              <a:blipFill>
                <a:blip r:embed="rId25"/>
                <a:stretch>
                  <a:fillRect l="-23256" r="-2093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675EF2A-BF18-8AFB-462A-CD5C61B6E36C}"/>
                  </a:ext>
                </a:extLst>
              </p:cNvPr>
              <p:cNvSpPr txBox="1"/>
              <p:nvPr/>
            </p:nvSpPr>
            <p:spPr>
              <a:xfrm>
                <a:off x="7410488" y="5222707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F0502020204030204" pitchFamily="18" charset="0"/>
                          <a:ea typeface="Cambria Math" panose="020F0502020204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F0502020204030204" pitchFamily="18" charset="0"/>
                          <a:ea typeface="Cambria Math" panose="020F0502020204030204" pitchFamily="18" charset="0"/>
                        </a:rPr>
                        <m:t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675EF2A-BF18-8AFB-462A-CD5C61B6E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488" y="5222707"/>
                <a:ext cx="262892" cy="276999"/>
              </a:xfrm>
              <a:prstGeom prst="rect">
                <a:avLst/>
              </a:prstGeom>
              <a:blipFill>
                <a:blip r:embed="rId26"/>
                <a:stretch>
                  <a:fillRect l="-23256" r="-2093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1A91270-CCCC-D9AC-5317-FFE12DFCEDB8}"/>
                  </a:ext>
                </a:extLst>
              </p:cNvPr>
              <p:cNvSpPr txBox="1"/>
              <p:nvPr/>
            </p:nvSpPr>
            <p:spPr>
              <a:xfrm>
                <a:off x="9376792" y="5235758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F0502020204030204" pitchFamily="18" charset="0"/>
                          <a:ea typeface="Cambria Math" panose="020F0502020204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F0502020204030204" pitchFamily="18" charset="0"/>
                          <a:ea typeface="Cambria Math" panose="020F0502020204030204" pitchFamily="18" charset="0"/>
                        </a:rPr>
                        <m:t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1A91270-CCCC-D9AC-5317-FFE12DFCE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792" y="5235758"/>
                <a:ext cx="262892" cy="276999"/>
              </a:xfrm>
              <a:prstGeom prst="rect">
                <a:avLst/>
              </a:prstGeom>
              <a:blipFill>
                <a:blip r:embed="rId27"/>
                <a:stretch>
                  <a:fillRect l="-20930" r="-2325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54F0A864-7600-87EC-2BFE-CE6FF31C92D8}"/>
              </a:ext>
            </a:extLst>
          </p:cNvPr>
          <p:cNvSpPr txBox="1"/>
          <p:nvPr/>
        </p:nvSpPr>
        <p:spPr>
          <a:xfrm>
            <a:off x="1756930" y="1923922"/>
            <a:ext cx="102228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cs typeface="Arial" panose="020B0604020202020204" pitchFamily="34" charset="0"/>
              </a:rPr>
              <a:t>GRU </a:t>
            </a:r>
            <a:r>
              <a:rPr lang="en-ID" sz="1400" dirty="0" err="1">
                <a:cs typeface="Arial" panose="020B0604020202020204" pitchFamily="34" charset="0"/>
              </a:rPr>
              <a:t>dirancang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untuk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mengatasi</a:t>
            </a:r>
            <a:r>
              <a:rPr lang="en-ID" sz="1400" dirty="0">
                <a:cs typeface="Arial" panose="020B0604020202020204" pitchFamily="34" charset="0"/>
              </a:rPr>
              <a:t> vanishing gradient yang </a:t>
            </a:r>
            <a:r>
              <a:rPr lang="en-ID" sz="1400" dirty="0" err="1">
                <a:cs typeface="Arial" panose="020B0604020202020204" pitchFamily="34" charset="0"/>
              </a:rPr>
              <a:t>kerap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terjadi</a:t>
            </a:r>
            <a:r>
              <a:rPr lang="en-ID" sz="1400" dirty="0">
                <a:cs typeface="Arial" panose="020B0604020202020204" pitchFamily="34" charset="0"/>
              </a:rPr>
              <a:t> pada model RNN Ketika </a:t>
            </a:r>
            <a:r>
              <a:rPr lang="en-ID" sz="1400" dirty="0" err="1">
                <a:cs typeface="Arial" panose="020B0604020202020204" pitchFamily="34" charset="0"/>
              </a:rPr>
              <a:t>memproses</a:t>
            </a:r>
            <a:r>
              <a:rPr lang="en-ID" sz="1400" dirty="0">
                <a:cs typeface="Arial" panose="020B0604020202020204" pitchFamily="34" charset="0"/>
              </a:rPr>
              <a:t> data </a:t>
            </a:r>
            <a:r>
              <a:rPr lang="en-ID" sz="1400" dirty="0" err="1">
                <a:cs typeface="Arial" panose="020B0604020202020204" pitchFamily="34" charset="0"/>
              </a:rPr>
              <a:t>sekuensial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dengan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dependensi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jangka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panjang</a:t>
            </a:r>
            <a:r>
              <a:rPr lang="en-ID" sz="1400" dirty="0"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951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40A28-972F-FABF-B2FD-ADF3EC0BA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2DEED49-E851-C214-83C3-C6B9A40DFFF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5466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B5F4F8-5ED7-172C-4159-9CF82573CA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932CEF24-2CA1-F535-1C4D-F24AE3F4E054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23FE7-BA11-050B-C522-3D0D9C9C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9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AAE128-9D2A-B984-8B71-8F2D0EC959F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6CA617C-6BD5-20BE-5DDD-EE538595DE0B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6EF17746-057B-4F8B-E524-6F21C575A779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Pendahuluan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Neural ODE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E4B8C74-2A87-9083-E262-0EA26853F97A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13AD55F-6667-6F2E-E8BB-60A1FC2D62EA}"/>
              </a:ext>
            </a:extLst>
          </p:cNvPr>
          <p:cNvSpPr/>
          <p:nvPr/>
        </p:nvSpPr>
        <p:spPr>
          <a:xfrm>
            <a:off x="1736052" y="1511811"/>
            <a:ext cx="10173947" cy="34399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/>
              <a:t>Neural Ordinary Differential Equation</a:t>
            </a:r>
            <a:endParaRPr lang="en-ID" sz="2000" dirty="0"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E8A43-FB7D-492A-AD0D-51C048AC446B}"/>
              </a:ext>
            </a:extLst>
          </p:cNvPr>
          <p:cNvSpPr txBox="1"/>
          <p:nvPr/>
        </p:nvSpPr>
        <p:spPr>
          <a:xfrm>
            <a:off x="6990908" y="2020709"/>
            <a:ext cx="49681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600" dirty="0" err="1">
                <a:solidFill>
                  <a:srgbClr val="1F2937"/>
                </a:solidFill>
              </a:rPr>
              <a:t>Diperkenalkan</a:t>
            </a:r>
            <a:r>
              <a:rPr lang="en-US" sz="1600" dirty="0">
                <a:solidFill>
                  <a:srgbClr val="1F2937"/>
                </a:solidFill>
              </a:rPr>
              <a:t> oleh Chen et. al. (2018), Neural ODE </a:t>
            </a:r>
            <a:r>
              <a:rPr lang="en-US" sz="1600" dirty="0" err="1">
                <a:solidFill>
                  <a:srgbClr val="1F2937"/>
                </a:solidFill>
              </a:rPr>
              <a:t>memodelkan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dirty="0" err="1">
                <a:solidFill>
                  <a:srgbClr val="1F2937"/>
                </a:solidFill>
              </a:rPr>
              <a:t>evolusi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i="1" dirty="0">
                <a:solidFill>
                  <a:srgbClr val="1F2937"/>
                </a:solidFill>
              </a:rPr>
              <a:t>hidden state </a:t>
            </a:r>
            <a:r>
              <a:rPr lang="en-US" sz="1600" dirty="0" err="1">
                <a:solidFill>
                  <a:srgbClr val="1F2937"/>
                </a:solidFill>
              </a:rPr>
              <a:t>secara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dirty="0" err="1">
                <a:solidFill>
                  <a:srgbClr val="1F2937"/>
                </a:solidFill>
              </a:rPr>
              <a:t>kontinu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dirty="0" err="1">
                <a:solidFill>
                  <a:srgbClr val="1F2937"/>
                </a:solidFill>
              </a:rPr>
              <a:t>dengan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dirty="0" err="1">
                <a:solidFill>
                  <a:srgbClr val="1F2937"/>
                </a:solidFill>
              </a:rPr>
              <a:t>memparameterisasi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dirty="0" err="1">
                <a:solidFill>
                  <a:srgbClr val="1F2937"/>
                </a:solidFill>
              </a:rPr>
              <a:t>derivatifnya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dirty="0" err="1">
                <a:solidFill>
                  <a:srgbClr val="1F2937"/>
                </a:solidFill>
              </a:rPr>
              <a:t>menggunakan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i="1" dirty="0">
                <a:solidFill>
                  <a:srgbClr val="1F2937"/>
                </a:solidFill>
              </a:rPr>
              <a:t>neural network.</a:t>
            </a:r>
            <a:endParaRPr lang="en-US" sz="16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AA646B-FD5E-B42A-5267-AF0B95D74E3F}"/>
              </a:ext>
            </a:extLst>
          </p:cNvPr>
          <p:cNvSpPr txBox="1"/>
          <p:nvPr/>
        </p:nvSpPr>
        <p:spPr>
          <a:xfrm>
            <a:off x="7052131" y="3097927"/>
            <a:ext cx="4822609" cy="49244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1F2937"/>
                </a:solidFill>
              </a:rPr>
              <a:t>Hidden state </a:t>
            </a:r>
            <a:r>
              <a:rPr lang="en-US" sz="1300" dirty="0" err="1">
                <a:solidFill>
                  <a:srgbClr val="1F2937"/>
                </a:solidFill>
              </a:rPr>
              <a:t>tidak</a:t>
            </a:r>
            <a:r>
              <a:rPr lang="en-US" sz="1300" dirty="0">
                <a:solidFill>
                  <a:srgbClr val="1F2937"/>
                </a:solidFill>
              </a:rPr>
              <a:t> </a:t>
            </a:r>
            <a:r>
              <a:rPr lang="en-US" sz="1300" dirty="0" err="1">
                <a:solidFill>
                  <a:srgbClr val="1F2937"/>
                </a:solidFill>
              </a:rPr>
              <a:t>hanya</a:t>
            </a:r>
            <a:r>
              <a:rPr lang="en-US" sz="1300" dirty="0">
                <a:solidFill>
                  <a:srgbClr val="1F2937"/>
                </a:solidFill>
              </a:rPr>
              <a:t> </a:t>
            </a:r>
            <a:r>
              <a:rPr lang="en-US" sz="1300" dirty="0" err="1">
                <a:solidFill>
                  <a:srgbClr val="1F2937"/>
                </a:solidFill>
              </a:rPr>
              <a:t>berubah</a:t>
            </a:r>
            <a:r>
              <a:rPr lang="en-US" sz="1300" dirty="0">
                <a:solidFill>
                  <a:srgbClr val="1F2937"/>
                </a:solidFill>
              </a:rPr>
              <a:t> pada </a:t>
            </a:r>
            <a:r>
              <a:rPr lang="en-US" sz="1300" dirty="0" err="1">
                <a:solidFill>
                  <a:srgbClr val="1F2937"/>
                </a:solidFill>
              </a:rPr>
              <a:t>titik</a:t>
            </a:r>
            <a:r>
              <a:rPr lang="en-US" sz="1300" dirty="0">
                <a:solidFill>
                  <a:srgbClr val="1F2937"/>
                </a:solidFill>
              </a:rPr>
              <a:t> </a:t>
            </a:r>
            <a:r>
              <a:rPr lang="en-US" sz="1300" dirty="0" err="1">
                <a:solidFill>
                  <a:srgbClr val="1F2937"/>
                </a:solidFill>
              </a:rPr>
              <a:t>waktu</a:t>
            </a:r>
            <a:r>
              <a:rPr lang="en-US" sz="1300" dirty="0">
                <a:solidFill>
                  <a:srgbClr val="1F2937"/>
                </a:solidFill>
              </a:rPr>
              <a:t> </a:t>
            </a:r>
            <a:r>
              <a:rPr lang="en-US" sz="1300" dirty="0" err="1">
                <a:solidFill>
                  <a:srgbClr val="1F2937"/>
                </a:solidFill>
              </a:rPr>
              <a:t>tetap</a:t>
            </a:r>
            <a:r>
              <a:rPr lang="en-US" sz="1300" dirty="0">
                <a:solidFill>
                  <a:srgbClr val="1F2937"/>
                </a:solidFill>
              </a:rPr>
              <a:t>, </a:t>
            </a:r>
            <a:r>
              <a:rPr lang="en-US" sz="1300" dirty="0" err="1">
                <a:solidFill>
                  <a:srgbClr val="1F2937"/>
                </a:solidFill>
              </a:rPr>
              <a:t>tapi</a:t>
            </a:r>
            <a:r>
              <a:rPr lang="en-US" sz="1300" dirty="0">
                <a:solidFill>
                  <a:srgbClr val="1F2937"/>
                </a:solidFill>
              </a:rPr>
              <a:t> NODE </a:t>
            </a:r>
            <a:r>
              <a:rPr lang="en-US" sz="1300" dirty="0" err="1">
                <a:solidFill>
                  <a:srgbClr val="1F2937"/>
                </a:solidFill>
              </a:rPr>
              <a:t>belajar</a:t>
            </a:r>
            <a:r>
              <a:rPr lang="en-US" sz="1300" dirty="0">
                <a:solidFill>
                  <a:srgbClr val="1F2937"/>
                </a:solidFill>
              </a:rPr>
              <a:t> </a:t>
            </a:r>
            <a:r>
              <a:rPr lang="en-US" sz="1300" dirty="0" err="1">
                <a:solidFill>
                  <a:srgbClr val="1F2937"/>
                </a:solidFill>
              </a:rPr>
              <a:t>bagaimana</a:t>
            </a:r>
            <a:r>
              <a:rPr lang="en-US" sz="1300" dirty="0">
                <a:solidFill>
                  <a:srgbClr val="1F2937"/>
                </a:solidFill>
              </a:rPr>
              <a:t> </a:t>
            </a:r>
            <a:r>
              <a:rPr lang="en-US" sz="1300" i="1" dirty="0">
                <a:solidFill>
                  <a:srgbClr val="1F2937"/>
                </a:solidFill>
              </a:rPr>
              <a:t>hidden state</a:t>
            </a:r>
            <a:r>
              <a:rPr lang="en-US" sz="1300" dirty="0">
                <a:solidFill>
                  <a:srgbClr val="1F2937"/>
                </a:solidFill>
              </a:rPr>
              <a:t> </a:t>
            </a:r>
            <a:r>
              <a:rPr lang="en-US" sz="1300" dirty="0" err="1">
                <a:solidFill>
                  <a:srgbClr val="1F2937"/>
                </a:solidFill>
              </a:rPr>
              <a:t>berubah</a:t>
            </a:r>
            <a:r>
              <a:rPr lang="en-US" sz="1300" dirty="0">
                <a:solidFill>
                  <a:srgbClr val="1F2937"/>
                </a:solidFill>
              </a:rPr>
              <a:t> </a:t>
            </a:r>
            <a:r>
              <a:rPr lang="en-US" sz="1300" dirty="0" err="1">
                <a:solidFill>
                  <a:srgbClr val="1F2937"/>
                </a:solidFill>
              </a:rPr>
              <a:t>sepanjang</a:t>
            </a:r>
            <a:r>
              <a:rPr lang="en-US" sz="1300" dirty="0">
                <a:solidFill>
                  <a:srgbClr val="1F2937"/>
                </a:solidFill>
              </a:rPr>
              <a:t> </a:t>
            </a:r>
            <a:r>
              <a:rPr lang="en-US" sz="1300" dirty="0" err="1">
                <a:solidFill>
                  <a:srgbClr val="1F2937"/>
                </a:solidFill>
              </a:rPr>
              <a:t>waktu</a:t>
            </a:r>
            <a:r>
              <a:rPr lang="en-US" sz="1300" dirty="0">
                <a:solidFill>
                  <a:srgbClr val="1F2937"/>
                </a:solidFill>
              </a:rPr>
              <a:t>.</a:t>
            </a:r>
            <a:endParaRPr lang="en-ID" sz="13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32F51D3-AF76-249F-542E-6307F25129D2}"/>
              </a:ext>
            </a:extLst>
          </p:cNvPr>
          <p:cNvSpPr/>
          <p:nvPr/>
        </p:nvSpPr>
        <p:spPr>
          <a:xfrm>
            <a:off x="1732615" y="4179849"/>
            <a:ext cx="1017738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>
                <a:solidFill>
                  <a:srgbClr val="1F2937"/>
                </a:solidFill>
              </a:rPr>
              <a:t>Irregular time-series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dirty="0" err="1">
                <a:solidFill>
                  <a:srgbClr val="1F2937"/>
                </a:solidFill>
              </a:rPr>
              <a:t>memiliki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dirty="0" err="1">
                <a:solidFill>
                  <a:srgbClr val="1F2937"/>
                </a:solidFill>
              </a:rPr>
              <a:t>Δt</a:t>
            </a:r>
            <a:r>
              <a:rPr lang="en-US" sz="1600" dirty="0">
                <a:solidFill>
                  <a:srgbClr val="1F2937"/>
                </a:solidFill>
              </a:rPr>
              <a:t> yang bervariasi. Neural ODE </a:t>
            </a:r>
            <a:r>
              <a:rPr lang="en-US" sz="1600" dirty="0" err="1"/>
              <a:t>mendefinisikan</a:t>
            </a:r>
            <a:r>
              <a:rPr lang="en-US" sz="1600" dirty="0"/>
              <a:t> hidden state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fungsi</a:t>
            </a:r>
            <a:r>
              <a:rPr lang="en-US" sz="1600" dirty="0"/>
              <a:t> </a:t>
            </a:r>
            <a:r>
              <a:rPr lang="en-US" sz="1600" dirty="0" err="1"/>
              <a:t>kontinu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waktu</a:t>
            </a:r>
            <a:r>
              <a:rPr lang="en-US" sz="1600" dirty="0"/>
              <a:t> yang </a:t>
            </a:r>
            <a:r>
              <a:rPr lang="en-US" sz="1600" dirty="0" err="1"/>
              <a:t>diaproksimasi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dirty="0" err="1"/>
              <a:t>numerik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ODE,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dirty="0" err="1"/>
              <a:t>alami</a:t>
            </a:r>
            <a:r>
              <a:rPr lang="en-US" sz="1600" dirty="0"/>
              <a:t> </a:t>
            </a:r>
            <a:r>
              <a:rPr lang="en-US" sz="1600" dirty="0" err="1"/>
              <a:t>menangani</a:t>
            </a:r>
            <a:r>
              <a:rPr lang="en-US" sz="1600" dirty="0"/>
              <a:t> interval </a:t>
            </a:r>
            <a:r>
              <a:rPr lang="en-US" sz="1600" dirty="0" err="1"/>
              <a:t>waktu</a:t>
            </a:r>
            <a:r>
              <a:rPr lang="en-US" sz="1600" dirty="0"/>
              <a:t> yang irregular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D62F4-4E9D-ED85-2FE3-8A182DEEBE20}"/>
              </a:ext>
            </a:extLst>
          </p:cNvPr>
          <p:cNvSpPr/>
          <p:nvPr/>
        </p:nvSpPr>
        <p:spPr>
          <a:xfrm>
            <a:off x="1718400" y="3691359"/>
            <a:ext cx="10173947" cy="34399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Neural ODE </a:t>
            </a:r>
            <a:r>
              <a:rPr lang="en-US" sz="2000" dirty="0" err="1"/>
              <a:t>menjawab</a:t>
            </a:r>
            <a:r>
              <a:rPr lang="en-US" sz="2000" dirty="0"/>
              <a:t> </a:t>
            </a:r>
            <a:r>
              <a:rPr lang="en-US" sz="2000" i="1" dirty="0"/>
              <a:t>bottleneck</a:t>
            </a:r>
            <a:r>
              <a:rPr lang="en-US" sz="2000" dirty="0"/>
              <a:t> pada GRU</a:t>
            </a:r>
            <a:endParaRPr lang="en-ID" sz="20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487EF6C-DE4C-5AFA-242D-F5BB355693C6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426EC7D-E74E-FF41-3473-B1D95629B74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87E86883-85D0-B788-6773-499659A32E0A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C6AD3B3F-F3E8-7F86-56AC-D377167FF336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15BF295-CF93-D9AC-C4EB-9161081695E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10565E9E-4ED8-577F-691C-8A8039A53B11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6F087CC-B5EE-4603-9338-EC397118D6D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EA70A714-8183-7CA3-9C04-DD9DD5A8BB90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712ADB-4FAF-6D14-3D7B-4FF12532136C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D8CCB9-68CD-0394-AC34-45F64D10BB30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901010-802D-F656-8181-FAB4CF97228B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36FD77-0EA3-CA21-2F0C-CDE644699BFF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957C59-C0C7-3E99-7D15-A7C08B1044CD}"/>
              </a:ext>
            </a:extLst>
          </p:cNvPr>
          <p:cNvSpPr/>
          <p:nvPr/>
        </p:nvSpPr>
        <p:spPr>
          <a:xfrm>
            <a:off x="111779" y="2950954"/>
            <a:ext cx="1528712" cy="286024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5948186-D933-3B6D-A8FE-835CC151BC7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67092" y="2222648"/>
            <a:ext cx="2809954" cy="119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24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2284E-EA68-C739-1C51-A6ADA884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8DBD02-EF11-937A-1185-4CB5D415A65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DEED49-E851-C214-83C3-C6B9A40DFF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AAEFA905-1E6A-85E1-80B1-E1768C3A7237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47ED2-2CAB-041C-8399-FB08F2E8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10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509E39-09D8-3F7C-ED57-CE2C78A7545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514992E-451D-BC52-58D7-4AF8515597ED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89A0FF5A-2F69-6A26-23AF-D597A04E3FFC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Pendahuluan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ODE Solver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0C9409D-7D67-0850-920A-6A5155545967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FBAAD74-07BD-7853-396D-842FC87E01A0}"/>
              </a:ext>
            </a:extLst>
          </p:cNvPr>
          <p:cNvSpPr/>
          <p:nvPr/>
        </p:nvSpPr>
        <p:spPr>
          <a:xfrm>
            <a:off x="1831782" y="2420270"/>
            <a:ext cx="4975548" cy="34399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/>
              <a:t>Euler</a:t>
            </a:r>
            <a:endParaRPr lang="en-ID" sz="2000" dirty="0"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1A1AF0A-4662-52DD-785F-B728C4D3E28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1FC02C0-BEDD-FDFF-9CAB-71C177B6FD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85023D5-F2ED-4D63-75D5-391798684EC4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E15A8D7-0C7A-8D0D-484B-15EB978FBB8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5DE3EA5-9EE7-3478-ED65-336201078E7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D2A7B60D-042D-3A9A-94B3-E59CE98CA244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3E41C86C-EFAC-3E67-CE9E-74AB0B40CB9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C10248B9-BC48-D5FF-39E1-C53169FD9AD3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3C08E7-B670-10AC-6171-21B14CCF5F38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04426E-4073-0696-5A4C-38F3F89A391A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B2C6D2-3E0E-AA70-C473-1E4751492E02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AD573D-EFAE-4184-09F0-595D19409937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69BBB1-D25E-92F3-DE42-37EC7AADF22D}"/>
              </a:ext>
            </a:extLst>
          </p:cNvPr>
          <p:cNvSpPr/>
          <p:nvPr/>
        </p:nvSpPr>
        <p:spPr>
          <a:xfrm>
            <a:off x="111779" y="2950954"/>
            <a:ext cx="1528712" cy="286024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FA02D4-4EE2-3880-DBCF-6B7795115495}"/>
              </a:ext>
            </a:extLst>
          </p:cNvPr>
          <p:cNvSpPr/>
          <p:nvPr/>
        </p:nvSpPr>
        <p:spPr>
          <a:xfrm>
            <a:off x="7050929" y="2420270"/>
            <a:ext cx="4975548" cy="34399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/>
              <a:t>Runge </a:t>
            </a:r>
            <a:r>
              <a:rPr lang="en-ID" sz="2000" dirty="0" err="1"/>
              <a:t>Kutta</a:t>
            </a:r>
            <a:r>
              <a:rPr lang="en-ID" sz="2000" dirty="0"/>
              <a:t> Orde 4</a:t>
            </a:r>
            <a:endParaRPr lang="en-ID" sz="2000" dirty="0"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0DE350-CA84-F7EF-BE04-D1A284A2308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58794" y="3560919"/>
            <a:ext cx="2721524" cy="6745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6A8D0FD-630E-186B-D793-C9D34165677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06929" y="3024619"/>
            <a:ext cx="2721524" cy="5363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BE131DF-5EEE-BA02-BFEF-D979C39FC32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42826" y="4148494"/>
            <a:ext cx="2791753" cy="1865078"/>
          </a:xfrm>
          <a:prstGeom prst="rect">
            <a:avLst/>
          </a:prstGeom>
        </p:spPr>
      </p:pic>
      <p:sp>
        <p:nvSpPr>
          <p:cNvPr id="27" name="Text 11">
            <a:extLst>
              <a:ext uri="{FF2B5EF4-FFF2-40B4-BE49-F238E27FC236}">
                <a16:creationId xmlns:a16="http://schemas.microsoft.com/office/drawing/2014/main" id="{BD82BFB4-7F83-0A85-D359-123ED0B55187}"/>
              </a:ext>
            </a:extLst>
          </p:cNvPr>
          <p:cNvSpPr/>
          <p:nvPr/>
        </p:nvSpPr>
        <p:spPr>
          <a:xfrm>
            <a:off x="8170090" y="3771922"/>
            <a:ext cx="273722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err="1">
                <a:solidFill>
                  <a:srgbClr val="1F2937"/>
                </a:solidFill>
              </a:rPr>
              <a:t>Dengan</a:t>
            </a:r>
            <a:r>
              <a:rPr lang="en-US" sz="1400" dirty="0">
                <a:solidFill>
                  <a:srgbClr val="1F2937"/>
                </a:solidFill>
              </a:rPr>
              <a:t> 4 </a:t>
            </a:r>
            <a:r>
              <a:rPr lang="en-US" sz="1400" dirty="0" err="1">
                <a:solidFill>
                  <a:srgbClr val="1F2937"/>
                </a:solidFill>
              </a:rPr>
              <a:t>titik</a:t>
            </a:r>
            <a:r>
              <a:rPr lang="en-US" sz="1400" dirty="0">
                <a:solidFill>
                  <a:srgbClr val="1F2937"/>
                </a:solidFill>
              </a:rPr>
              <a:t> </a:t>
            </a:r>
            <a:r>
              <a:rPr lang="en-US" sz="1400" dirty="0" err="1">
                <a:solidFill>
                  <a:srgbClr val="1F2937"/>
                </a:solidFill>
              </a:rPr>
              <a:t>evaluasi</a:t>
            </a:r>
            <a:r>
              <a:rPr lang="en-US" sz="1400" dirty="0">
                <a:solidFill>
                  <a:srgbClr val="1F2937"/>
                </a:solidFill>
              </a:rPr>
              <a:t>:</a:t>
            </a:r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18AA57-ADEA-38AA-27A9-4CDBCE7B6C7A}"/>
              </a:ext>
            </a:extLst>
          </p:cNvPr>
          <p:cNvSpPr txBox="1"/>
          <p:nvPr/>
        </p:nvSpPr>
        <p:spPr>
          <a:xfrm>
            <a:off x="1817915" y="1445414"/>
            <a:ext cx="101701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konteks</a:t>
            </a:r>
            <a:r>
              <a:rPr lang="en-US" dirty="0"/>
              <a:t> Neural ODE,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solver ODE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numerik</a:t>
            </a:r>
            <a:r>
              <a:rPr lang="en-US" dirty="0"/>
              <a:t> un tuk </a:t>
            </a:r>
            <a:r>
              <a:rPr lang="en-US" dirty="0" err="1"/>
              <a:t>memodelkan</a:t>
            </a:r>
            <a:r>
              <a:rPr lang="en-US" dirty="0"/>
              <a:t> </a:t>
            </a:r>
            <a:r>
              <a:rPr lang="en-US" dirty="0" err="1"/>
              <a:t>evolusi</a:t>
            </a:r>
            <a:r>
              <a:rPr lang="en-US" dirty="0"/>
              <a:t> </a:t>
            </a:r>
            <a:r>
              <a:rPr lang="en-US" dirty="0" err="1"/>
              <a:t>kontinu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hidden state dan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observasi</a:t>
            </a:r>
            <a:r>
              <a:rPr lang="en-US" dirty="0"/>
              <a:t>.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digunakan</a:t>
            </a:r>
            <a:r>
              <a:rPr lang="en-US" dirty="0"/>
              <a:t> 2 ODE Solver yang </a:t>
            </a:r>
            <a:r>
              <a:rPr lang="en-US" dirty="0" err="1"/>
              <a:t>akan</a:t>
            </a:r>
            <a:r>
              <a:rPr lang="en-US" dirty="0"/>
              <a:t> di-</a:t>
            </a:r>
            <a:r>
              <a:rPr lang="en-US" i="1" dirty="0"/>
              <a:t>treat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i="1" dirty="0"/>
              <a:t>hyperparameter</a:t>
            </a:r>
            <a:r>
              <a:rPr lang="en-US" dirty="0"/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A05C2E-FBA7-7936-8212-3031413AACE8}"/>
              </a:ext>
            </a:extLst>
          </p:cNvPr>
          <p:cNvSpPr txBox="1"/>
          <p:nvPr/>
        </p:nvSpPr>
        <p:spPr>
          <a:xfrm>
            <a:off x="3014736" y="4553927"/>
            <a:ext cx="65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51B5B88-F769-A382-AE76-997C9957490D}"/>
                  </a:ext>
                </a:extLst>
              </p:cNvPr>
              <p:cNvSpPr txBox="1"/>
              <p:nvPr/>
            </p:nvSpPr>
            <p:spPr>
              <a:xfrm>
                <a:off x="1959780" y="4643867"/>
                <a:ext cx="4797089" cy="110799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F0502020204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latin typeface="Cambria Math" panose="020F0502020204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i="1">
                              <a:latin typeface="Cambria Math" panose="020F0502020204030204" pitchFamily="18" charset="0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200"/>
                        <m:t> : </m:t>
                      </m:r>
                      <m:r>
                        <m:rPr>
                          <m:nor/>
                        </m:rPr>
                        <a:rPr lang="en-US" sz="1200"/>
                        <m:t>Nilai</m:t>
                      </m:r>
                      <m:r>
                        <m:rPr>
                          <m:nor/>
                        </m:rPr>
                        <a:rPr lang="en-US" sz="1200"/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fungsi</m:t>
                      </m:r>
                      <m:r>
                        <m:rPr>
                          <m:nor/>
                        </m:rPr>
                        <a:rPr lang="en-US" sz="1200"/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pada</m:t>
                      </m:r>
                      <m:r>
                        <m:rPr>
                          <m:nor/>
                        </m:rPr>
                        <a:rPr lang="en-US" sz="1200"/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langkah</m:t>
                      </m:r>
                      <m:r>
                        <m:rPr>
                          <m:nor/>
                        </m:rPr>
                        <a:rPr lang="en-US" sz="1200"/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ke</m:t>
                      </m:r>
                      <m:r>
                        <m:rPr>
                          <m:nor/>
                        </m:rPr>
                        <a:rPr lang="en-US" sz="1200"/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n</m:t>
                      </m:r>
                    </m:oMath>
                  </m:oMathPara>
                </a14:m>
                <a:endParaRPr lang="en-US" sz="1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F0502020204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latin typeface="Cambria Math" panose="020F0502020204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i="1">
                              <a:latin typeface="Cambria Math" panose="020F0502020204030204" pitchFamily="18" charset="0"/>
                            </a:rPr>
                            <m:t>n</m:t>
                          </m:r>
                          <m:r>
                            <a:rPr lang="en-US" sz="1200" i="1">
                              <a:latin typeface="Cambria Math" panose="020F0502020204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200"/>
                        <m:t> : </m:t>
                      </m:r>
                      <m:r>
                        <m:rPr>
                          <m:nor/>
                        </m:rPr>
                        <a:rPr lang="en-US" sz="1200"/>
                        <m:t>Nilai</m:t>
                      </m:r>
                      <m:r>
                        <m:rPr>
                          <m:nor/>
                        </m:rPr>
                        <a:rPr lang="en-US" sz="1200"/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fungsi</m:t>
                      </m:r>
                      <m:r>
                        <m:rPr>
                          <m:nor/>
                        </m:rPr>
                        <a:rPr lang="en-US" sz="1200"/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pada</m:t>
                      </m:r>
                      <m:r>
                        <m:rPr>
                          <m:nor/>
                        </m:rPr>
                        <a:rPr lang="en-US" sz="1200"/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langkah</m:t>
                      </m:r>
                      <m:r>
                        <m:rPr>
                          <m:nor/>
                        </m:rPr>
                        <a:rPr lang="en-US" sz="1200"/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ke</m:t>
                      </m:r>
                      <m:r>
                        <m:rPr>
                          <m:nor/>
                        </m:rPr>
                        <a:rPr lang="en-US" sz="1200"/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n</m:t>
                      </m:r>
                      <m:r>
                        <m:rPr>
                          <m:nor/>
                        </m:rPr>
                        <a:rPr lang="en-US" sz="1200"/>
                        <m:t>+1</m:t>
                      </m:r>
                    </m:oMath>
                  </m:oMathPara>
                </a14:m>
                <a:endParaRPr lang="en-US" sz="1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/>
                        <m:t>h</m:t>
                      </m:r>
                      <m:r>
                        <m:rPr>
                          <m:nor/>
                        </m:rPr>
                        <a:rPr lang="en-US" sz="1200"/>
                        <m:t> : </m:t>
                      </m:r>
                      <m:r>
                        <m:rPr>
                          <m:nor/>
                        </m:rPr>
                        <a:rPr lang="en-US" sz="1200"/>
                        <m:t>stepsize</m:t>
                      </m:r>
                      <m:r>
                        <m:rPr>
                          <m:nor/>
                        </m:rPr>
                        <a:rPr lang="en-US" sz="1200"/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waktu</m:t>
                      </m:r>
                    </m:oMath>
                  </m:oMathPara>
                </a14:m>
                <a:endParaRPr lang="en-US" sz="12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F0502020204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1">
                            <a:latin typeface="Cambria Math" panose="020F0502020204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1200" i="1">
                            <a:latin typeface="Cambria Math" panose="020F0502020204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panose="020F0502020204030204" pitchFamily="18" charset="0"/>
                      </a:rPr>
                      <m:t>,</m:t>
                    </m:r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F0502020204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1">
                            <a:latin typeface="Cambria Math" panose="020F0502020204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1200" i="1">
                            <a:latin typeface="Cambria Math" panose="020F0502020204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latin typeface="Cambria Math" panose="020F0502020204030204" pitchFamily="18" charset="0"/>
                      </a:rPr>
                      <m:t>,</m:t>
                    </m:r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F0502020204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1">
                            <a:latin typeface="Cambria Math" panose="020F0502020204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1200" i="1">
                            <a:latin typeface="Cambria Math" panose="020F0502020204030204" pitchFamily="18" charset="0"/>
                          </a:rPr>
                          <m:t>3</m:t>
                        </m:r>
                      </m:sub>
                    </m:sSub>
                    <m:r>
                      <a:rPr lang="en-US" sz="1200" i="1">
                        <a:latin typeface="Cambria Math" panose="020F0502020204030204" pitchFamily="18" charset="0"/>
                      </a:rPr>
                      <m:t>,</m:t>
                    </m:r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F0502020204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1">
                            <a:latin typeface="Cambria Math" panose="020F0502020204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1200" i="1">
                            <a:latin typeface="Cambria Math" panose="020F0502020204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200" dirty="0"/>
                  <a:t>= </a:t>
                </a:r>
                <a:r>
                  <a:rPr lang="en-US" sz="1200" dirty="0" err="1"/>
                  <a:t>kemiringan</a:t>
                </a:r>
                <a:r>
                  <a:rPr lang="en-US" sz="1200" dirty="0"/>
                  <a:t> pada 4 </a:t>
                </a:r>
                <a:r>
                  <a:rPr lang="en-US" sz="1200" dirty="0" err="1"/>
                  <a:t>titik</a:t>
                </a:r>
                <a:r>
                  <a:rPr lang="en-US" sz="1200" dirty="0"/>
                  <a:t> </a:t>
                </a:r>
                <a:r>
                  <a:rPr lang="en-US" sz="1200" dirty="0" err="1"/>
                  <a:t>evaluasi</a:t>
                </a:r>
                <a:endParaRPr lang="en-US" sz="1200" dirty="0"/>
              </a:p>
              <a:p>
                <a:pPr algn="ctr"/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>
                        <a:latin typeface="Cambria Math" panose="020F0502020204030204" pitchFamily="18" charset="0"/>
                      </a:rPr>
                      <m:t>f</m:t>
                    </m:r>
                  </m:oMath>
                </a14:m>
                <a:r>
                  <a:rPr lang="en-US" sz="1200" dirty="0"/>
                  <a:t>= </a:t>
                </a:r>
                <a:r>
                  <a:rPr lang="en-US" sz="1200" dirty="0" err="1"/>
                  <a:t>persamaan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diferensial</a:t>
                </a:r>
                <a:endParaRPr lang="en-US" sz="12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51B5B88-F769-A382-AE76-997C99574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780" y="4643867"/>
                <a:ext cx="4797089" cy="110799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711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458FA3-5A0C-4B0F-23F5-1205CC41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5E7A7B0-40AC-FE7F-9B4A-DDAB838FC27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6048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5" imgH="405" progId="TCLayout.ActiveDocument.1">
                  <p:embed/>
                </p:oleObj>
              </mc:Choice>
              <mc:Fallback>
                <p:oleObj name="think-cell Slide" r:id="rId11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88DEB4-6DC3-EBC4-7322-9C479636C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A67BE165-1A9C-86F4-57A7-A372230D99A1}"/>
              </a:ext>
            </a:extLst>
          </p:cNvPr>
          <p:cNvSpPr/>
          <p:nvPr/>
        </p:nvSpPr>
        <p:spPr>
          <a:xfrm>
            <a:off x="1644187" y="3651077"/>
            <a:ext cx="3357413" cy="545842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6588D7-A714-BDDE-4C50-90BBF8B12D7C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6210A-C054-0F05-49EB-390A5B62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11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284379-84AC-E257-D8B6-1BC13B05F4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231BFEC6-0F7D-FD2C-0773-AD0B064FEF5E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CFC80A4E-36C4-DEA9-FCC9-508ECB6DEBE2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Pendahuluan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800" dirty="0" err="1"/>
              <a:t>Optimasi</a:t>
            </a:r>
            <a:r>
              <a:rPr lang="en-US" sz="2800" dirty="0"/>
              <a:t> Parameter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E7BAE1-BAB5-8E50-58D1-2EAE8BA0216B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95CE5E-34F3-760E-D882-AC4E5572F290}"/>
              </a:ext>
            </a:extLst>
          </p:cNvPr>
          <p:cNvSpPr txBox="1"/>
          <p:nvPr/>
        </p:nvSpPr>
        <p:spPr>
          <a:xfrm>
            <a:off x="1718400" y="1398845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Turunan</a:t>
            </a:r>
            <a:r>
              <a:rPr lang="en-ID" sz="1400" dirty="0"/>
              <a:t> Loss Function </a:t>
            </a:r>
            <a:r>
              <a:rPr lang="en-ID" sz="1400" dirty="0" err="1"/>
              <a:t>terhadap</a:t>
            </a:r>
            <a:r>
              <a:rPr lang="en-ID" sz="1400" dirty="0"/>
              <a:t> Hidden State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09D32D-1778-3154-70D8-83CD7714917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32613" y="1683076"/>
            <a:ext cx="4861917" cy="6515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F1E87D-AEE5-A1B0-09AF-431BCFD8DA94}"/>
              </a:ext>
            </a:extLst>
          </p:cNvPr>
          <p:cNvSpPr txBox="1"/>
          <p:nvPr/>
        </p:nvSpPr>
        <p:spPr>
          <a:xfrm>
            <a:off x="1732615" y="2398190"/>
            <a:ext cx="47737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Sinyal</a:t>
            </a:r>
            <a:r>
              <a:rPr lang="en-ID" sz="1400" dirty="0"/>
              <a:t> error pada </a:t>
            </a:r>
            <a:r>
              <a:rPr lang="en-ID" sz="1400" dirty="0" err="1"/>
              <a:t>tiap</a:t>
            </a:r>
            <a:r>
              <a:rPr lang="en-ID" sz="1400" dirty="0"/>
              <a:t> </a:t>
            </a:r>
            <a:r>
              <a:rPr lang="en-ID" sz="1400" dirty="0" err="1"/>
              <a:t>substep</a:t>
            </a:r>
            <a:r>
              <a:rPr lang="en-ID" sz="1400" dirty="0"/>
              <a:t> </a:t>
            </a:r>
            <a:r>
              <a:rPr lang="en-ID" sz="1400" dirty="0" err="1"/>
              <a:t>selanjutnya</a:t>
            </a:r>
            <a:r>
              <a:rPr lang="en-ID" sz="1400" dirty="0"/>
              <a:t> </a:t>
            </a:r>
            <a:r>
              <a:rPr lang="en-ID" sz="1400" dirty="0" err="1"/>
              <a:t>diperoleh</a:t>
            </a:r>
            <a:r>
              <a:rPr lang="en-ID" sz="1400" dirty="0"/>
              <a:t> </a:t>
            </a:r>
            <a:r>
              <a:rPr lang="en-ID" sz="1400" dirty="0" err="1"/>
              <a:t>melalui</a:t>
            </a:r>
            <a:r>
              <a:rPr lang="en-ID" sz="1400" dirty="0"/>
              <a:t> </a:t>
            </a:r>
            <a:r>
              <a:rPr lang="en-ID" sz="1400" dirty="0" err="1"/>
              <a:t>rekursi</a:t>
            </a:r>
            <a:r>
              <a:rPr lang="en-ID" sz="1400" dirty="0"/>
              <a:t> </a:t>
            </a:r>
            <a:r>
              <a:rPr lang="en-ID" sz="1400" dirty="0" err="1"/>
              <a:t>mundur</a:t>
            </a:r>
            <a:r>
              <a:rPr lang="en-ID" sz="1400" dirty="0"/>
              <a:t> (adjoint recursion)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A6DB2C4-F389-4D3C-EB41-A1A9DA175CC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32613" y="2942797"/>
            <a:ext cx="4876937" cy="5483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531817C-DC48-7235-BD5B-0E15C1B06752}"/>
              </a:ext>
            </a:extLst>
          </p:cNvPr>
          <p:cNvSpPr txBox="1"/>
          <p:nvPr/>
        </p:nvSpPr>
        <p:spPr>
          <a:xfrm>
            <a:off x="1718400" y="3651077"/>
            <a:ext cx="2355600" cy="527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Turunan</a:t>
            </a:r>
            <a:r>
              <a:rPr lang="en-ID" sz="1400" dirty="0"/>
              <a:t> Loss Function </a:t>
            </a:r>
            <a:r>
              <a:rPr lang="en-ID" sz="1400" dirty="0" err="1"/>
              <a:t>terhadap</a:t>
            </a:r>
            <a:r>
              <a:rPr lang="en-ID" sz="1400" dirty="0"/>
              <a:t> Parameter Gate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D03B7A2-13D5-E209-395F-9D16E5A43EC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92512" y="3619039"/>
            <a:ext cx="1181161" cy="57788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57E8533-073C-D396-E4C8-08CB00DE6084}"/>
              </a:ext>
            </a:extLst>
          </p:cNvPr>
          <p:cNvSpPr txBox="1"/>
          <p:nvPr/>
        </p:nvSpPr>
        <p:spPr>
          <a:xfrm>
            <a:off x="1581600" y="4308237"/>
            <a:ext cx="5027950" cy="31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Turunan</a:t>
            </a:r>
            <a:r>
              <a:rPr lang="en-ID" sz="1400" dirty="0"/>
              <a:t> </a:t>
            </a:r>
            <a:r>
              <a:rPr lang="en-ID" sz="1400" dirty="0" err="1"/>
              <a:t>terhadap</a:t>
            </a:r>
            <a:r>
              <a:rPr lang="en-ID" sz="1400" dirty="0"/>
              <a:t> parameter update gate </a:t>
            </a:r>
            <a:r>
              <a:rPr lang="en-ID" sz="1400" dirty="0" err="1"/>
              <a:t>Wz</a:t>
            </a:r>
            <a:r>
              <a:rPr lang="en-ID" sz="1400" dirty="0"/>
              <a:t> dan </a:t>
            </a:r>
            <a:r>
              <a:rPr lang="en-ID" sz="1400" dirty="0" err="1"/>
              <a:t>bz</a:t>
            </a:r>
            <a:endParaRPr lang="en-ID" sz="14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45417EA-12EF-6DD7-61C3-C14A38FA26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27200" y="4531678"/>
            <a:ext cx="3078000" cy="80271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67F2E51-B013-3A1C-9E03-AB70835B12AF}"/>
              </a:ext>
            </a:extLst>
          </p:cNvPr>
          <p:cNvSpPr txBox="1"/>
          <p:nvPr/>
        </p:nvSpPr>
        <p:spPr>
          <a:xfrm>
            <a:off x="1560025" y="5314322"/>
            <a:ext cx="50279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Turunan</a:t>
            </a:r>
            <a:r>
              <a:rPr lang="en-ID" sz="1400" dirty="0"/>
              <a:t> </a:t>
            </a:r>
            <a:r>
              <a:rPr lang="en-ID" sz="1400" dirty="0" err="1"/>
              <a:t>terhadap</a:t>
            </a:r>
            <a:r>
              <a:rPr lang="en-ID" sz="1400" dirty="0"/>
              <a:t> parameter candidate gate </a:t>
            </a:r>
            <a:r>
              <a:rPr lang="en-ID" sz="1400" dirty="0" err="1"/>
              <a:t>Wg</a:t>
            </a:r>
            <a:r>
              <a:rPr lang="en-ID" sz="1400" dirty="0"/>
              <a:t> dan </a:t>
            </a:r>
            <a:r>
              <a:rPr lang="en-ID" sz="1400" dirty="0" err="1"/>
              <a:t>bg</a:t>
            </a:r>
            <a:endParaRPr lang="en-ID" sz="14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27EADC35-C854-1E24-F9C4-9B91A8CFCB3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50893" y="5617800"/>
            <a:ext cx="2889078" cy="772272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CB95C10-42C0-8DC0-7343-29774E5EE64A}"/>
              </a:ext>
            </a:extLst>
          </p:cNvPr>
          <p:cNvCxnSpPr>
            <a:cxnSpLocks/>
          </p:cNvCxnSpPr>
          <p:nvPr/>
        </p:nvCxnSpPr>
        <p:spPr>
          <a:xfrm>
            <a:off x="6892185" y="1519993"/>
            <a:ext cx="0" cy="48762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21A1D367-5C0D-3597-7F3A-2D2DD8481119}"/>
              </a:ext>
            </a:extLst>
          </p:cNvPr>
          <p:cNvSpPr/>
          <p:nvPr/>
        </p:nvSpPr>
        <p:spPr>
          <a:xfrm>
            <a:off x="6722252" y="3908785"/>
            <a:ext cx="339867" cy="368301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4" name="Arrow: Chevron 63">
            <a:extLst>
              <a:ext uri="{FF2B5EF4-FFF2-40B4-BE49-F238E27FC236}">
                <a16:creationId xmlns:a16="http://schemas.microsoft.com/office/drawing/2014/main" id="{353CB5B6-69F2-A9EF-8D45-848E1DE6B0B4}"/>
              </a:ext>
            </a:extLst>
          </p:cNvPr>
          <p:cNvSpPr/>
          <p:nvPr/>
        </p:nvSpPr>
        <p:spPr>
          <a:xfrm>
            <a:off x="6807222" y="3981614"/>
            <a:ext cx="169925" cy="21124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51856E-E030-950A-ADCD-E55B3FBDF42E}"/>
              </a:ext>
            </a:extLst>
          </p:cNvPr>
          <p:cNvSpPr txBox="1"/>
          <p:nvPr/>
        </p:nvSpPr>
        <p:spPr>
          <a:xfrm>
            <a:off x="7115296" y="1515730"/>
            <a:ext cx="191830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Turunan</a:t>
            </a:r>
            <a:r>
              <a:rPr lang="en-ID" sz="1400" dirty="0"/>
              <a:t> </a:t>
            </a:r>
            <a:r>
              <a:rPr lang="en-ID" sz="1400" dirty="0" err="1"/>
              <a:t>terhadap</a:t>
            </a:r>
            <a:r>
              <a:rPr lang="en-ID" sz="1400" dirty="0"/>
              <a:t> parameter reset gate </a:t>
            </a:r>
            <a:r>
              <a:rPr lang="en-ID" sz="1400" dirty="0" err="1"/>
              <a:t>Wr</a:t>
            </a:r>
            <a:r>
              <a:rPr lang="en-ID" sz="1400" dirty="0"/>
              <a:t> dan </a:t>
            </a:r>
            <a:r>
              <a:rPr lang="en-ID" sz="1400" dirty="0" err="1"/>
              <a:t>br</a:t>
            </a:r>
            <a:endParaRPr lang="en-ID" sz="14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E85C9F12-963B-85A3-2B2F-26B4F801491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9007" y="2271041"/>
            <a:ext cx="1725576" cy="102954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7D8FCDC-D5AF-845E-22C5-420B2EE6B4FC}"/>
              </a:ext>
            </a:extLst>
          </p:cNvPr>
          <p:cNvSpPr txBox="1"/>
          <p:nvPr/>
        </p:nvSpPr>
        <p:spPr>
          <a:xfrm>
            <a:off x="9337810" y="1511445"/>
            <a:ext cx="19183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Akumulasi</a:t>
            </a:r>
            <a:r>
              <a:rPr lang="en-ID" sz="1400" dirty="0"/>
              <a:t> Gradient Lintas </a:t>
            </a:r>
            <a:r>
              <a:rPr lang="en-ID" sz="1400" dirty="0" err="1"/>
              <a:t>Substep</a:t>
            </a:r>
            <a:endParaRPr lang="en-ID" sz="14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758C799D-9D97-52F5-6D6E-82D5847C0BF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19601" y="2200530"/>
            <a:ext cx="1757698" cy="960491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F36128B7-C8F6-5199-35B2-272F5833986C}"/>
              </a:ext>
            </a:extLst>
          </p:cNvPr>
          <p:cNvSpPr txBox="1"/>
          <p:nvPr/>
        </p:nvSpPr>
        <p:spPr>
          <a:xfrm>
            <a:off x="7179827" y="4683744"/>
            <a:ext cx="1968600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ID" sz="1400" dirty="0" err="1"/>
              <a:t>Rerata</a:t>
            </a:r>
            <a:r>
              <a:rPr lang="en-ID" sz="1400" dirty="0"/>
              <a:t> </a:t>
            </a:r>
            <a:r>
              <a:rPr lang="en-ID" sz="1400" dirty="0" err="1"/>
              <a:t>Gradien</a:t>
            </a:r>
            <a:endParaRPr lang="en-ID" sz="14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499BD5BA-973C-E96D-552D-C214BE65D96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66075" y="4974683"/>
            <a:ext cx="1968601" cy="42547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988B310-3676-1C07-043C-7FBE4A31C6E4}"/>
              </a:ext>
            </a:extLst>
          </p:cNvPr>
          <p:cNvSpPr txBox="1"/>
          <p:nvPr/>
        </p:nvSpPr>
        <p:spPr>
          <a:xfrm>
            <a:off x="9522046" y="4673561"/>
            <a:ext cx="2362875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ID" sz="1400" dirty="0" err="1"/>
              <a:t>Rerata</a:t>
            </a:r>
            <a:r>
              <a:rPr lang="en-ID" sz="1400" dirty="0"/>
              <a:t> </a:t>
            </a:r>
            <a:r>
              <a:rPr lang="en-ID" sz="1400" dirty="0" err="1"/>
              <a:t>Kuadrat</a:t>
            </a:r>
            <a:r>
              <a:rPr lang="en-ID" sz="1400" dirty="0"/>
              <a:t> Gradient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A22A9CE0-06EA-87A4-69DB-0E798423AC3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84621" y="5025036"/>
            <a:ext cx="2357058" cy="353559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377A2E83-BE93-2B41-2278-5F69F7765DAC}"/>
              </a:ext>
            </a:extLst>
          </p:cNvPr>
          <p:cNvSpPr txBox="1"/>
          <p:nvPr/>
        </p:nvSpPr>
        <p:spPr>
          <a:xfrm>
            <a:off x="7180284" y="5409015"/>
            <a:ext cx="1968600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ID" sz="1400" dirty="0" err="1"/>
              <a:t>Koreksi</a:t>
            </a:r>
            <a:r>
              <a:rPr lang="en-ID" sz="1400" dirty="0"/>
              <a:t> Bias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C5D3EBA-DB6C-31A0-F829-80BBFEC1F788}"/>
              </a:ext>
            </a:extLst>
          </p:cNvPr>
          <p:cNvSpPr txBox="1"/>
          <p:nvPr/>
        </p:nvSpPr>
        <p:spPr>
          <a:xfrm>
            <a:off x="9522503" y="5398832"/>
            <a:ext cx="2362875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ID" sz="1400" dirty="0" err="1"/>
              <a:t>Pembaruan</a:t>
            </a:r>
            <a:r>
              <a:rPr lang="en-ID" sz="1400" dirty="0"/>
              <a:t> Parameter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EB351617-7964-D00E-81AC-1D288FDA153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17456" y="5699561"/>
            <a:ext cx="1873346" cy="520727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9819CE45-F0CE-09F6-2D27-5DF9BD2ECC8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54621" y="5723857"/>
            <a:ext cx="1933751" cy="521942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F92F59CC-13A3-D062-BD90-5A506C0F8867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8D93457-C793-3F5A-2527-41D45EB9D37C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D477FD1-2F97-BA25-DDFE-3C8BE9DF9F1A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F725683-4A34-2C5D-D613-C6D1DA6B4CD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70F210A6-F604-0CD4-8A5B-F7885ED08CE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603766B5-2D8E-CF4C-B779-F29F1E41DFC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3DFBB390-F222-5170-2C19-7A9DBB7ABBF4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528A50A2-D52A-E7D9-979C-14D4969EEDEF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E0A3C7-00E0-8B91-F398-8F78ECB45EDD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D0FC45-35DE-1574-19B0-0846C94E8AA7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C891B0-F8E1-94D6-41BF-DC9C84A0763C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4DEBE03-A20D-0A0E-729F-460BFD0EE921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F0013EF-E629-BA13-F6C9-900FD30E8C58}"/>
              </a:ext>
            </a:extLst>
          </p:cNvPr>
          <p:cNvSpPr/>
          <p:nvPr/>
        </p:nvSpPr>
        <p:spPr>
          <a:xfrm>
            <a:off x="111779" y="2950954"/>
            <a:ext cx="1528712" cy="286024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26B91B-FD53-4CD0-2184-EB7B0EDBD35A}"/>
              </a:ext>
            </a:extLst>
          </p:cNvPr>
          <p:cNvSpPr/>
          <p:nvPr/>
        </p:nvSpPr>
        <p:spPr>
          <a:xfrm>
            <a:off x="7189841" y="4101246"/>
            <a:ext cx="4716719" cy="34399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Optimasi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Adam</a:t>
            </a:r>
            <a:endParaRPr lang="en-ID" sz="20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36D8D4E-9493-1BEF-E423-F06CD655B5FD}"/>
              </a:ext>
            </a:extLst>
          </p:cNvPr>
          <p:cNvSpPr/>
          <p:nvPr/>
        </p:nvSpPr>
        <p:spPr>
          <a:xfrm>
            <a:off x="9224750" y="4718808"/>
            <a:ext cx="211318" cy="214228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4" name="Arrow: Chevron 73">
            <a:extLst>
              <a:ext uri="{FF2B5EF4-FFF2-40B4-BE49-F238E27FC236}">
                <a16:creationId xmlns:a16="http://schemas.microsoft.com/office/drawing/2014/main" id="{B0D51E8B-73F9-A935-64B0-B048E02BF4E5}"/>
              </a:ext>
            </a:extLst>
          </p:cNvPr>
          <p:cNvSpPr/>
          <p:nvPr/>
        </p:nvSpPr>
        <p:spPr>
          <a:xfrm>
            <a:off x="9288002" y="4762296"/>
            <a:ext cx="105654" cy="12287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32CC24B-C99D-EA7B-BE1B-C9BF25031D12}"/>
              </a:ext>
            </a:extLst>
          </p:cNvPr>
          <p:cNvSpPr/>
          <p:nvPr/>
        </p:nvSpPr>
        <p:spPr>
          <a:xfrm rot="10800000">
            <a:off x="9224750" y="5450720"/>
            <a:ext cx="211318" cy="214228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2" name="Arrow: Chevron 81">
            <a:extLst>
              <a:ext uri="{FF2B5EF4-FFF2-40B4-BE49-F238E27FC236}">
                <a16:creationId xmlns:a16="http://schemas.microsoft.com/office/drawing/2014/main" id="{FBE3594B-CF1A-2B17-B496-C5FD056B10DA}"/>
              </a:ext>
            </a:extLst>
          </p:cNvPr>
          <p:cNvSpPr/>
          <p:nvPr/>
        </p:nvSpPr>
        <p:spPr>
          <a:xfrm rot="10800000">
            <a:off x="9288002" y="5494208"/>
            <a:ext cx="105654" cy="12287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9D51AEA-5719-6AF7-5A4F-389B4BCDC08F}"/>
              </a:ext>
            </a:extLst>
          </p:cNvPr>
          <p:cNvSpPr/>
          <p:nvPr/>
        </p:nvSpPr>
        <p:spPr>
          <a:xfrm rot="5400000">
            <a:off x="11888455" y="5104739"/>
            <a:ext cx="211318" cy="214228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0" name="Arrow: Chevron 89">
            <a:extLst>
              <a:ext uri="{FF2B5EF4-FFF2-40B4-BE49-F238E27FC236}">
                <a16:creationId xmlns:a16="http://schemas.microsoft.com/office/drawing/2014/main" id="{64F17D90-BAC7-2918-28DC-6AB8F42C6688}"/>
              </a:ext>
            </a:extLst>
          </p:cNvPr>
          <p:cNvSpPr/>
          <p:nvPr/>
        </p:nvSpPr>
        <p:spPr>
          <a:xfrm rot="5400000">
            <a:off x="11951707" y="5148227"/>
            <a:ext cx="105654" cy="12287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120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78B23-74FB-75D3-6480-A4263B45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D9AE31C-4AD7-6310-BC74-8D3312C701B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E7A7B0-40AC-FE7F-9B4A-DDAB838FC2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DD563508-A041-8063-9599-8ECFED1F09E7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110E1-1E29-CABC-213D-69ECA86F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12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35A921-2E8C-9607-ED03-1066BBB1AA1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FF76190C-29EC-BE77-CAE5-213C64E04C54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B249D5B0-4CD0-C1F8-B23F-909CD79ECC90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Pendahuluan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800" dirty="0" err="1"/>
              <a:t>Optimasi</a:t>
            </a:r>
            <a:r>
              <a:rPr lang="en-US" sz="2800" dirty="0"/>
              <a:t> Parameter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A2FADDA-15D3-B7AE-3553-DC6F66BBAD84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2361C29-0CCF-E185-68B3-9648EC4D6B8D}"/>
              </a:ext>
            </a:extLst>
          </p:cNvPr>
          <p:cNvCxnSpPr>
            <a:cxnSpLocks/>
          </p:cNvCxnSpPr>
          <p:nvPr/>
        </p:nvCxnSpPr>
        <p:spPr>
          <a:xfrm>
            <a:off x="6892185" y="1519993"/>
            <a:ext cx="0" cy="48762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37278B33-493C-FF97-16FE-D7F131BF4867}"/>
              </a:ext>
            </a:extLst>
          </p:cNvPr>
          <p:cNvSpPr txBox="1"/>
          <p:nvPr/>
        </p:nvSpPr>
        <p:spPr>
          <a:xfrm>
            <a:off x="7207442" y="4776888"/>
            <a:ext cx="1968600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ID" sz="1400" dirty="0" err="1"/>
              <a:t>Rerata</a:t>
            </a:r>
            <a:r>
              <a:rPr lang="en-ID" sz="1400" dirty="0"/>
              <a:t> </a:t>
            </a:r>
            <a:r>
              <a:rPr lang="en-ID" sz="1400" dirty="0" err="1"/>
              <a:t>Gradien</a:t>
            </a:r>
            <a:endParaRPr lang="en-ID" sz="14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244EE989-22D5-D018-B281-036E40BC964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93690" y="5067827"/>
            <a:ext cx="1968601" cy="42547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7F4E8554-6169-CDBC-026D-A4912E5ADA5A}"/>
              </a:ext>
            </a:extLst>
          </p:cNvPr>
          <p:cNvSpPr txBox="1"/>
          <p:nvPr/>
        </p:nvSpPr>
        <p:spPr>
          <a:xfrm>
            <a:off x="9549661" y="4766705"/>
            <a:ext cx="2362875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ID" sz="1400" dirty="0" err="1"/>
              <a:t>Rerata</a:t>
            </a:r>
            <a:r>
              <a:rPr lang="en-ID" sz="1400" dirty="0"/>
              <a:t> </a:t>
            </a:r>
            <a:r>
              <a:rPr lang="en-ID" sz="1400" dirty="0" err="1"/>
              <a:t>Kuadrat</a:t>
            </a:r>
            <a:r>
              <a:rPr lang="en-ID" sz="1400" dirty="0"/>
              <a:t> Gradient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ACB7C01-4719-D44A-51F3-2EC227660FF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12236" y="5118180"/>
            <a:ext cx="2357058" cy="353559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974492CE-1986-053A-ECF0-BF9B7227C3E8}"/>
              </a:ext>
            </a:extLst>
          </p:cNvPr>
          <p:cNvSpPr txBox="1"/>
          <p:nvPr/>
        </p:nvSpPr>
        <p:spPr>
          <a:xfrm>
            <a:off x="7207899" y="5502159"/>
            <a:ext cx="1968600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ID" sz="1400" dirty="0" err="1"/>
              <a:t>Koreksi</a:t>
            </a:r>
            <a:r>
              <a:rPr lang="en-ID" sz="1400" dirty="0"/>
              <a:t> Bias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543211F-3AA0-C380-A2AB-47627A007BD8}"/>
              </a:ext>
            </a:extLst>
          </p:cNvPr>
          <p:cNvSpPr txBox="1"/>
          <p:nvPr/>
        </p:nvSpPr>
        <p:spPr>
          <a:xfrm>
            <a:off x="9550118" y="5491976"/>
            <a:ext cx="2362875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ID" sz="1400" dirty="0" err="1"/>
              <a:t>Pembaruan</a:t>
            </a:r>
            <a:r>
              <a:rPr lang="en-ID" sz="1400" dirty="0"/>
              <a:t> Parameter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7804F75A-887E-7739-16F7-2DE394A17F2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45071" y="5792705"/>
            <a:ext cx="1873346" cy="520727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9E57BA5D-3D04-6D73-D830-F9273A6BCB4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82236" y="5817001"/>
            <a:ext cx="1933751" cy="521942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2EE21BD2-4C5B-0B95-A7AD-47DE13AF68EF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EFA89AE-FC21-C398-8657-AE66D4337B2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5CDF225-6EB7-66AE-8101-1667EEDBA465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C278BC6-9A42-CEDF-688C-F7BF59C01C0F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9A49EEF3-4556-8DB1-E12B-DAD8F514161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3290EB62-7F7F-967A-B640-E4DEE29D47A0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7F9374E9-D114-9B75-E266-9987008D17B4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37248913-DCA4-983D-4F2A-553A5DAAC99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D966DD-3CC1-2EA9-96F9-87464453DF7C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BF0409-8A0C-A374-75CD-D7A07DCD6EF2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ECE713-1AE9-75D2-70F1-A4EBC6AC62B5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9F6972-CC9F-221F-8CA9-CF49FD4B2B67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2DE8D-1176-3C8B-75C6-BE59B0593701}"/>
              </a:ext>
            </a:extLst>
          </p:cNvPr>
          <p:cNvSpPr/>
          <p:nvPr/>
        </p:nvSpPr>
        <p:spPr>
          <a:xfrm>
            <a:off x="111779" y="2950954"/>
            <a:ext cx="1528712" cy="286024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4D331B0-3782-F4E9-FA09-BC964CB758B8}"/>
              </a:ext>
            </a:extLst>
          </p:cNvPr>
          <p:cNvSpPr/>
          <p:nvPr/>
        </p:nvSpPr>
        <p:spPr>
          <a:xfrm>
            <a:off x="7217456" y="4194390"/>
            <a:ext cx="4716719" cy="34399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Optimasi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Adam</a:t>
            </a:r>
            <a:endParaRPr lang="en-ID" sz="20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7D44AF1-BBF5-22A0-B5DC-07C9F1526565}"/>
              </a:ext>
            </a:extLst>
          </p:cNvPr>
          <p:cNvSpPr/>
          <p:nvPr/>
        </p:nvSpPr>
        <p:spPr>
          <a:xfrm>
            <a:off x="9252365" y="4811952"/>
            <a:ext cx="211318" cy="214228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4" name="Arrow: Chevron 73">
            <a:extLst>
              <a:ext uri="{FF2B5EF4-FFF2-40B4-BE49-F238E27FC236}">
                <a16:creationId xmlns:a16="http://schemas.microsoft.com/office/drawing/2014/main" id="{1D732AC1-E65B-2AAD-6C5A-8F52B8840ACE}"/>
              </a:ext>
            </a:extLst>
          </p:cNvPr>
          <p:cNvSpPr/>
          <p:nvPr/>
        </p:nvSpPr>
        <p:spPr>
          <a:xfrm>
            <a:off x="9315617" y="4855440"/>
            <a:ext cx="105654" cy="12287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273014A-4F62-2DC5-9868-A2E29960FB94}"/>
              </a:ext>
            </a:extLst>
          </p:cNvPr>
          <p:cNvSpPr/>
          <p:nvPr/>
        </p:nvSpPr>
        <p:spPr>
          <a:xfrm rot="10800000">
            <a:off x="9252365" y="5543864"/>
            <a:ext cx="211318" cy="214228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2" name="Arrow: Chevron 81">
            <a:extLst>
              <a:ext uri="{FF2B5EF4-FFF2-40B4-BE49-F238E27FC236}">
                <a16:creationId xmlns:a16="http://schemas.microsoft.com/office/drawing/2014/main" id="{C2604C7F-5CAA-8EC9-0AE0-25F8C872B5FE}"/>
              </a:ext>
            </a:extLst>
          </p:cNvPr>
          <p:cNvSpPr/>
          <p:nvPr/>
        </p:nvSpPr>
        <p:spPr>
          <a:xfrm rot="10800000">
            <a:off x="9315617" y="5587352"/>
            <a:ext cx="105654" cy="12287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C89ECDC-5C25-BD36-0F61-C820816C1E17}"/>
              </a:ext>
            </a:extLst>
          </p:cNvPr>
          <p:cNvSpPr/>
          <p:nvPr/>
        </p:nvSpPr>
        <p:spPr>
          <a:xfrm rot="5400000">
            <a:off x="11916070" y="5197883"/>
            <a:ext cx="211318" cy="214228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0" name="Arrow: Chevron 89">
            <a:extLst>
              <a:ext uri="{FF2B5EF4-FFF2-40B4-BE49-F238E27FC236}">
                <a16:creationId xmlns:a16="http://schemas.microsoft.com/office/drawing/2014/main" id="{9477B2BE-0816-112B-D329-61137A77E0AD}"/>
              </a:ext>
            </a:extLst>
          </p:cNvPr>
          <p:cNvSpPr/>
          <p:nvPr/>
        </p:nvSpPr>
        <p:spPr>
          <a:xfrm rot="5400000">
            <a:off x="11979322" y="5241371"/>
            <a:ext cx="105654" cy="12287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14262-565E-D323-6CB6-3D54DDFF639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66660" y="2030911"/>
            <a:ext cx="2006703" cy="55247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6F45D88-354B-16B9-E76C-8E86409EFF57}"/>
              </a:ext>
            </a:extLst>
          </p:cNvPr>
          <p:cNvSpPr/>
          <p:nvPr/>
        </p:nvSpPr>
        <p:spPr>
          <a:xfrm>
            <a:off x="1850196" y="1558892"/>
            <a:ext cx="4716719" cy="34399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Loss Function</a:t>
            </a:r>
            <a:endParaRPr lang="en-ID" sz="20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CE4F302-C356-35F1-F3F5-8F33CF1F2072}"/>
              </a:ext>
            </a:extLst>
          </p:cNvPr>
          <p:cNvSpPr/>
          <p:nvPr/>
        </p:nvSpPr>
        <p:spPr>
          <a:xfrm>
            <a:off x="6998843" y="1501055"/>
            <a:ext cx="5130000" cy="368301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cs typeface="Arial" panose="020B0604020202020204" pitchFamily="34" charset="0"/>
              </a:rPr>
              <a:t>Backpropagation</a:t>
            </a:r>
            <a:endParaRPr lang="id-ID" sz="2000" i="1" dirty="0"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00657F9-4221-FB12-D5F3-D76020B47B96}"/>
              </a:ext>
            </a:extLst>
          </p:cNvPr>
          <p:cNvSpPr txBox="1"/>
          <p:nvPr/>
        </p:nvSpPr>
        <p:spPr>
          <a:xfrm>
            <a:off x="6996137" y="1994940"/>
            <a:ext cx="50679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cs typeface="Arial" panose="020B0604020202020204" pitchFamily="34" charset="0"/>
              </a:rPr>
              <a:t>Loss function </a:t>
            </a:r>
            <a:r>
              <a:rPr lang="en-ID" sz="1400" dirty="0" err="1">
                <a:cs typeface="Arial" panose="020B0604020202020204" pitchFamily="34" charset="0"/>
              </a:rPr>
              <a:t>diselesaikan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melalui</a:t>
            </a:r>
            <a:r>
              <a:rPr lang="en-ID" sz="1400" dirty="0">
                <a:cs typeface="Arial" panose="020B0604020202020204" pitchFamily="34" charset="0"/>
              </a:rPr>
              <a:t> dua </a:t>
            </a:r>
            <a:r>
              <a:rPr lang="en-ID" sz="1400" dirty="0" err="1">
                <a:cs typeface="Arial" panose="020B0604020202020204" pitchFamily="34" charset="0"/>
              </a:rPr>
              <a:t>tahapan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utama</a:t>
            </a:r>
            <a:endParaRPr lang="en-ID" sz="1400" dirty="0">
              <a:cs typeface="Arial" panose="020B0604020202020204" pitchFamily="34" charset="0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ECBE955-6A4F-BB76-7E35-2E90D33E5509}"/>
              </a:ext>
            </a:extLst>
          </p:cNvPr>
          <p:cNvSpPr/>
          <p:nvPr/>
        </p:nvSpPr>
        <p:spPr>
          <a:xfrm>
            <a:off x="7100138" y="2519505"/>
            <a:ext cx="291271" cy="28121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>
                <a:cs typeface="Arial" panose="020B0604020202020204" pitchFamily="34" charset="0"/>
              </a:rPr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BFF714A-C341-B953-08D2-0B4BDD55D37A}"/>
              </a:ext>
            </a:extLst>
          </p:cNvPr>
          <p:cNvSpPr txBox="1"/>
          <p:nvPr/>
        </p:nvSpPr>
        <p:spPr>
          <a:xfrm>
            <a:off x="7409244" y="2301452"/>
            <a:ext cx="4582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b="1" i="1" dirty="0">
                <a:cs typeface="Arial" panose="020B0604020202020204" pitchFamily="34" charset="0"/>
              </a:rPr>
              <a:t>Forward Pass</a:t>
            </a:r>
            <a:r>
              <a:rPr lang="en-ID" sz="1400" b="1" dirty="0">
                <a:cs typeface="Arial" panose="020B0604020202020204" pitchFamily="34" charset="0"/>
              </a:rPr>
              <a:t>: </a:t>
            </a:r>
            <a:r>
              <a:rPr lang="en-ID" sz="1400" dirty="0" err="1">
                <a:cs typeface="Arial" panose="020B0604020202020204" pitchFamily="34" charset="0"/>
              </a:rPr>
              <a:t>fitur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masuk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melalui</a:t>
            </a:r>
            <a:r>
              <a:rPr lang="en-ID" sz="1400" dirty="0">
                <a:cs typeface="Arial" panose="020B0604020202020204" pitchFamily="34" charset="0"/>
              </a:rPr>
              <a:t> input layer dan </a:t>
            </a:r>
            <a:r>
              <a:rPr lang="en-ID" sz="1400" dirty="0" err="1">
                <a:cs typeface="Arial" panose="020B0604020202020204" pitchFamily="34" charset="0"/>
              </a:rPr>
              <a:t>diteruskan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secara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sekuensial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ke</a:t>
            </a:r>
            <a:r>
              <a:rPr lang="en-ID" sz="1400" dirty="0">
                <a:cs typeface="Arial" panose="020B0604020202020204" pitchFamily="34" charset="0"/>
              </a:rPr>
              <a:t> hidden layer </a:t>
            </a:r>
            <a:r>
              <a:rPr lang="en-ID" sz="1400" dirty="0" err="1">
                <a:cs typeface="Arial" panose="020B0604020202020204" pitchFamily="34" charset="0"/>
              </a:rPr>
              <a:t>hingga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mencapai</a:t>
            </a:r>
            <a:r>
              <a:rPr lang="en-ID" sz="1400" dirty="0">
                <a:cs typeface="Arial" panose="020B0604020202020204" pitchFamily="34" charset="0"/>
              </a:rPr>
              <a:t> output layer </a:t>
            </a:r>
            <a:r>
              <a:rPr lang="en-ID" sz="1400" dirty="0" err="1">
                <a:cs typeface="Arial" panose="020B0604020202020204" pitchFamily="34" charset="0"/>
              </a:rPr>
              <a:t>untuk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menghasilkan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nilai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akhir</a:t>
            </a:r>
            <a:r>
              <a:rPr lang="en-ID" sz="1400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E7B0467-5070-4FA4-4F9F-CACB1953B206}"/>
              </a:ext>
            </a:extLst>
          </p:cNvPr>
          <p:cNvSpPr/>
          <p:nvPr/>
        </p:nvSpPr>
        <p:spPr>
          <a:xfrm>
            <a:off x="7100137" y="3482051"/>
            <a:ext cx="291271" cy="28121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>
                <a:cs typeface="Arial" panose="020B0604020202020204" pitchFamily="34" charset="0"/>
              </a:rPr>
              <a:t>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EEDD5DE-67D4-2F3D-C85A-E07F37CB4193}"/>
              </a:ext>
            </a:extLst>
          </p:cNvPr>
          <p:cNvSpPr txBox="1"/>
          <p:nvPr/>
        </p:nvSpPr>
        <p:spPr>
          <a:xfrm>
            <a:off x="7418942" y="3129693"/>
            <a:ext cx="27263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b="1" i="1" dirty="0">
                <a:cs typeface="Arial" panose="020B0604020202020204" pitchFamily="34" charset="0"/>
              </a:rPr>
              <a:t>Backpropagation</a:t>
            </a:r>
            <a:r>
              <a:rPr lang="en-ID" sz="1400" b="1" dirty="0">
                <a:cs typeface="Arial" panose="020B0604020202020204" pitchFamily="34" charset="0"/>
              </a:rPr>
              <a:t>: </a:t>
            </a:r>
            <a:r>
              <a:rPr lang="en-ID" sz="1400" dirty="0" err="1">
                <a:cs typeface="Arial" panose="020B0604020202020204" pitchFamily="34" charset="0"/>
              </a:rPr>
              <a:t>Menghitung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gradien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dari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i="1" dirty="0">
                <a:cs typeface="Arial" panose="020B0604020202020204" pitchFamily="34" charset="0"/>
              </a:rPr>
              <a:t>loss function </a:t>
            </a:r>
            <a:r>
              <a:rPr lang="en-ID" sz="1400" dirty="0" err="1">
                <a:cs typeface="Arial" panose="020B0604020202020204" pitchFamily="34" charset="0"/>
              </a:rPr>
              <a:t>terhadap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setiap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bobot</a:t>
            </a:r>
            <a:r>
              <a:rPr lang="en-ID" sz="1400" dirty="0">
                <a:cs typeface="Arial" panose="020B0604020202020204" pitchFamily="34" charset="0"/>
              </a:rPr>
              <a:t> dan bias di </a:t>
            </a:r>
            <a:r>
              <a:rPr lang="en-ID" sz="1400" dirty="0" err="1">
                <a:cs typeface="Arial" panose="020B0604020202020204" pitchFamily="34" charset="0"/>
              </a:rPr>
              <a:t>seluruh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jaringan</a:t>
            </a:r>
            <a:endParaRPr lang="en-ID" sz="1400" dirty="0">
              <a:cs typeface="Arial" panose="020B0604020202020204" pitchFamily="34" charset="0"/>
            </a:endParaRP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018F1A42-40E0-EEB7-122A-D9A8D1807AE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45244" y="3166869"/>
            <a:ext cx="1846799" cy="943990"/>
          </a:xfrm>
          <a:prstGeom prst="rect">
            <a:avLst/>
          </a:prstGeom>
        </p:spPr>
      </p:pic>
      <p:sp>
        <p:nvSpPr>
          <p:cNvPr id="102" name="Rectangle 101">
            <a:extLst>
              <a:ext uri="{FF2B5EF4-FFF2-40B4-BE49-F238E27FC236}">
                <a16:creationId xmlns:a16="http://schemas.microsoft.com/office/drawing/2014/main" id="{0AC54165-F779-45FA-01D1-80EBFC66699F}"/>
              </a:ext>
            </a:extLst>
          </p:cNvPr>
          <p:cNvSpPr/>
          <p:nvPr/>
        </p:nvSpPr>
        <p:spPr>
          <a:xfrm>
            <a:off x="1886256" y="4525602"/>
            <a:ext cx="4716719" cy="34399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Gradient</a:t>
            </a:r>
            <a:endParaRPr lang="en-ID" sz="2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1C807A-47E8-6EF8-5759-BA7E068E1724}"/>
              </a:ext>
            </a:extLst>
          </p:cNvPr>
          <p:cNvSpPr txBox="1"/>
          <p:nvPr/>
        </p:nvSpPr>
        <p:spPr>
          <a:xfrm>
            <a:off x="1887290" y="2715854"/>
            <a:ext cx="50679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Loss function </a:t>
            </a:r>
            <a:r>
              <a:rPr lang="en-US" sz="1400" dirty="0" err="1"/>
              <a:t>memodelkan</a:t>
            </a:r>
            <a:r>
              <a:rPr lang="en-US" sz="1400" dirty="0"/>
              <a:t> </a:t>
            </a:r>
            <a:r>
              <a:rPr lang="en-US" sz="1400" dirty="0" err="1"/>
              <a:t>jarak</a:t>
            </a:r>
            <a:r>
              <a:rPr lang="en-US" sz="1400" dirty="0"/>
              <a:t> </a:t>
            </a:r>
            <a:r>
              <a:rPr lang="en-US" sz="1400" dirty="0" err="1"/>
              <a:t>antara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prediksi</a:t>
            </a:r>
            <a:r>
              <a:rPr lang="en-US" sz="1400" dirty="0"/>
              <a:t> dan actual, </a:t>
            </a:r>
            <a:r>
              <a:rPr lang="en-US" sz="1400" dirty="0" err="1"/>
              <a:t>sehingga</a:t>
            </a:r>
            <a:r>
              <a:rPr lang="en-US" sz="1400" dirty="0"/>
              <a:t> </a:t>
            </a:r>
            <a:r>
              <a:rPr lang="en-US" sz="1400" dirty="0" err="1"/>
              <a:t>harus</a:t>
            </a:r>
            <a:r>
              <a:rPr lang="en-US" sz="1400" dirty="0"/>
              <a:t> </a:t>
            </a:r>
            <a:r>
              <a:rPr lang="en-US" sz="1400" dirty="0" err="1"/>
              <a:t>diminimumkan</a:t>
            </a:r>
            <a:r>
              <a:rPr lang="en-US" sz="1400" dirty="0"/>
              <a:t>. </a:t>
            </a:r>
            <a:r>
              <a:rPr lang="en-ID" sz="1400" dirty="0">
                <a:cs typeface="Arial" panose="020B0604020202020204" pitchFamily="34" charset="0"/>
              </a:rPr>
              <a:t>Loss function yang </a:t>
            </a:r>
            <a:r>
              <a:rPr lang="en-ID" sz="1400" dirty="0" err="1">
                <a:cs typeface="Arial" panose="020B0604020202020204" pitchFamily="34" charset="0"/>
              </a:rPr>
              <a:t>akan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digunakan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dalam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penelitian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ini</a:t>
            </a:r>
            <a:r>
              <a:rPr lang="en-ID" sz="1400" dirty="0">
                <a:cs typeface="Arial" panose="020B0604020202020204" pitchFamily="34" charset="0"/>
              </a:rPr>
              <a:t> </a:t>
            </a:r>
            <a:r>
              <a:rPr lang="en-ID" sz="1400" dirty="0" err="1">
                <a:cs typeface="Arial" panose="020B0604020202020204" pitchFamily="34" charset="0"/>
              </a:rPr>
              <a:t>adalah</a:t>
            </a:r>
            <a:r>
              <a:rPr lang="en-ID" sz="1400" dirty="0">
                <a:cs typeface="Arial" panose="020B0604020202020204" pitchFamily="34" charset="0"/>
              </a:rPr>
              <a:t> Mean Squared Error: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9C50C9A-2B8E-759E-619C-703DFEAC327B}"/>
                  </a:ext>
                </a:extLst>
              </p:cNvPr>
              <p:cNvSpPr txBox="1"/>
              <p:nvPr/>
            </p:nvSpPr>
            <p:spPr>
              <a:xfrm>
                <a:off x="3066449" y="3596574"/>
                <a:ext cx="2233367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>
                          <a:latin typeface="Cambria Math" panose="020F0502020204030204" pitchFamily="18" charset="0"/>
                        </a:rPr>
                        <m:t>MSE</m:t>
                      </m:r>
                      <m:r>
                        <a:rPr lang="en-US" i="1" smtClean="0">
                          <a:latin typeface="Cambria Math" panose="020F0502020204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F0502020204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F0502020204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 panose="020F0502020204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F0502020204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F0502020204030204" pitchFamily="18" charset="0"/>
                            </a:rPr>
                            <m:t>𝑖</m:t>
                          </m:r>
                          <m:r>
                            <a:rPr lang="en-US" i="1" smtClean="0">
                              <a:latin typeface="Cambria Math" panose="020F0502020204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 panose="020F0502020204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F0502020204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F0502020204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F0502020204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F0502020204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F0502020204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F0502020204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F0502020204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F0502020204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smtClean="0">
                                              <a:latin typeface="Cambria Math" panose="020F0502020204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smtClean="0">
                                              <a:latin typeface="Cambria Math" panose="020F0502020204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smtClean="0">
                                  <a:latin typeface="Cambria Math" panose="020F0502020204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9C50C9A-2B8E-759E-619C-703DFEAC3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449" y="3596574"/>
                <a:ext cx="2233367" cy="75623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7" name="Picture 106">
            <a:extLst>
              <a:ext uri="{FF2B5EF4-FFF2-40B4-BE49-F238E27FC236}">
                <a16:creationId xmlns:a16="http://schemas.microsoft.com/office/drawing/2014/main" id="{64B62F8E-7AD9-1B60-92D4-B44D08AC5CE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85454" y="5055752"/>
            <a:ext cx="1663786" cy="1028753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7D957416-13B3-842A-A7A8-E4D86FB51C79}"/>
              </a:ext>
            </a:extLst>
          </p:cNvPr>
          <p:cNvSpPr txBox="1"/>
          <p:nvPr/>
        </p:nvSpPr>
        <p:spPr>
          <a:xfrm>
            <a:off x="3725106" y="5045478"/>
            <a:ext cx="29591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Aptos (Body)"/>
              </a:rPr>
              <a:t>gradien</a:t>
            </a:r>
            <a:r>
              <a:rPr lang="en-US" sz="1400" dirty="0">
                <a:latin typeface="Aptos (Body)"/>
              </a:rPr>
              <a:t> </a:t>
            </a:r>
            <a:r>
              <a:rPr lang="en-US" sz="1400" dirty="0" err="1">
                <a:latin typeface="Aptos (Body)"/>
              </a:rPr>
              <a:t>adalah</a:t>
            </a:r>
            <a:r>
              <a:rPr lang="en-US" sz="1400" dirty="0">
                <a:latin typeface="Aptos (Body)"/>
              </a:rPr>
              <a:t> </a:t>
            </a:r>
            <a:r>
              <a:rPr lang="en-US" sz="1400" dirty="0" err="1">
                <a:latin typeface="Aptos (Body)"/>
              </a:rPr>
              <a:t>sebuah</a:t>
            </a:r>
            <a:r>
              <a:rPr lang="en-US" sz="1400" dirty="0">
                <a:latin typeface="Aptos (Body)"/>
              </a:rPr>
              <a:t> </a:t>
            </a:r>
            <a:r>
              <a:rPr lang="en-US" sz="1400" b="1" dirty="0" err="1">
                <a:latin typeface="Aptos (Body)"/>
              </a:rPr>
              <a:t>vektor</a:t>
            </a:r>
            <a:r>
              <a:rPr lang="en-US" sz="1400" b="1" dirty="0">
                <a:latin typeface="Aptos (Body)"/>
              </a:rPr>
              <a:t> yang </a:t>
            </a:r>
            <a:r>
              <a:rPr lang="en-US" sz="1400" b="1" dirty="0" err="1">
                <a:latin typeface="Aptos (Body)"/>
              </a:rPr>
              <a:t>berisi</a:t>
            </a:r>
            <a:r>
              <a:rPr lang="en-US" sz="1400" b="1" dirty="0">
                <a:latin typeface="Aptos (Body)"/>
              </a:rPr>
              <a:t> </a:t>
            </a:r>
            <a:r>
              <a:rPr lang="en-US" sz="1400" b="1" dirty="0" err="1">
                <a:latin typeface="Aptos (Body)"/>
              </a:rPr>
              <a:t>kumpulan</a:t>
            </a:r>
            <a:r>
              <a:rPr lang="en-US" sz="1400" b="1" dirty="0">
                <a:latin typeface="Aptos (Body)"/>
              </a:rPr>
              <a:t> </a:t>
            </a:r>
            <a:r>
              <a:rPr lang="en-US" sz="1400" b="1" dirty="0" err="1">
                <a:latin typeface="Aptos (Body)"/>
              </a:rPr>
              <a:t>turunan</a:t>
            </a:r>
            <a:r>
              <a:rPr lang="en-US" sz="1400" b="1" dirty="0">
                <a:latin typeface="Aptos (Body)"/>
              </a:rPr>
              <a:t> </a:t>
            </a:r>
            <a:r>
              <a:rPr lang="en-US" sz="1400" b="1" dirty="0" err="1">
                <a:latin typeface="Aptos (Body)"/>
              </a:rPr>
              <a:t>parsial</a:t>
            </a:r>
            <a:r>
              <a:rPr lang="en-US" sz="1400" dirty="0">
                <a:latin typeface="Aptos (Body)"/>
              </a:rPr>
              <a:t> </a:t>
            </a:r>
            <a:r>
              <a:rPr lang="en-US" sz="1400" dirty="0" err="1">
                <a:latin typeface="Aptos (Body)"/>
              </a:rPr>
              <a:t>dari</a:t>
            </a:r>
            <a:r>
              <a:rPr lang="en-US" sz="1400" dirty="0">
                <a:latin typeface="Aptos (Body)"/>
              </a:rPr>
              <a:t> </a:t>
            </a:r>
            <a:r>
              <a:rPr lang="en-US" sz="1400" i="1" dirty="0">
                <a:latin typeface="Aptos (Body)"/>
              </a:rPr>
              <a:t>loss function</a:t>
            </a:r>
            <a:r>
              <a:rPr lang="en-US" sz="1400" dirty="0">
                <a:latin typeface="Aptos (Body)"/>
              </a:rPr>
              <a:t> </a:t>
            </a:r>
            <a:r>
              <a:rPr lang="en-US" sz="1400" dirty="0" err="1">
                <a:latin typeface="Aptos (Body)"/>
              </a:rPr>
              <a:t>terhadap</a:t>
            </a:r>
            <a:r>
              <a:rPr lang="en-US" sz="1400" dirty="0">
                <a:latin typeface="Aptos (Body)"/>
              </a:rPr>
              <a:t> </a:t>
            </a:r>
            <a:r>
              <a:rPr lang="en-US" sz="1400" dirty="0" err="1">
                <a:latin typeface="Aptos (Body)"/>
              </a:rPr>
              <a:t>seluruh</a:t>
            </a:r>
            <a:r>
              <a:rPr lang="en-US" sz="1400" dirty="0">
                <a:latin typeface="Aptos (Body)"/>
              </a:rPr>
              <a:t> parameter model (</a:t>
            </a:r>
            <a:r>
              <a:rPr lang="en-US" sz="1400" dirty="0" err="1">
                <a:latin typeface="Aptos (Body)"/>
              </a:rPr>
              <a:t>seperti</a:t>
            </a:r>
            <a:r>
              <a:rPr lang="en-US" sz="1400" dirty="0">
                <a:latin typeface="Aptos (Body)"/>
              </a:rPr>
              <a:t> </a:t>
            </a:r>
            <a:r>
              <a:rPr lang="en-US" sz="1400" dirty="0" err="1">
                <a:latin typeface="Aptos (Body)"/>
              </a:rPr>
              <a:t>bobot</a:t>
            </a:r>
            <a:r>
              <a:rPr lang="en-US" sz="1400" dirty="0">
                <a:latin typeface="Aptos (Body)"/>
              </a:rPr>
              <a:t> dan bias).</a:t>
            </a:r>
            <a:endParaRPr lang="en-ID" sz="1400" dirty="0">
              <a:latin typeface="Aptos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992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C1A85-9102-0B23-11AF-F256F773C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60F9946-63C2-CD82-07A8-846ED1A93AB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9AE31C-4AD7-6310-BC74-8D3312C701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F88B3A30-92AA-5302-F5CB-18223F27CFAE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796C2-0C5F-1000-503B-19469DF0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13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8F9F90-966D-ECBF-BEB8-597D7ECC450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71CC191-61B4-5F42-751A-D65EF4189C92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7F745CFD-4D27-F20C-3B35-B2BEDDC49276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Pendahuluan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800" dirty="0" err="1"/>
              <a:t>Metrik</a:t>
            </a:r>
            <a:r>
              <a:rPr lang="en-US" sz="2800" dirty="0"/>
              <a:t> </a:t>
            </a:r>
            <a:r>
              <a:rPr lang="en-US" sz="2800" dirty="0" err="1"/>
              <a:t>Evaluasi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E04961-EC39-897D-6005-FD94BEA8531F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DA9BEE1-A13B-554F-832D-8007B9D21CBE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A655C4A-F678-152B-4294-3D8EDFCA8D0C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6AB4A64-8E2D-172C-C867-F0E26E74168F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37D5FF01-70AF-6D3B-3115-C9BF1C905570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5C203ED6-63FF-397B-70E2-2D03A3CDD5E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5E652370-11B6-44FC-A7F5-1E547CEBC4B0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BD2BAB10-3B5A-28C4-8965-708145E532C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31D85DDD-A0FD-D0AC-3610-1283FAE1004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3C9946-30CA-498C-7432-A22CA519592A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594F97-6D46-6951-5642-3919BB82EA48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BB2191-BBFC-0D66-5013-291FC80FDA98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219607-A751-814D-355F-C10DB7BC9FE4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124B021-5016-22D6-4731-B1F7854F17D5}"/>
              </a:ext>
            </a:extLst>
          </p:cNvPr>
          <p:cNvSpPr/>
          <p:nvPr/>
        </p:nvSpPr>
        <p:spPr>
          <a:xfrm>
            <a:off x="111779" y="2950954"/>
            <a:ext cx="1528712" cy="286024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22256EC-6B46-3656-6244-D31DEA042065}"/>
              </a:ext>
            </a:extLst>
          </p:cNvPr>
          <p:cNvSpPr/>
          <p:nvPr/>
        </p:nvSpPr>
        <p:spPr>
          <a:xfrm>
            <a:off x="8099226" y="2537762"/>
            <a:ext cx="3839876" cy="34399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Mean Absolute Percentage Error</a:t>
            </a:r>
            <a:endParaRPr lang="en-ID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200FDB-EA8D-18B6-561C-8A59C9F9D8A8}"/>
              </a:ext>
            </a:extLst>
          </p:cNvPr>
          <p:cNvSpPr/>
          <p:nvPr/>
        </p:nvSpPr>
        <p:spPr>
          <a:xfrm>
            <a:off x="1818586" y="2537762"/>
            <a:ext cx="2733834" cy="34399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Root Mean Squared Error</a:t>
            </a:r>
            <a:endParaRPr lang="en-ID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71C0BFB-5260-A29B-7C59-DBA429EE3CFD}"/>
              </a:ext>
            </a:extLst>
          </p:cNvPr>
          <p:cNvSpPr/>
          <p:nvPr/>
        </p:nvSpPr>
        <p:spPr>
          <a:xfrm>
            <a:off x="4764789" y="2525606"/>
            <a:ext cx="3146400" cy="368301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cs typeface="Arial" panose="020B0604020202020204" pitchFamily="34" charset="0"/>
              </a:rPr>
              <a:t>Mean Absolute Error</a:t>
            </a:r>
            <a:endParaRPr lang="id-ID" sz="2000" i="1" dirty="0"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8BD4D5-7A3A-76E2-1731-EA8CE71B2B9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7687" y="3153898"/>
            <a:ext cx="2191056" cy="7809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227464-B797-D277-360F-B614F23CCEF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10814" y="3191635"/>
            <a:ext cx="2730640" cy="6350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7F184A2-CA3D-52E4-D521-64A8AF98094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40389" y="3153898"/>
            <a:ext cx="1987652" cy="6540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6188EE-77DE-9D90-3AB0-AE76C755A2CC}"/>
                  </a:ext>
                </a:extLst>
              </p:cNvPr>
              <p:cNvSpPr txBox="1"/>
              <p:nvPr/>
            </p:nvSpPr>
            <p:spPr>
              <a:xfrm>
                <a:off x="4764789" y="4749887"/>
                <a:ext cx="3582840" cy="1368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i="1" dirty="0" err="1">
                    <a:latin typeface="Cambria Math" panose="020F0502020204030204" pitchFamily="18" charset="0"/>
                  </a:rPr>
                  <a:t>Dengan</a:t>
                </a:r>
                <a:r>
                  <a:rPr lang="en-US" i="1" dirty="0">
                    <a:latin typeface="Cambria Math" panose="020F0502020204030204" pitchFamily="18" charset="0"/>
                  </a:rPr>
                  <a:t>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i="1" smtClean="0">
                              <a:latin typeface="Cambria Math" panose="020F0502020204030204" pitchFamily="18" charset="0"/>
                            </a:rPr>
                          </m:ctrlPr>
                        </m:eqArrPr>
                        <m:e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&amp;: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jumlah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data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observasi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;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F0502020204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F0502020204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F0502020204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&amp;: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nilai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aktual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pada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waktu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ke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-</m:t>
                          </m:r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;</m:t>
                          </m:r>
                        </m:e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F0502020204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F0502020204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F0502020204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F0502020204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&amp;: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nilai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prediksi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pada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waktu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ke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-</m:t>
                          </m:r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F0502020204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6188EE-77DE-9D90-3AB0-AE76C755A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789" y="4749887"/>
                <a:ext cx="3582840" cy="1368836"/>
              </a:xfrm>
              <a:prstGeom prst="rect">
                <a:avLst/>
              </a:prstGeom>
              <a:blipFill>
                <a:blip r:embed="rId18"/>
                <a:stretch>
                  <a:fillRect l="-4089" t="-6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7DE7BC4-1AC1-79E6-EB43-A44511031845}"/>
              </a:ext>
            </a:extLst>
          </p:cNvPr>
          <p:cNvSpPr txBox="1"/>
          <p:nvPr/>
        </p:nvSpPr>
        <p:spPr>
          <a:xfrm>
            <a:off x="1769637" y="1452308"/>
            <a:ext cx="102010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metrik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 Root Mean Squared Error (RMSE), Mean Absolute Error (MAE) dan Mean Absolute Percentage Error (MAPE) yang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mencerminkan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model </a:t>
            </a:r>
            <a:r>
              <a:rPr lang="en-US" dirty="0" err="1"/>
              <a:t>untuk</a:t>
            </a:r>
            <a:r>
              <a:rPr lang="en-US" dirty="0"/>
              <a:t> data time-series (Hyndman &amp; Kohler, 2006).</a:t>
            </a:r>
          </a:p>
        </p:txBody>
      </p:sp>
    </p:spTree>
    <p:extLst>
      <p:ext uri="{BB962C8B-B14F-4D97-AF65-F5344CB8AC3E}">
        <p14:creationId xmlns:p14="http://schemas.microsoft.com/office/powerpoint/2010/main" val="1799040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8D385-9399-B219-DABB-B6F7F413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5E5D-DB07-F88E-E7C7-ABE70B81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3E71F-735B-C62B-8AB5-14213388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06E02A-44F7-A7E8-F7EB-24B8AD29E4EB}"/>
              </a:ext>
            </a:extLst>
          </p:cNvPr>
          <p:cNvSpPr/>
          <p:nvPr/>
        </p:nvSpPr>
        <p:spPr>
          <a:xfrm>
            <a:off x="3223200" y="3097689"/>
            <a:ext cx="5745600" cy="15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3111801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4029F-B3F3-0B5A-C861-1944B303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817636B-178C-65EA-60CC-4CC12DED85D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0758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B5F4F8-5ED7-172C-4159-9CF82573CA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1FADEE92-FA2C-5C0B-40B2-A65412FA1A16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40C59-ECD2-3450-B525-4E776C34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15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C83EA3-8C3F-B3AF-A14E-0A29EEF56FD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105E2B6E-FA09-F3CB-8617-6EC426EBBE70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2BE208AF-9AA6-9FA8-25CD-07AC50008056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ea typeface="Calibri"/>
                <a:cs typeface="Calibri"/>
                <a:sym typeface="Calibri"/>
              </a:rPr>
              <a:t>Model</a:t>
            </a: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Gated Recurrent Unit-Ordinary Differential Equation 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9F3F4E1-38C6-B04C-2D5E-E6FDCA4C2ACB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8CBA50A-0396-3DA1-379B-207009E7ED6E}"/>
              </a:ext>
            </a:extLst>
          </p:cNvPr>
          <p:cNvSpPr/>
          <p:nvPr/>
        </p:nvSpPr>
        <p:spPr>
          <a:xfrm>
            <a:off x="12388800" y="1445400"/>
            <a:ext cx="10254072" cy="368301"/>
          </a:xfrm>
          <a:prstGeom prst="rect">
            <a:avLst/>
          </a:prstGeom>
          <a:solidFill>
            <a:srgbClr val="70AD4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/>
              <a:t>Model GRU-ODE</a:t>
            </a:r>
            <a:endParaRPr lang="id-ID" sz="2000" dirty="0">
              <a:cs typeface="Arial" panose="020B0604020202020204" pitchFamily="34" charset="0"/>
            </a:endParaRP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229B30D1-6511-C6AE-2E10-C790832ED41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68735" y="4220536"/>
            <a:ext cx="5137414" cy="897571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F4EF845B-0504-37E8-816D-C8C51E4F9A33}"/>
              </a:ext>
            </a:extLst>
          </p:cNvPr>
          <p:cNvSpPr txBox="1"/>
          <p:nvPr/>
        </p:nvSpPr>
        <p:spPr>
          <a:xfrm>
            <a:off x="1675094" y="3839400"/>
            <a:ext cx="9950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/>
              <a:t>GRU-ODE </a:t>
            </a:r>
            <a:r>
              <a:rPr lang="en-ID" sz="1400" dirty="0" err="1"/>
              <a:t>mendefinisikan</a:t>
            </a:r>
            <a:r>
              <a:rPr lang="en-ID" sz="1400" dirty="0"/>
              <a:t> </a:t>
            </a:r>
            <a:r>
              <a:rPr lang="en-ID" sz="1400" dirty="0" err="1"/>
              <a:t>evolusi</a:t>
            </a:r>
            <a:r>
              <a:rPr lang="en-ID" sz="1400" dirty="0"/>
              <a:t> hidden state h(t) </a:t>
            </a:r>
            <a:r>
              <a:rPr lang="en-ID" sz="1400" dirty="0" err="1"/>
              <a:t>melalui</a:t>
            </a:r>
            <a:r>
              <a:rPr lang="en-ID" sz="1400" dirty="0"/>
              <a:t>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diferensial</a:t>
            </a:r>
            <a:r>
              <a:rPr lang="en-ID" sz="1400" dirty="0"/>
              <a:t>: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9DB9535-EB65-DF96-0F84-6E9F827DA5C1}"/>
              </a:ext>
            </a:extLst>
          </p:cNvPr>
          <p:cNvSpPr txBox="1"/>
          <p:nvPr/>
        </p:nvSpPr>
        <p:spPr>
          <a:xfrm>
            <a:off x="12495171" y="5150245"/>
            <a:ext cx="2377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 err="1"/>
              <a:t>Komponen</a:t>
            </a:r>
            <a:r>
              <a:rPr lang="en-ID" sz="1200" dirty="0"/>
              <a:t> </a:t>
            </a:r>
            <a:r>
              <a:rPr lang="en-ID" sz="1200" dirty="0" err="1"/>
              <a:t>zt</a:t>
            </a:r>
            <a:r>
              <a:rPr lang="en-ID" sz="1200" dirty="0"/>
              <a:t> (update gate) dan </a:t>
            </a:r>
            <a:r>
              <a:rPr lang="en-ID" sz="1200" dirty="0" err="1"/>
              <a:t>gt</a:t>
            </a:r>
            <a:r>
              <a:rPr lang="en-ID" sz="1200" dirty="0"/>
              <a:t> (</a:t>
            </a:r>
            <a:r>
              <a:rPr lang="en-ID" sz="1200" dirty="0" err="1"/>
              <a:t>kandidat</a:t>
            </a:r>
            <a:r>
              <a:rPr lang="en-ID" sz="1200" dirty="0"/>
              <a:t> hidden state) </a:t>
            </a:r>
            <a:r>
              <a:rPr lang="en-ID" sz="1200" dirty="0" err="1"/>
              <a:t>dihitung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input x dan state </a:t>
            </a:r>
            <a:r>
              <a:rPr lang="en-ID" sz="1200" dirty="0" err="1"/>
              <a:t>terkini</a:t>
            </a:r>
            <a:r>
              <a:rPr lang="en-ID" sz="1200" dirty="0"/>
              <a:t> h(t) </a:t>
            </a:r>
            <a:r>
              <a:rPr lang="en-ID" sz="1200" dirty="0" err="1"/>
              <a:t>menggunakan</a:t>
            </a:r>
            <a:r>
              <a:rPr lang="en-ID" sz="1200" dirty="0"/>
              <a:t> </a:t>
            </a:r>
          </a:p>
        </p:txBody>
      </p:sp>
      <p:pic>
        <p:nvPicPr>
          <p:cNvPr id="122" name="Picture 121">
            <a:extLst>
              <a:ext uri="{FF2B5EF4-FFF2-40B4-BE49-F238E27FC236}">
                <a16:creationId xmlns:a16="http://schemas.microsoft.com/office/drawing/2014/main" id="{CD88403B-60B5-69A2-D0B3-295D95FF04F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98916" y="5155184"/>
            <a:ext cx="2087590" cy="782075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7C831929-A1EB-F3A0-C774-544D61C66286}"/>
              </a:ext>
            </a:extLst>
          </p:cNvPr>
          <p:cNvSpPr txBox="1"/>
          <p:nvPr/>
        </p:nvSpPr>
        <p:spPr>
          <a:xfrm>
            <a:off x="17278172" y="3875404"/>
            <a:ext cx="5158014" cy="31793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ID" sz="1400" dirty="0"/>
              <a:t>Integrasi </a:t>
            </a:r>
            <a:r>
              <a:rPr lang="en-ID" sz="1400" dirty="0" err="1"/>
              <a:t>Numerik</a:t>
            </a:r>
            <a:r>
              <a:rPr lang="en-ID" sz="1400" dirty="0"/>
              <a:t> Hidden State</a:t>
            </a:r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3D5FCCE0-582C-4883-C3D5-AF87C2EA9FB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548715" y="4193502"/>
            <a:ext cx="2711589" cy="520727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4AA30E8C-5119-22B9-2287-B71E03BB60FA}"/>
              </a:ext>
            </a:extLst>
          </p:cNvPr>
          <p:cNvSpPr txBox="1"/>
          <p:nvPr/>
        </p:nvSpPr>
        <p:spPr>
          <a:xfrm>
            <a:off x="17296362" y="4275974"/>
            <a:ext cx="2446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/>
              <a:t>Dua </a:t>
            </a:r>
            <a:r>
              <a:rPr lang="en-ID" sz="1200" dirty="0" err="1"/>
              <a:t>skema</a:t>
            </a:r>
            <a:r>
              <a:rPr lang="en-ID" sz="1200" dirty="0"/>
              <a:t> </a:t>
            </a:r>
            <a:r>
              <a:rPr lang="en-ID" sz="1200" dirty="0" err="1"/>
              <a:t>integrasi</a:t>
            </a:r>
            <a:r>
              <a:rPr lang="en-ID" sz="1200" dirty="0"/>
              <a:t> yang </a:t>
            </a:r>
            <a:r>
              <a:rPr lang="en-ID" sz="1200" dirty="0" err="1"/>
              <a:t>digunakan</a:t>
            </a:r>
            <a:r>
              <a:rPr lang="en-ID" sz="1200" dirty="0"/>
              <a:t> dan </a:t>
            </a:r>
            <a:r>
              <a:rPr lang="en-ID" sz="1200" dirty="0" err="1"/>
              <a:t>dibandingkan</a:t>
            </a:r>
            <a:r>
              <a:rPr lang="en-ID" sz="1200" dirty="0"/>
              <a:t>: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F48AF62-D091-81D7-F80D-06BC97F410F5}"/>
              </a:ext>
            </a:extLst>
          </p:cNvPr>
          <p:cNvSpPr txBox="1"/>
          <p:nvPr/>
        </p:nvSpPr>
        <p:spPr>
          <a:xfrm>
            <a:off x="17278172" y="4933524"/>
            <a:ext cx="5137414" cy="30777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ID" sz="1400" dirty="0"/>
              <a:t>Backpropagation pada GRU-ODE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1EBCF64-29C3-1A23-D5BD-072E36165128}"/>
              </a:ext>
            </a:extLst>
          </p:cNvPr>
          <p:cNvSpPr txBox="1"/>
          <p:nvPr/>
        </p:nvSpPr>
        <p:spPr>
          <a:xfrm>
            <a:off x="17278172" y="5299504"/>
            <a:ext cx="32502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 err="1"/>
              <a:t>Pelatihan</a:t>
            </a:r>
            <a:r>
              <a:rPr lang="en-ID" sz="1200" dirty="0"/>
              <a:t> model GRU-ODE </a:t>
            </a:r>
            <a:r>
              <a:rPr lang="en-ID" sz="1200" dirty="0" err="1"/>
              <a:t>dilakukan</a:t>
            </a:r>
            <a:r>
              <a:rPr lang="en-ID" sz="1200" dirty="0"/>
              <a:t> </a:t>
            </a:r>
            <a:r>
              <a:rPr lang="en-ID" sz="1200" dirty="0" err="1"/>
              <a:t>terhadap</a:t>
            </a:r>
            <a:r>
              <a:rPr lang="en-ID" sz="1200" dirty="0"/>
              <a:t> parameter </a:t>
            </a:r>
            <a:r>
              <a:rPr lang="en-ID" sz="1200" dirty="0">
                <a:highlight>
                  <a:srgbClr val="E8E8E8"/>
                </a:highlight>
              </a:rPr>
              <a:t>θ = {</a:t>
            </a:r>
            <a:r>
              <a:rPr lang="en-ID" sz="1200" dirty="0" err="1">
                <a:highlight>
                  <a:srgbClr val="E8E8E8"/>
                </a:highlight>
              </a:rPr>
              <a:t>Wr,Wz,Wg,br,bz,bg</a:t>
            </a:r>
            <a:r>
              <a:rPr lang="en-ID" sz="1200" dirty="0">
                <a:highlight>
                  <a:srgbClr val="E8E8E8"/>
                </a:highlight>
              </a:rPr>
              <a:t>} </a:t>
            </a:r>
            <a:r>
              <a:rPr lang="en-ID" sz="1200" dirty="0" err="1"/>
              <a:t>menggunakan</a:t>
            </a:r>
            <a:r>
              <a:rPr lang="en-ID" sz="1200" dirty="0"/>
              <a:t> </a:t>
            </a:r>
            <a:r>
              <a:rPr lang="en-ID" sz="1200" dirty="0" err="1"/>
              <a:t>metode</a:t>
            </a:r>
            <a:r>
              <a:rPr lang="en-ID" sz="1200" dirty="0"/>
              <a:t> </a:t>
            </a:r>
            <a:r>
              <a:rPr lang="en-ID" sz="1200" dirty="0" err="1"/>
              <a:t>optimisasi</a:t>
            </a:r>
            <a:r>
              <a:rPr lang="en-ID" sz="1200" dirty="0"/>
              <a:t> </a:t>
            </a:r>
            <a:r>
              <a:rPr lang="en-ID" sz="1200" dirty="0" err="1"/>
              <a:t>berbasis</a:t>
            </a:r>
            <a:r>
              <a:rPr lang="en-ID" sz="1200" dirty="0"/>
              <a:t> </a:t>
            </a:r>
            <a:r>
              <a:rPr lang="en-ID" sz="1200" dirty="0" err="1"/>
              <a:t>gradien</a:t>
            </a:r>
            <a:r>
              <a:rPr lang="en-ID" sz="1200" dirty="0"/>
              <a:t> gradient descent. 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1AD04A1-7EDE-E341-AF04-7C519CBBA9ED}"/>
              </a:ext>
            </a:extLst>
          </p:cNvPr>
          <p:cNvSpPr/>
          <p:nvPr/>
        </p:nvSpPr>
        <p:spPr>
          <a:xfrm>
            <a:off x="20596800" y="5340478"/>
            <a:ext cx="1818786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00" i="1" dirty="0"/>
              <a:t>Discretize-then-Optimize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79958E4-AB46-44D9-76FE-F2CD5BDD59AB}"/>
              </a:ext>
            </a:extLst>
          </p:cNvPr>
          <p:cNvSpPr/>
          <p:nvPr/>
        </p:nvSpPr>
        <p:spPr>
          <a:xfrm>
            <a:off x="20592450" y="5734279"/>
            <a:ext cx="1818786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00" i="1" dirty="0"/>
              <a:t>Adjoint Method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1E9063-C625-4806-1874-2DA6A65F8766}"/>
              </a:ext>
            </a:extLst>
          </p:cNvPr>
          <p:cNvSpPr/>
          <p:nvPr/>
        </p:nvSpPr>
        <p:spPr>
          <a:xfrm>
            <a:off x="115475" y="4120466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AD9A5AC9-8155-0113-FDCD-9A8DE6821F5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A7F2D02B-D6E0-A838-0D96-10F1F70A722A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06223EFC-95CA-3AA5-DD0E-133DC92F2D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B4462562-8FBF-A62F-4E0E-02D78421EFAF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93A32FB5-9596-1767-882B-D303DE523F80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D1C71AA8-008F-9E6F-F530-6B9EA6ABCE44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10B5436A-7836-F3A0-441E-EE70C0F9207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765D4A7A-7953-C8CD-BBEC-FFB5F3108990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829BD6-4C1C-78CF-ED2E-D4436C42C6EE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9286DE-D50D-CC5E-6E8D-49ACF0C1DD44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57EF91-F7D0-7EBD-519C-64AAFD04396B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5DF1F5-73E8-BE66-7E07-9D2223ED87D2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25C77E-D172-D020-BD63-0365D9C8F71C}"/>
              </a:ext>
            </a:extLst>
          </p:cNvPr>
          <p:cNvSpPr/>
          <p:nvPr/>
        </p:nvSpPr>
        <p:spPr>
          <a:xfrm>
            <a:off x="120848" y="2205103"/>
            <a:ext cx="1528712" cy="94461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A5C70A4-7AD6-E7CA-EFAA-48C2241F998D}"/>
              </a:ext>
            </a:extLst>
          </p:cNvPr>
          <p:cNvSpPr/>
          <p:nvPr/>
        </p:nvSpPr>
        <p:spPr>
          <a:xfrm>
            <a:off x="115282" y="4141618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A70C665C-A0A1-3DDC-FFB3-4B83E4A28D2E}"/>
              </a:ext>
            </a:extLst>
          </p:cNvPr>
          <p:cNvSpPr/>
          <p:nvPr/>
        </p:nvSpPr>
        <p:spPr>
          <a:xfrm>
            <a:off x="1992000" y="2186604"/>
            <a:ext cx="2399220" cy="548640"/>
          </a:xfrm>
          <a:prstGeom prst="rect">
            <a:avLst/>
          </a:prstGeom>
          <a:solidFill>
            <a:srgbClr val="1E6BA8"/>
          </a:solidFill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GRU</a:t>
            </a:r>
            <a:endParaRPr lang="en-US" dirty="0"/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3EE5F30F-583D-5DB8-2AAA-5F176F4F93C2}"/>
              </a:ext>
            </a:extLst>
          </p:cNvPr>
          <p:cNvSpPr/>
          <p:nvPr/>
        </p:nvSpPr>
        <p:spPr>
          <a:xfrm>
            <a:off x="4528020" y="2460924"/>
            <a:ext cx="952166" cy="0"/>
          </a:xfrm>
          <a:prstGeom prst="line">
            <a:avLst/>
          </a:prstGeom>
          <a:noFill/>
          <a:ln w="31750">
            <a:solidFill>
              <a:srgbClr val="26A69A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ABFD457B-200F-EF7F-2837-4784620FB611}"/>
              </a:ext>
            </a:extLst>
          </p:cNvPr>
          <p:cNvSpPr/>
          <p:nvPr/>
        </p:nvSpPr>
        <p:spPr>
          <a:xfrm>
            <a:off x="5648200" y="2095164"/>
            <a:ext cx="2632310" cy="731520"/>
          </a:xfrm>
          <a:prstGeom prst="rect">
            <a:avLst/>
          </a:prstGeom>
          <a:solidFill>
            <a:srgbClr val="183B5B"/>
          </a:solidFill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GRU-ODE</a:t>
            </a:r>
            <a:endParaRPr lang="en-US" dirty="0"/>
          </a:p>
        </p:txBody>
      </p:sp>
      <p:sp>
        <p:nvSpPr>
          <p:cNvPr id="64" name="Shape 13">
            <a:extLst>
              <a:ext uri="{FF2B5EF4-FFF2-40B4-BE49-F238E27FC236}">
                <a16:creationId xmlns:a16="http://schemas.microsoft.com/office/drawing/2014/main" id="{5A6C4062-37EA-E453-72E5-E5C7939C97A8}"/>
              </a:ext>
            </a:extLst>
          </p:cNvPr>
          <p:cNvSpPr/>
          <p:nvPr/>
        </p:nvSpPr>
        <p:spPr>
          <a:xfrm flipH="1">
            <a:off x="8430244" y="2444978"/>
            <a:ext cx="674930" cy="0"/>
          </a:xfrm>
          <a:prstGeom prst="line">
            <a:avLst/>
          </a:prstGeom>
          <a:noFill/>
          <a:ln w="31750">
            <a:solidFill>
              <a:srgbClr val="26A69A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65" name="Text 14">
            <a:extLst>
              <a:ext uri="{FF2B5EF4-FFF2-40B4-BE49-F238E27FC236}">
                <a16:creationId xmlns:a16="http://schemas.microsoft.com/office/drawing/2014/main" id="{1905FF62-6F1D-C35E-13E7-B42DE716FA61}"/>
              </a:ext>
            </a:extLst>
          </p:cNvPr>
          <p:cNvSpPr/>
          <p:nvPr/>
        </p:nvSpPr>
        <p:spPr>
          <a:xfrm>
            <a:off x="9334189" y="2186604"/>
            <a:ext cx="2637375" cy="548640"/>
          </a:xfrm>
          <a:prstGeom prst="rect">
            <a:avLst/>
          </a:prstGeom>
          <a:solidFill>
            <a:srgbClr val="26A69A"/>
          </a:solidFill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Neural ODE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553B1D-711C-68FD-CC58-44F4F19592BE}"/>
              </a:ext>
            </a:extLst>
          </p:cNvPr>
          <p:cNvSpPr txBox="1"/>
          <p:nvPr/>
        </p:nvSpPr>
        <p:spPr>
          <a:xfrm>
            <a:off x="1710068" y="1537214"/>
            <a:ext cx="12584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GRU-ODE </a:t>
            </a:r>
            <a:r>
              <a:rPr lang="en-US" sz="1800" dirty="0" err="1">
                <a:solidFill>
                  <a:srgbClr val="1F2937"/>
                </a:solidFill>
              </a:rPr>
              <a:t>menggabungkan</a:t>
            </a:r>
            <a:r>
              <a:rPr lang="en-US" sz="1800" dirty="0">
                <a:solidFill>
                  <a:srgbClr val="1F2937"/>
                </a:solidFill>
              </a:rPr>
              <a:t> </a:t>
            </a:r>
            <a:r>
              <a:rPr lang="en-US" sz="1800" dirty="0" err="1">
                <a:solidFill>
                  <a:srgbClr val="1F2937"/>
                </a:solidFill>
              </a:rPr>
              <a:t>kelebihan</a:t>
            </a:r>
            <a:r>
              <a:rPr lang="en-US" sz="1800" dirty="0">
                <a:solidFill>
                  <a:srgbClr val="1F2937"/>
                </a:solidFill>
              </a:rPr>
              <a:t> GRU dan Neural ODE:</a:t>
            </a:r>
            <a:endParaRPr lang="en-US" sz="18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D912ADB-2A38-1DD1-F13C-B0559AD99F81}"/>
              </a:ext>
            </a:extLst>
          </p:cNvPr>
          <p:cNvSpPr txBox="1"/>
          <p:nvPr/>
        </p:nvSpPr>
        <p:spPr>
          <a:xfrm>
            <a:off x="1718400" y="2935739"/>
            <a:ext cx="29357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1F2937"/>
                </a:solidFill>
              </a:rPr>
              <a:t>GRU </a:t>
            </a:r>
            <a:r>
              <a:rPr lang="en-US" sz="1200" dirty="0" err="1">
                <a:solidFill>
                  <a:srgbClr val="1F2937"/>
                </a:solidFill>
              </a:rPr>
              <a:t>mempelajari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dependensi</a:t>
            </a:r>
            <a:r>
              <a:rPr lang="en-US" sz="1200" dirty="0">
                <a:solidFill>
                  <a:srgbClr val="1F2937"/>
                </a:solidFill>
              </a:rPr>
              <a:t> temporal </a:t>
            </a:r>
            <a:r>
              <a:rPr lang="en-US" sz="1200" dirty="0" err="1">
                <a:solidFill>
                  <a:srgbClr val="1F2937"/>
                </a:solidFill>
              </a:rPr>
              <a:t>jangka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panjang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dengan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i="1" dirty="0">
                <a:solidFill>
                  <a:srgbClr val="1F2937"/>
                </a:solidFill>
              </a:rPr>
              <a:t>gating mechanism</a:t>
            </a:r>
            <a:endParaRPr lang="en-ID" sz="1200" i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74CF36-3F3B-F3C8-3C96-9A1FBB9EA384}"/>
              </a:ext>
            </a:extLst>
          </p:cNvPr>
          <p:cNvSpPr txBox="1"/>
          <p:nvPr/>
        </p:nvSpPr>
        <p:spPr>
          <a:xfrm>
            <a:off x="9184979" y="2930802"/>
            <a:ext cx="29357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1F2937"/>
                </a:solidFill>
              </a:rPr>
              <a:t>Neural ODE </a:t>
            </a:r>
            <a:r>
              <a:rPr lang="en-US" sz="1200" dirty="0" err="1">
                <a:solidFill>
                  <a:srgbClr val="1F2937"/>
                </a:solidFill>
              </a:rPr>
              <a:t>memodelkan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evolusi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i="1" dirty="0">
                <a:solidFill>
                  <a:srgbClr val="1F2937"/>
                </a:solidFill>
              </a:rPr>
              <a:t>hidden state </a:t>
            </a:r>
            <a:r>
              <a:rPr lang="en-US" sz="1200" dirty="0" err="1">
                <a:solidFill>
                  <a:srgbClr val="1F2937"/>
                </a:solidFill>
              </a:rPr>
              <a:t>secara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kontinu</a:t>
            </a:r>
            <a:r>
              <a:rPr lang="en-US" sz="1200" dirty="0">
                <a:solidFill>
                  <a:srgbClr val="1F2937"/>
                </a:solidFill>
              </a:rPr>
              <a:t>.</a:t>
            </a:r>
            <a:endParaRPr lang="en-ID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15EAB9-5BFC-F0FB-7234-13DFFC0CE61C}"/>
              </a:ext>
            </a:extLst>
          </p:cNvPr>
          <p:cNvSpPr txBox="1"/>
          <p:nvPr/>
        </p:nvSpPr>
        <p:spPr>
          <a:xfrm>
            <a:off x="5408927" y="2983779"/>
            <a:ext cx="29357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1F2937"/>
                </a:solidFill>
              </a:rPr>
              <a:t>GRU-ODE </a:t>
            </a:r>
            <a:r>
              <a:rPr lang="en-US" sz="1200" b="1" dirty="0" err="1">
                <a:solidFill>
                  <a:srgbClr val="1F2937"/>
                </a:solidFill>
              </a:rPr>
              <a:t>sebagai</a:t>
            </a:r>
            <a:r>
              <a:rPr lang="en-US" sz="1200" b="1" dirty="0">
                <a:solidFill>
                  <a:srgbClr val="1F2937"/>
                </a:solidFill>
              </a:rPr>
              <a:t> </a:t>
            </a:r>
            <a:r>
              <a:rPr lang="en-US" sz="1200" b="1" dirty="0" err="1">
                <a:solidFill>
                  <a:srgbClr val="1F2937"/>
                </a:solidFill>
              </a:rPr>
              <a:t>solusi</a:t>
            </a:r>
            <a:r>
              <a:rPr lang="en-US" sz="1200" b="1" dirty="0">
                <a:solidFill>
                  <a:srgbClr val="1F2937"/>
                </a:solidFill>
              </a:rPr>
              <a:t> </a:t>
            </a:r>
            <a:r>
              <a:rPr lang="en-US" sz="1200" b="1" dirty="0" err="1">
                <a:solidFill>
                  <a:srgbClr val="1F2937"/>
                </a:solidFill>
              </a:rPr>
              <a:t>untuk</a:t>
            </a:r>
            <a:r>
              <a:rPr lang="en-US" sz="1200" b="1" dirty="0">
                <a:solidFill>
                  <a:srgbClr val="1F2937"/>
                </a:solidFill>
              </a:rPr>
              <a:t> </a:t>
            </a:r>
            <a:r>
              <a:rPr lang="en-US" sz="1200" b="1" dirty="0" err="1">
                <a:solidFill>
                  <a:srgbClr val="1F2937"/>
                </a:solidFill>
              </a:rPr>
              <a:t>kasus</a:t>
            </a:r>
            <a:r>
              <a:rPr lang="en-US" sz="1200" b="1" dirty="0">
                <a:solidFill>
                  <a:srgbClr val="1F2937"/>
                </a:solidFill>
              </a:rPr>
              <a:t> irregular time-series forecasting</a:t>
            </a:r>
            <a:endParaRPr lang="en-ID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CFA396-FC0F-488E-B2DC-0CD7CC785157}"/>
                  </a:ext>
                </a:extLst>
              </p:cNvPr>
              <p:cNvSpPr txBox="1"/>
              <p:nvPr/>
            </p:nvSpPr>
            <p:spPr>
              <a:xfrm>
                <a:off x="1869020" y="5241301"/>
                <a:ext cx="9950588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D" sz="1400" dirty="0" err="1"/>
                  <a:t>Dengan</a:t>
                </a:r>
                <a:r>
                  <a:rPr lang="en-ID" sz="1400" dirty="0"/>
                  <a:t>:</a:t>
                </a:r>
              </a:p>
              <a:p>
                <a:pPr algn="ctr"/>
                <a:r>
                  <a:rPr lang="en-ID" sz="1400" dirty="0"/>
                  <a:t> </a:t>
                </a:r>
                <a14:m>
                  <m:oMath xmlns:m="http://schemas.openxmlformats.org/officeDocument/2006/math">
                    <m:r>
                      <a:rPr lang="en-ID" sz="1400" i="1" dirty="0" smtClean="0">
                        <a:latin typeface="Cambria Math" panose="020F0502020204030204" pitchFamily="18" charset="0"/>
                      </a:rPr>
                      <m:t>𝑑h</m:t>
                    </m:r>
                    <m:r>
                      <a:rPr lang="en-ID" sz="1400" i="1" dirty="0" smtClean="0">
                        <a:latin typeface="Cambria Math" panose="020F0502020204030204" pitchFamily="18" charset="0"/>
                      </a:rPr>
                      <m:t>/</m:t>
                    </m:r>
                    <m:r>
                      <a:rPr lang="en-ID" sz="1400" i="1" dirty="0" smtClean="0">
                        <a:latin typeface="Cambria Math" panose="020F0502020204030204" pitchFamily="18" charset="0"/>
                      </a:rPr>
                      <m:t>𝑑𝑡</m:t>
                    </m:r>
                  </m:oMath>
                </a14:m>
                <a:r>
                  <a:rPr lang="en-ID" sz="1400" dirty="0"/>
                  <a:t>= </a:t>
                </a:r>
                <a:r>
                  <a:rPr lang="en-ID" sz="1400" dirty="0" err="1"/>
                  <a:t>laju</a:t>
                </a:r>
                <a:r>
                  <a:rPr lang="en-ID" sz="1400" dirty="0"/>
                  <a:t> </a:t>
                </a:r>
                <a:r>
                  <a:rPr lang="en-ID" sz="1400" dirty="0" err="1"/>
                  <a:t>evolusi</a:t>
                </a:r>
                <a:r>
                  <a:rPr lang="en-ID" sz="1400" dirty="0"/>
                  <a:t> hidden state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400" i="1" smtClean="0">
                              <a:latin typeface="Cambria Math" panose="020F0502020204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F0502020204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F0502020204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= 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𝑟𝑒𝑠𝑒𝑡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𝑔𝑎𝑡𝑒</m:t>
                      </m:r>
                    </m:oMath>
                  </m:oMathPara>
                </a14:m>
                <a:endParaRPr lang="en-US" sz="1400" b="0" i="1" dirty="0">
                  <a:latin typeface="Cambria Math" panose="020F0502020204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400" i="1" smtClean="0">
                              <a:latin typeface="Cambria Math" panose="020F0502020204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F0502020204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F0502020204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1400" i="1">
                          <a:latin typeface="Cambria Math" panose="020F0502020204030204" pitchFamily="18" charset="0"/>
                        </a:rPr>
                        <m:t>= 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𝑐𝑎𝑛𝑑𝑖𝑑𝑎𝑡𝑒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h𝑖𝑑𝑑𝑒𝑛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𝑠𝑡𝑎𝑡𝑒</m:t>
                      </m:r>
                    </m:oMath>
                  </m:oMathPara>
                </a14:m>
                <a:endParaRPr lang="en-US" sz="1400" b="0" i="1" dirty="0">
                  <a:latin typeface="Cambria Math" panose="020F0502020204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i="1" smtClean="0">
                          <a:latin typeface="Cambria Math" panose="020F0502020204030204" pitchFamily="18" charset="0"/>
                        </a:rPr>
                        <m:t>h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F0502020204030204" pitchFamily="18" charset="0"/>
                        </a:rPr>
                        <m:t>t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)= </m:t>
                      </m:r>
                      <m:r>
                        <a:rPr lang="en-US" sz="1400" i="1">
                          <a:latin typeface="Cambria Math" panose="020F0502020204030204" pitchFamily="18" charset="0"/>
                        </a:rPr>
                        <m:t>h𝑖𝑑𝑑𝑒𝑛</m:t>
                      </m:r>
                      <m:r>
                        <a:rPr lang="en-US" sz="1400" i="1">
                          <a:latin typeface="Cambria Math" panose="020F0502020204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F0502020204030204" pitchFamily="18" charset="0"/>
                        </a:rPr>
                        <m:t>𝑠𝑡𝑎𝑡𝑒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F0502020204030204" pitchFamily="18" charset="0"/>
                        </a:rPr>
                        <m:t>pada</m:t>
                      </m:r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F0502020204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F0502020204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F0502020204030204" pitchFamily="18" charset="0"/>
                            </a:rPr>
                            <m:t>t</m:t>
                          </m:r>
                          <m:r>
                            <a:rPr lang="en-US" sz="1400" b="0" i="1" smtClean="0">
                              <a:latin typeface="Cambria Math" panose="020F0502020204030204" pitchFamily="18" charset="0"/>
                            </a:rPr>
                            <m:t>-1</m:t>
                          </m:r>
                        </m:sub>
                      </m:sSub>
                    </m:oMath>
                  </m:oMathPara>
                </a14:m>
                <a:endParaRPr lang="en-US" sz="1400" i="1" dirty="0">
                  <a:latin typeface="Cambria Math" panose="020F0502020204030204" pitchFamily="18" charset="0"/>
                </a:endParaRPr>
              </a:p>
              <a:p>
                <a:pPr/>
                <a:endParaRPr lang="en-US" sz="1400" b="0" i="1" dirty="0">
                  <a:latin typeface="Cambria Math" panose="020F0502020204030204" pitchFamily="18" charset="0"/>
                </a:endParaRPr>
              </a:p>
              <a:p>
                <a:pPr/>
                <a:endParaRPr lang="en-US" sz="1400" i="1" dirty="0">
                  <a:latin typeface="Cambria Math" panose="020F0502020204030204" pitchFamily="18" charset="0"/>
                </a:endParaRPr>
              </a:p>
              <a:p>
                <a:endParaRPr lang="en-US" sz="1400" i="1" dirty="0">
                  <a:latin typeface="Cambria Math" panose="020F0502020204030204" pitchFamily="18" charset="0"/>
                </a:endParaRPr>
              </a:p>
              <a:p>
                <a:endParaRPr lang="en-US" sz="1400" b="0" i="1" dirty="0">
                  <a:latin typeface="Cambria Math" panose="020F0502020204030204" pitchFamily="18" charset="0"/>
                </a:endParaRPr>
              </a:p>
              <a:p>
                <a:endParaRPr lang="en-US" sz="1400" b="0" i="1" dirty="0">
                  <a:latin typeface="Cambria Math" panose="020F0502020204030204" pitchFamily="18" charset="0"/>
                </a:endParaRPr>
              </a:p>
              <a:p>
                <a:endParaRPr lang="en-US" sz="1400" b="0" i="1" dirty="0">
                  <a:latin typeface="Cambria Math" panose="020F0502020204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F0502020204030204" pitchFamily="18" charset="0"/>
                        </a:rPr>
                        <m:t> </m:t>
                      </m:r>
                    </m:oMath>
                  </m:oMathPara>
                </a14:m>
                <a:endParaRPr lang="en-ID" sz="1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CFA396-FC0F-488E-B2DC-0CD7CC785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020" y="5241301"/>
                <a:ext cx="9950588" cy="2677656"/>
              </a:xfrm>
              <a:prstGeom prst="rect">
                <a:avLst/>
              </a:prstGeom>
              <a:blipFill>
                <a:blip r:embed="rId18"/>
                <a:stretch>
                  <a:fillRect l="-184" t="-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93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A01C20-87B4-32A4-8AAA-037F9C29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55676F6-611E-A4DE-6652-19E12314B3D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4931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5" imgH="405" progId="TCLayout.ActiveDocument.1">
                  <p:embed/>
                </p:oleObj>
              </mc:Choice>
              <mc:Fallback>
                <p:oleObj name="think-cell Slide" r:id="rId11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D6EE42-D88A-E3CC-5E0E-82CBCBAF2A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0901DCD-AD2A-B283-9053-96867B3D75E9}"/>
              </a:ext>
            </a:extLst>
          </p:cNvPr>
          <p:cNvSpPr/>
          <p:nvPr/>
        </p:nvSpPr>
        <p:spPr>
          <a:xfrm rot="5400000">
            <a:off x="4953825" y="3604588"/>
            <a:ext cx="1664545" cy="129539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2CE1EB-D383-63A7-539F-D9D5147900EA}"/>
              </a:ext>
            </a:extLst>
          </p:cNvPr>
          <p:cNvSpPr/>
          <p:nvPr/>
        </p:nvSpPr>
        <p:spPr>
          <a:xfrm>
            <a:off x="5769625" y="3475559"/>
            <a:ext cx="5745600" cy="1548096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89FE71-E44F-B55B-CC0F-3599C8CD28C7}"/>
              </a:ext>
            </a:extLst>
          </p:cNvPr>
          <p:cNvSpPr txBox="1"/>
          <p:nvPr/>
        </p:nvSpPr>
        <p:spPr>
          <a:xfrm>
            <a:off x="5786098" y="3660019"/>
            <a:ext cx="5364060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D" dirty="0"/>
              <a:t>Hidden Layer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lapisan</a:t>
            </a:r>
            <a:r>
              <a:rPr lang="en-ID" dirty="0"/>
              <a:t> </a:t>
            </a:r>
            <a:r>
              <a:rPr lang="en-ID" dirty="0" err="1"/>
              <a:t>GRUODECell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hidden units yang </a:t>
            </a:r>
            <a:r>
              <a:rPr lang="en-ID" dirty="0" err="1"/>
              <a:t>membentuk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fθ</a:t>
            </a:r>
            <a:r>
              <a:rPr lang="en-ID" dirty="0"/>
              <a:t> pada hidden state h(t) yang </a:t>
            </a:r>
            <a:r>
              <a:rPr lang="en-ID" dirty="0" err="1"/>
              <a:t>diselesaikan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numerik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ODESolver</a:t>
            </a:r>
            <a:r>
              <a:rPr lang="en-ID" dirty="0"/>
              <a:t>.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8824F4A7-37CE-CB60-1604-69EBFC14F7F2}"/>
              </a:ext>
            </a:extLst>
          </p:cNvPr>
          <p:cNvSpPr/>
          <p:nvPr/>
        </p:nvSpPr>
        <p:spPr>
          <a:xfrm rot="5400000">
            <a:off x="5258663" y="2048381"/>
            <a:ext cx="1054870" cy="1295396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123C38-B5DE-4F37-D703-BC22B8E91054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7CECA-18BD-7250-34B7-6082AF12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16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32D349-5691-F00C-F2C9-EF35E396871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8A01BE95-FAFF-6BF3-C0C9-2D355D83F495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F1577DBB-ECFD-0C5B-7316-AEBBF8F5276E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Implementasi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Gated Recurrent Unit-Ordinary Differential Equation 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1A26B39-53F4-266C-D5F7-FE62B8D8DFB2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4BFE31B-CEEC-CC4D-AAB4-0F4EC2F991CF}"/>
              </a:ext>
            </a:extLst>
          </p:cNvPr>
          <p:cNvSpPr/>
          <p:nvPr/>
        </p:nvSpPr>
        <p:spPr>
          <a:xfrm rot="5400000">
            <a:off x="5291175" y="5034367"/>
            <a:ext cx="989846" cy="1295396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4BFE33A-C4FA-46DB-042B-E1DCF885C08F}"/>
              </a:ext>
            </a:extLst>
          </p:cNvPr>
          <p:cNvSpPr/>
          <p:nvPr/>
        </p:nvSpPr>
        <p:spPr>
          <a:xfrm>
            <a:off x="5769625" y="5195486"/>
            <a:ext cx="5745600" cy="920598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8EDC80-AECA-76B9-2440-58B7BC536E79}"/>
              </a:ext>
            </a:extLst>
          </p:cNvPr>
          <p:cNvSpPr txBox="1"/>
          <p:nvPr/>
        </p:nvSpPr>
        <p:spPr>
          <a:xfrm>
            <a:off x="5786098" y="5192754"/>
            <a:ext cx="536406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representasi</a:t>
            </a:r>
            <a:r>
              <a:rPr lang="en-ID" dirty="0"/>
              <a:t> </a:t>
            </a:r>
            <a:r>
              <a:rPr lang="en-ID" i="1" dirty="0"/>
              <a:t>hidden state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ODESolve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 closing price Intraday LQ45 pada time step </a:t>
            </a:r>
            <a:r>
              <a:rPr lang="en-ID" dirty="0" err="1"/>
              <a:t>berikutnya</a:t>
            </a:r>
            <a:r>
              <a:rPr lang="en-ID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21275-48D9-3A48-21F9-A9BBD1483BED}"/>
              </a:ext>
            </a:extLst>
          </p:cNvPr>
          <p:cNvSpPr/>
          <p:nvPr/>
        </p:nvSpPr>
        <p:spPr>
          <a:xfrm>
            <a:off x="1718400" y="1548299"/>
            <a:ext cx="10254072" cy="368301"/>
          </a:xfrm>
          <a:prstGeom prst="rect">
            <a:avLst/>
          </a:prstGeom>
          <a:solidFill>
            <a:srgbClr val="70AD4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 err="1"/>
              <a:t>Ringkasan</a:t>
            </a:r>
            <a:r>
              <a:rPr lang="en-ID" sz="2000" dirty="0"/>
              <a:t> Model</a:t>
            </a:r>
            <a:endParaRPr lang="id-ID" sz="2000" dirty="0"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2A1B5C-B407-2EA2-A969-89B3182D2291}"/>
              </a:ext>
            </a:extLst>
          </p:cNvPr>
          <p:cNvSpPr/>
          <p:nvPr/>
        </p:nvSpPr>
        <p:spPr>
          <a:xfrm>
            <a:off x="5769625" y="2181537"/>
            <a:ext cx="5745600" cy="981073"/>
          </a:xfrm>
          <a:prstGeom prst="rect">
            <a:avLst/>
          </a:prstGeom>
          <a:solidFill>
            <a:schemeClr val="bg1"/>
          </a:solidFill>
          <a:ln>
            <a:solidFill>
              <a:srgbClr val="BEE7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D39EE-124F-E2CD-1509-728C58AF3864}"/>
              </a:ext>
            </a:extLst>
          </p:cNvPr>
          <p:cNvSpPr txBox="1"/>
          <p:nvPr/>
        </p:nvSpPr>
        <p:spPr>
          <a:xfrm>
            <a:off x="5786098" y="2239280"/>
            <a:ext cx="536406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D" dirty="0"/>
              <a:t>Input layer </a:t>
            </a:r>
            <a:r>
              <a:rPr lang="en-ID" dirty="0" err="1"/>
              <a:t>menerima</a:t>
            </a:r>
            <a:r>
              <a:rPr lang="en-ID" dirty="0"/>
              <a:t> dua input,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b="1" dirty="0"/>
              <a:t>feature sequencing </a:t>
            </a:r>
            <a:r>
              <a:rPr lang="en-ID" b="1" dirty="0" err="1"/>
              <a:t>harga</a:t>
            </a:r>
            <a:r>
              <a:rPr lang="en-ID" b="1" dirty="0"/>
              <a:t> closing price </a:t>
            </a:r>
            <a:r>
              <a:rPr lang="en-ID" b="1" dirty="0" err="1"/>
              <a:t>sepanjang</a:t>
            </a:r>
            <a:r>
              <a:rPr lang="en-ID" b="1" dirty="0"/>
              <a:t> 30 time step</a:t>
            </a:r>
            <a:r>
              <a:rPr lang="en-ID" dirty="0"/>
              <a:t> dan </a:t>
            </a:r>
            <a:r>
              <a:rPr lang="en-ID" b="1" dirty="0"/>
              <a:t>elapsed time</a:t>
            </a:r>
            <a:r>
              <a:rPr lang="en-ID" dirty="0"/>
              <a:t>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C94BFF5-03B9-FC24-4CE2-9AA041F495FB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8742486-461B-0A21-299B-DED6FD6148E1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C4498EB-747E-304B-47A0-7BBC23C3C25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4432C42-9F64-E92B-C73C-3FF16CC2FF6A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EDD32CF7-D769-FE12-6ECC-CF5CD18FC67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837F38F-990C-88E7-72EC-CE2B372B7474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1164F7D9-C57F-72DE-0076-47EDD36EECC3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C55CF98D-95B6-CBA5-9EB5-E1E046E9E909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18C0A6-7DE6-424C-5C85-FEBF5B8D417C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94FB4-8D11-215B-D3AC-38C088714037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1276A3-9652-5E36-B775-40C90E086A10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87388C-D60C-19BE-C71A-041CF1BBB2D2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A8B4DD-8C95-4823-E813-9B25BFCF402C}"/>
              </a:ext>
            </a:extLst>
          </p:cNvPr>
          <p:cNvSpPr/>
          <p:nvPr/>
        </p:nvSpPr>
        <p:spPr>
          <a:xfrm>
            <a:off x="120848" y="2205103"/>
            <a:ext cx="1528712" cy="182565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378F789-D475-1053-EF42-72F029861BCB}"/>
              </a:ext>
            </a:extLst>
          </p:cNvPr>
          <p:cNvSpPr/>
          <p:nvPr/>
        </p:nvSpPr>
        <p:spPr>
          <a:xfrm>
            <a:off x="115475" y="4933960"/>
            <a:ext cx="1528712" cy="104123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7BD0B0-20A6-F81A-06BC-E28EE34D06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007" y="2117996"/>
            <a:ext cx="3327477" cy="418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43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B25D5C-9CCA-9962-EF98-9262BD14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B318213-7BD8-1DDD-55F5-BF966F0DB4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5" imgH="405" progId="TCLayout.ActiveDocument.1">
                  <p:embed/>
                </p:oleObj>
              </mc:Choice>
              <mc:Fallback>
                <p:oleObj name="think-cell Slide" r:id="rId11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318213-7BD8-1DDD-55F5-BF966F0DB4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C0451198-1522-FBCD-9CF5-94D59FAEC858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1972C-080B-89C1-4D08-6BD2DF79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17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F65ADF-9DA7-80C0-F292-60BC4669CAC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2490E21E-3F71-7537-03EF-9F57BCBE8A80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22D588A3-A7FA-A660-3C71-B57069017EA9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ea typeface="Calibri"/>
                <a:cs typeface="Calibri"/>
                <a:sym typeface="Calibri"/>
              </a:rPr>
              <a:t>Model</a:t>
            </a: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Gated Recurrent Unit-Ordinary Differential Equation 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E18EFB7-F8F8-498B-09C1-1534299B0ABF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1D49A1-9362-BE88-44A0-06969BDA10B5}"/>
              </a:ext>
            </a:extLst>
          </p:cNvPr>
          <p:cNvSpPr/>
          <p:nvPr/>
        </p:nvSpPr>
        <p:spPr>
          <a:xfrm>
            <a:off x="115475" y="4120466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61DE5A0A-BEC3-799B-4E76-9EEEBC1FEC37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AD3E8937-FFC4-32F2-919C-ED3BC288F2F6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E7EBC488-0004-84F3-D3BD-DB68E6895C09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CD731D58-1D88-95F4-1E9A-BBB8BB560FEF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56C1C2D6-9D66-3F28-266A-B2DA1DFF8776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2685A431-872E-0340-A774-8DC2B3ABD42E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EB649318-A74E-0AAD-41FF-FBF9B37ED23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3C675D03-D4CD-B978-DEBF-CEAF56A11D6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2728FA-7F49-EDB0-D8E5-F3F5AD6F8C1E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BFE716-4D4B-B235-DD25-496C24049164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65E9BB-495B-D5EC-5BB0-2F4FAD106A70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53D78E-8BD8-8885-E5A1-1E0A2EE44FE9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4DE6C52-5838-2FFE-0C0A-B1371656286E}"/>
              </a:ext>
            </a:extLst>
          </p:cNvPr>
          <p:cNvSpPr/>
          <p:nvPr/>
        </p:nvSpPr>
        <p:spPr>
          <a:xfrm>
            <a:off x="120848" y="2205103"/>
            <a:ext cx="1528712" cy="94461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D0F1D2-49E9-8D1C-A527-66CE8673EA4A}"/>
              </a:ext>
            </a:extLst>
          </p:cNvPr>
          <p:cNvSpPr/>
          <p:nvPr/>
        </p:nvSpPr>
        <p:spPr>
          <a:xfrm>
            <a:off x="115282" y="4141618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DDE7E0-5A5F-C669-6820-EFC079A85A56}"/>
              </a:ext>
            </a:extLst>
          </p:cNvPr>
          <p:cNvSpPr/>
          <p:nvPr/>
        </p:nvSpPr>
        <p:spPr>
          <a:xfrm>
            <a:off x="1736726" y="1511300"/>
            <a:ext cx="3679385" cy="32385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222" tIns="49611" rIns="99222" bIns="49611" rtlCol="0" anchor="ctr"/>
          <a:lstStyle/>
          <a:p>
            <a:pPr algn="ctr" defTabSz="992221"/>
            <a:r>
              <a:rPr lang="en-ID" sz="2170" kern="1302" dirty="0"/>
              <a:t>Input Data</a:t>
            </a:r>
            <a:endParaRPr lang="en-ID" sz="2170" kern="1302" dirty="0"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6F397C-4C23-39FD-4B18-949147EB8BE7}"/>
              </a:ext>
            </a:extLst>
          </p:cNvPr>
          <p:cNvSpPr/>
          <p:nvPr/>
        </p:nvSpPr>
        <p:spPr>
          <a:xfrm>
            <a:off x="2549658" y="2277405"/>
            <a:ext cx="2052000" cy="79968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>
                <a:solidFill>
                  <a:schemeClr val="tx1"/>
                </a:solidFill>
              </a:rPr>
              <a:t>OHLC LQ45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67E72A-A272-EF39-83C8-7512D811D1F2}"/>
              </a:ext>
            </a:extLst>
          </p:cNvPr>
          <p:cNvSpPr/>
          <p:nvPr/>
        </p:nvSpPr>
        <p:spPr>
          <a:xfrm>
            <a:off x="1895672" y="3388349"/>
            <a:ext cx="1401226" cy="1033545"/>
          </a:xfrm>
          <a:prstGeom prst="rect">
            <a:avLst/>
          </a:prstGeom>
          <a:solidFill>
            <a:srgbClr val="E8E8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dirty="0">
                <a:solidFill>
                  <a:schemeClr val="tx1"/>
                </a:solidFill>
              </a:rPr>
              <a:t>Input </a:t>
            </a:r>
          </a:p>
          <a:p>
            <a:pPr algn="ctr"/>
            <a:r>
              <a:rPr lang="en-ID" sz="1400" dirty="0">
                <a:solidFill>
                  <a:schemeClr val="tx1"/>
                </a:solidFill>
              </a:rPr>
              <a:t>Closing Price</a:t>
            </a:r>
          </a:p>
          <a:p>
            <a:pPr algn="ctr"/>
            <a:r>
              <a:rPr lang="en-ID" sz="1200" dirty="0">
                <a:solidFill>
                  <a:schemeClr val="tx1"/>
                </a:solidFill>
              </a:rPr>
              <a:t>(batch size, 30,1)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DA9A7F4-46DA-BBE8-361C-DA8036134563}"/>
                  </a:ext>
                </a:extLst>
              </p:cNvPr>
              <p:cNvSpPr/>
              <p:nvPr/>
            </p:nvSpPr>
            <p:spPr>
              <a:xfrm>
                <a:off x="3839174" y="3381429"/>
                <a:ext cx="1401226" cy="1033545"/>
              </a:xfrm>
              <a:prstGeom prst="rect">
                <a:avLst/>
              </a:prstGeom>
              <a:solidFill>
                <a:srgbClr val="E8E8E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ID" sz="1200" dirty="0">
                    <a:solidFill>
                      <a:schemeClr val="tx1"/>
                    </a:solidFill>
                  </a:rPr>
                  <a:t>(batch size, 30)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DA9A7F4-46DA-BBE8-361C-DA80361345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174" y="3381429"/>
                <a:ext cx="1401226" cy="103354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C745E09-21BD-F9D1-57CC-D40CEB13E077}"/>
              </a:ext>
            </a:extLst>
          </p:cNvPr>
          <p:cNvSpPr/>
          <p:nvPr/>
        </p:nvSpPr>
        <p:spPr>
          <a:xfrm>
            <a:off x="1827194" y="4802391"/>
            <a:ext cx="3378132" cy="415091"/>
          </a:xfrm>
          <a:prstGeom prst="roundRect">
            <a:avLst/>
          </a:prstGeom>
          <a:solidFill>
            <a:srgbClr val="70AD4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b="1" dirty="0"/>
              <a:t>Concatenate to (30,2)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0D7CFFA-6F57-7017-3E7C-164E4F6842FF}"/>
              </a:ext>
            </a:extLst>
          </p:cNvPr>
          <p:cNvCxnSpPr>
            <a:stCxn id="17" idx="2"/>
            <a:endCxn id="23" idx="0"/>
          </p:cNvCxnSpPr>
          <p:nvPr/>
        </p:nvCxnSpPr>
        <p:spPr>
          <a:xfrm flipH="1">
            <a:off x="2596285" y="3077087"/>
            <a:ext cx="979373" cy="311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7FA7770-F140-E40B-6E81-7A515348B6DB}"/>
              </a:ext>
            </a:extLst>
          </p:cNvPr>
          <p:cNvCxnSpPr>
            <a:stCxn id="17" idx="2"/>
            <a:endCxn id="26" idx="0"/>
          </p:cNvCxnSpPr>
          <p:nvPr/>
        </p:nvCxnSpPr>
        <p:spPr>
          <a:xfrm>
            <a:off x="3575658" y="3077087"/>
            <a:ext cx="964129" cy="304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037FF3C-AFFA-6711-D978-677C44A8F20B}"/>
              </a:ext>
            </a:extLst>
          </p:cNvPr>
          <p:cNvCxnSpPr>
            <a:cxnSpLocks/>
          </p:cNvCxnSpPr>
          <p:nvPr/>
        </p:nvCxnSpPr>
        <p:spPr>
          <a:xfrm flipH="1">
            <a:off x="1746101" y="4568384"/>
            <a:ext cx="3554519" cy="17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87699BFC-A063-E321-6800-F44B2C7492F3}"/>
              </a:ext>
            </a:extLst>
          </p:cNvPr>
          <p:cNvSpPr/>
          <p:nvPr/>
        </p:nvSpPr>
        <p:spPr>
          <a:xfrm rot="5400000">
            <a:off x="3370236" y="4407950"/>
            <a:ext cx="339867" cy="368301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1" name="Arrow: Chevron 60">
            <a:extLst>
              <a:ext uri="{FF2B5EF4-FFF2-40B4-BE49-F238E27FC236}">
                <a16:creationId xmlns:a16="http://schemas.microsoft.com/office/drawing/2014/main" id="{25BB73EC-00B7-4A48-3720-8F3525988B29}"/>
              </a:ext>
            </a:extLst>
          </p:cNvPr>
          <p:cNvSpPr/>
          <p:nvPr/>
        </p:nvSpPr>
        <p:spPr>
          <a:xfrm rot="5400000">
            <a:off x="3447837" y="4475322"/>
            <a:ext cx="169925" cy="21124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95F543B-3456-727D-5B7F-0ECAA284CF49}"/>
              </a:ext>
            </a:extLst>
          </p:cNvPr>
          <p:cNvCxnSpPr/>
          <p:nvPr/>
        </p:nvCxnSpPr>
        <p:spPr>
          <a:xfrm>
            <a:off x="6457998" y="4021064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5F84C41-9151-0B85-A810-621E7ABA66F0}"/>
              </a:ext>
            </a:extLst>
          </p:cNvPr>
          <p:cNvSpPr/>
          <p:nvPr/>
        </p:nvSpPr>
        <p:spPr>
          <a:xfrm>
            <a:off x="5685600" y="1511300"/>
            <a:ext cx="6292800" cy="326766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222" tIns="49611" rIns="99222" bIns="49611" rtlCol="0" anchor="ctr"/>
          <a:lstStyle/>
          <a:p>
            <a:pPr algn="ctr" defTabSz="992221"/>
            <a:r>
              <a:rPr lang="en-ID" sz="2170" kern="1302" dirty="0" err="1"/>
              <a:t>Struktur</a:t>
            </a:r>
            <a:endParaRPr lang="en-ID" sz="2170" kern="1302" dirty="0"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3026307-1728-3050-5623-24DD62498F55}"/>
              </a:ext>
            </a:extLst>
          </p:cNvPr>
          <p:cNvSpPr/>
          <p:nvPr/>
        </p:nvSpPr>
        <p:spPr>
          <a:xfrm>
            <a:off x="6652370" y="1983125"/>
            <a:ext cx="2191056" cy="4038230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BC6052-2274-F8A5-4561-E125DB05AD2C}"/>
              </a:ext>
            </a:extLst>
          </p:cNvPr>
          <p:cNvSpPr/>
          <p:nvPr/>
        </p:nvSpPr>
        <p:spPr>
          <a:xfrm>
            <a:off x="5705598" y="2001949"/>
            <a:ext cx="752400" cy="403823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dirty="0">
                <a:solidFill>
                  <a:schemeClr val="tx1"/>
                </a:solidFill>
              </a:rPr>
              <a:t>Input Data</a:t>
            </a:r>
          </a:p>
          <a:p>
            <a:pPr algn="ctr"/>
            <a:r>
              <a:rPr lang="en-ID" sz="1400" dirty="0">
                <a:solidFill>
                  <a:schemeClr val="tx1"/>
                </a:solidFill>
              </a:rPr>
              <a:t>x (t)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ABD451-FC6B-3430-66F2-B16362B74B57}"/>
              </a:ext>
            </a:extLst>
          </p:cNvPr>
          <p:cNvSpPr txBox="1"/>
          <p:nvPr/>
        </p:nvSpPr>
        <p:spPr>
          <a:xfrm>
            <a:off x="6992013" y="2359159"/>
            <a:ext cx="1596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/>
              <a:t>GRU-ODE Layer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0D1581-A5B3-B670-17E9-2E32AB230B21}"/>
              </a:ext>
            </a:extLst>
          </p:cNvPr>
          <p:cNvSpPr/>
          <p:nvPr/>
        </p:nvSpPr>
        <p:spPr>
          <a:xfrm>
            <a:off x="11089200" y="1958115"/>
            <a:ext cx="860539" cy="4064139"/>
          </a:xfrm>
          <a:prstGeom prst="roundRect">
            <a:avLst/>
          </a:prstGeom>
          <a:solidFill>
            <a:srgbClr val="70AD4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dirty="0"/>
              <a:t>Output Layer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1F7195-7FD8-D5BA-F17A-02E31C05986E}"/>
              </a:ext>
            </a:extLst>
          </p:cNvPr>
          <p:cNvSpPr/>
          <p:nvPr/>
        </p:nvSpPr>
        <p:spPr>
          <a:xfrm>
            <a:off x="9034182" y="2029732"/>
            <a:ext cx="1952911" cy="3992522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CD7D0-FE61-B9EA-A1BF-28ED1F6CD21E}"/>
              </a:ext>
            </a:extLst>
          </p:cNvPr>
          <p:cNvSpPr txBox="1"/>
          <p:nvPr/>
        </p:nvSpPr>
        <p:spPr>
          <a:xfrm>
            <a:off x="8895028" y="2336085"/>
            <a:ext cx="2187146" cy="748959"/>
          </a:xfrm>
          <a:prstGeom prst="rect">
            <a:avLst/>
          </a:prstGeom>
          <a:noFill/>
        </p:spPr>
        <p:txBody>
          <a:bodyPr wrap="square" lIns="105954" tIns="52977" rIns="105954" bIns="52977" rtlCol="0">
            <a:spAutoFit/>
          </a:bodyPr>
          <a:lstStyle/>
          <a:p>
            <a:pPr algn="ctr" defTabSz="1059543"/>
            <a:r>
              <a:rPr lang="en-ID" sz="2086" kern="1390" dirty="0"/>
              <a:t>Hidden state evolution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82FF6C-0CD5-DBBE-4F6F-90CD76D8004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9522" y="3232718"/>
            <a:ext cx="2030743" cy="9588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000C017-3101-DF85-E87D-0605CB3C5F9B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5656" r="62026"/>
          <a:stretch>
            <a:fillRect/>
          </a:stretch>
        </p:blipFill>
        <p:spPr>
          <a:xfrm>
            <a:off x="9628418" y="3170370"/>
            <a:ext cx="777140" cy="971248"/>
          </a:xfrm>
          <a:prstGeom prst="rect">
            <a:avLst/>
          </a:prstGeom>
          <a:ln w="11037">
            <a:solidFill>
              <a:schemeClr val="bg1"/>
            </a:solidFill>
          </a:ln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EA9949-85D6-35F4-E3D4-F1D3AEB24EF4}"/>
              </a:ext>
            </a:extLst>
          </p:cNvPr>
          <p:cNvCxnSpPr/>
          <p:nvPr/>
        </p:nvCxnSpPr>
        <p:spPr>
          <a:xfrm>
            <a:off x="8849423" y="3990184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760616E-3126-E03A-E3B2-A8055EA41163}"/>
              </a:ext>
            </a:extLst>
          </p:cNvPr>
          <p:cNvCxnSpPr/>
          <p:nvPr/>
        </p:nvCxnSpPr>
        <p:spPr>
          <a:xfrm>
            <a:off x="10976727" y="3934117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A8F3B41-3B36-D559-C77F-089C88E38C99}"/>
              </a:ext>
            </a:extLst>
          </p:cNvPr>
          <p:cNvSpPr/>
          <p:nvPr/>
        </p:nvSpPr>
        <p:spPr>
          <a:xfrm>
            <a:off x="6642757" y="1881395"/>
            <a:ext cx="5387329" cy="433607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51194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50FE3-D68E-020D-55D6-6D484CCFF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31E4016-5611-6F4F-C2C5-520B7C45BF1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318213-7BD8-1DDD-55F5-BF966F0DB4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A92F0D8-EE28-FA12-0DD1-1D541A6054EB}"/>
              </a:ext>
            </a:extLst>
          </p:cNvPr>
          <p:cNvCxnSpPr/>
          <p:nvPr/>
        </p:nvCxnSpPr>
        <p:spPr>
          <a:xfrm>
            <a:off x="6457998" y="4021064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A896E93-CBCE-8AEB-5E9B-ED1084C1F17D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0A9D5-0892-6889-3133-D9E6C90F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18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49C1B-6A90-9F5B-4A8D-C99A9A23137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C820D3D-2650-E94F-FA5A-9B96ED566E44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E03C3925-F67D-C748-CAC3-E70960CE3225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ea typeface="Calibri"/>
                <a:cs typeface="Calibri"/>
                <a:sym typeface="Calibri"/>
              </a:rPr>
              <a:t>Model</a:t>
            </a: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Gated Recurrent Unit-Ordinary Differential Equation 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2CB44C3-9753-B0A9-8AEF-6D7B20B24F92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5197C7-2B89-AFFC-415C-B94B7246F207}"/>
              </a:ext>
            </a:extLst>
          </p:cNvPr>
          <p:cNvSpPr/>
          <p:nvPr/>
        </p:nvSpPr>
        <p:spPr>
          <a:xfrm>
            <a:off x="115475" y="4120466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98FA2F46-D62C-AFCA-D376-76562E29DDE0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A31C19C-FBB0-F77A-E661-99BB7F13D58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9CCC6F87-1A05-7A21-6066-D9CDE929A4CC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539AA338-2BA9-B0CD-EA9B-2C49A1C6682A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99E9B271-C416-8ADB-721E-B950E4704102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4C472E7B-FCC7-5CF1-C711-720075D66F6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C9338B01-4414-F7CD-05A3-997D4C614537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4345DFCD-92E2-3AF1-FFAA-347233C1157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6EA199-B748-CFDB-884B-2018CE5AE185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1BE358-67E0-7D66-06AE-0C1B3992ADD6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85074A-EE56-CA65-FDCB-F0911EBAD979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803893-F79D-22E0-97AE-C6C383B3F4C4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A605407-27C0-E9A4-1AEC-37CA3A9869DD}"/>
              </a:ext>
            </a:extLst>
          </p:cNvPr>
          <p:cNvSpPr/>
          <p:nvPr/>
        </p:nvSpPr>
        <p:spPr>
          <a:xfrm>
            <a:off x="120848" y="2205103"/>
            <a:ext cx="1528712" cy="94461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5D31CCB-3684-DC46-911B-278F2533220C}"/>
              </a:ext>
            </a:extLst>
          </p:cNvPr>
          <p:cNvSpPr/>
          <p:nvPr/>
        </p:nvSpPr>
        <p:spPr>
          <a:xfrm>
            <a:off x="115282" y="4141618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CEABC2-D577-F258-6674-6AD2E0BA5E72}"/>
              </a:ext>
            </a:extLst>
          </p:cNvPr>
          <p:cNvSpPr/>
          <p:nvPr/>
        </p:nvSpPr>
        <p:spPr>
          <a:xfrm>
            <a:off x="1736726" y="1511300"/>
            <a:ext cx="3679385" cy="32385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222" tIns="49611" rIns="99222" bIns="49611" rtlCol="0" anchor="ctr"/>
          <a:lstStyle/>
          <a:p>
            <a:pPr algn="ctr" defTabSz="992221"/>
            <a:r>
              <a:rPr lang="en-ID" sz="2170" kern="1302" dirty="0"/>
              <a:t>Input Data</a:t>
            </a:r>
            <a:endParaRPr lang="en-ID" sz="2170" kern="1302" dirty="0"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8BA6A5-C4AB-8465-245A-D9F49EAB206F}"/>
              </a:ext>
            </a:extLst>
          </p:cNvPr>
          <p:cNvSpPr/>
          <p:nvPr/>
        </p:nvSpPr>
        <p:spPr>
          <a:xfrm>
            <a:off x="5685600" y="1511300"/>
            <a:ext cx="6292800" cy="326766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222" tIns="49611" rIns="99222" bIns="49611" rtlCol="0" anchor="ctr"/>
          <a:lstStyle/>
          <a:p>
            <a:pPr algn="ctr" defTabSz="992221"/>
            <a:r>
              <a:rPr lang="en-ID" sz="2170" kern="1302" dirty="0" err="1"/>
              <a:t>Struktur</a:t>
            </a:r>
            <a:endParaRPr lang="en-ID" sz="2170" kern="1302" dirty="0"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45EDAA-EF78-60A2-2084-4C9298339B10}"/>
              </a:ext>
            </a:extLst>
          </p:cNvPr>
          <p:cNvSpPr/>
          <p:nvPr/>
        </p:nvSpPr>
        <p:spPr>
          <a:xfrm>
            <a:off x="6652370" y="1983125"/>
            <a:ext cx="2191056" cy="4038230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5148063-034B-F15D-B359-0455561F913B}"/>
              </a:ext>
            </a:extLst>
          </p:cNvPr>
          <p:cNvSpPr/>
          <p:nvPr/>
        </p:nvSpPr>
        <p:spPr>
          <a:xfrm>
            <a:off x="5705598" y="2001949"/>
            <a:ext cx="752400" cy="403823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dirty="0">
                <a:solidFill>
                  <a:schemeClr val="tx1"/>
                </a:solidFill>
              </a:rPr>
              <a:t>Input Data</a:t>
            </a:r>
          </a:p>
          <a:p>
            <a:pPr algn="ctr"/>
            <a:r>
              <a:rPr lang="en-ID" sz="1400" dirty="0">
                <a:solidFill>
                  <a:schemeClr val="tx1"/>
                </a:solidFill>
              </a:rPr>
              <a:t>x (t)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6D2E57-2CAC-3EDB-D9B6-43B078353DFE}"/>
              </a:ext>
            </a:extLst>
          </p:cNvPr>
          <p:cNvSpPr txBox="1"/>
          <p:nvPr/>
        </p:nvSpPr>
        <p:spPr>
          <a:xfrm>
            <a:off x="6992013" y="2359159"/>
            <a:ext cx="1596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/>
              <a:t>GRU-ODE Layer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C19D736-2C7F-7965-CBA9-FC239DCDA65B}"/>
              </a:ext>
            </a:extLst>
          </p:cNvPr>
          <p:cNvSpPr/>
          <p:nvPr/>
        </p:nvSpPr>
        <p:spPr>
          <a:xfrm>
            <a:off x="11089200" y="1958115"/>
            <a:ext cx="860539" cy="4064139"/>
          </a:xfrm>
          <a:prstGeom prst="roundRect">
            <a:avLst/>
          </a:prstGeom>
          <a:solidFill>
            <a:srgbClr val="70AD4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dirty="0"/>
              <a:t>Output Layer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AC6B40A4-C65E-FFF0-11FC-68263C53183B}"/>
              </a:ext>
            </a:extLst>
          </p:cNvPr>
          <p:cNvSpPr/>
          <p:nvPr/>
        </p:nvSpPr>
        <p:spPr>
          <a:xfrm>
            <a:off x="9034182" y="2029732"/>
            <a:ext cx="1952911" cy="3992522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F43038-E9DD-AD3D-CE08-48300C8AEAEF}"/>
              </a:ext>
            </a:extLst>
          </p:cNvPr>
          <p:cNvSpPr txBox="1"/>
          <p:nvPr/>
        </p:nvSpPr>
        <p:spPr>
          <a:xfrm>
            <a:off x="8895028" y="2336085"/>
            <a:ext cx="2187146" cy="748959"/>
          </a:xfrm>
          <a:prstGeom prst="rect">
            <a:avLst/>
          </a:prstGeom>
          <a:noFill/>
        </p:spPr>
        <p:txBody>
          <a:bodyPr wrap="square" lIns="105954" tIns="52977" rIns="105954" bIns="52977" rtlCol="0">
            <a:spAutoFit/>
          </a:bodyPr>
          <a:lstStyle/>
          <a:p>
            <a:pPr algn="ctr" defTabSz="1059543"/>
            <a:r>
              <a:rPr lang="en-ID" sz="2086" kern="1390" dirty="0"/>
              <a:t>Hidden state evolution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A269D3-CA3D-1F61-F93D-5BF3B6649C57}"/>
              </a:ext>
            </a:extLst>
          </p:cNvPr>
          <p:cNvSpPr/>
          <p:nvPr/>
        </p:nvSpPr>
        <p:spPr>
          <a:xfrm>
            <a:off x="2549658" y="2277405"/>
            <a:ext cx="2052000" cy="79968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>
                <a:solidFill>
                  <a:schemeClr val="tx1"/>
                </a:solidFill>
              </a:rPr>
              <a:t>OHLC LQ45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4ED79D-379A-BD28-B821-F6348B1A9F7C}"/>
              </a:ext>
            </a:extLst>
          </p:cNvPr>
          <p:cNvSpPr/>
          <p:nvPr/>
        </p:nvSpPr>
        <p:spPr>
          <a:xfrm>
            <a:off x="1895672" y="3388349"/>
            <a:ext cx="1401226" cy="1033545"/>
          </a:xfrm>
          <a:prstGeom prst="rect">
            <a:avLst/>
          </a:prstGeom>
          <a:solidFill>
            <a:srgbClr val="E8E8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dirty="0">
                <a:solidFill>
                  <a:schemeClr val="tx1"/>
                </a:solidFill>
              </a:rPr>
              <a:t>Input </a:t>
            </a:r>
          </a:p>
          <a:p>
            <a:pPr algn="ctr"/>
            <a:r>
              <a:rPr lang="en-ID" sz="1400" dirty="0">
                <a:solidFill>
                  <a:schemeClr val="tx1"/>
                </a:solidFill>
              </a:rPr>
              <a:t>Closing Price</a:t>
            </a:r>
          </a:p>
          <a:p>
            <a:pPr algn="ctr"/>
            <a:r>
              <a:rPr lang="en-ID" sz="1200" dirty="0">
                <a:solidFill>
                  <a:schemeClr val="tx1"/>
                </a:solidFill>
              </a:rPr>
              <a:t>(batch size, 30,1)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00A53F7-C73A-6C61-9190-612199EF8E95}"/>
                  </a:ext>
                </a:extLst>
              </p:cNvPr>
              <p:cNvSpPr/>
              <p:nvPr/>
            </p:nvSpPr>
            <p:spPr>
              <a:xfrm>
                <a:off x="3839174" y="3381429"/>
                <a:ext cx="1401226" cy="1033545"/>
              </a:xfrm>
              <a:prstGeom prst="rect">
                <a:avLst/>
              </a:prstGeom>
              <a:solidFill>
                <a:srgbClr val="E8E8E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ID" sz="1200" dirty="0">
                    <a:solidFill>
                      <a:schemeClr val="tx1"/>
                    </a:solidFill>
                  </a:rPr>
                  <a:t>(batch size, 30)</a:t>
                </a:r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00A53F7-C73A-6C61-9190-612199EF8E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174" y="3381429"/>
                <a:ext cx="1401226" cy="103354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CFDFF05-E555-0AAB-26F4-3DBA83C8B191}"/>
              </a:ext>
            </a:extLst>
          </p:cNvPr>
          <p:cNvSpPr/>
          <p:nvPr/>
        </p:nvSpPr>
        <p:spPr>
          <a:xfrm>
            <a:off x="1827194" y="4802391"/>
            <a:ext cx="3378132" cy="415091"/>
          </a:xfrm>
          <a:prstGeom prst="roundRect">
            <a:avLst/>
          </a:prstGeom>
          <a:solidFill>
            <a:srgbClr val="70AD4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b="1" dirty="0"/>
              <a:t>Concatenate to (30,2)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9A3FCCD-E839-21B1-0CED-0B3B1641B484}"/>
              </a:ext>
            </a:extLst>
          </p:cNvPr>
          <p:cNvCxnSpPr>
            <a:stCxn id="17" idx="2"/>
            <a:endCxn id="23" idx="0"/>
          </p:cNvCxnSpPr>
          <p:nvPr/>
        </p:nvCxnSpPr>
        <p:spPr>
          <a:xfrm flipH="1">
            <a:off x="2596285" y="3077087"/>
            <a:ext cx="979373" cy="311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3322E6F-2FEA-05D0-49EA-1103F2E2E172}"/>
              </a:ext>
            </a:extLst>
          </p:cNvPr>
          <p:cNvCxnSpPr>
            <a:stCxn id="17" idx="2"/>
            <a:endCxn id="26" idx="0"/>
          </p:cNvCxnSpPr>
          <p:nvPr/>
        </p:nvCxnSpPr>
        <p:spPr>
          <a:xfrm>
            <a:off x="3575658" y="3077087"/>
            <a:ext cx="964129" cy="304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EE76B1D-5ADF-FDAC-4D90-F1ADD0BEDD3B}"/>
              </a:ext>
            </a:extLst>
          </p:cNvPr>
          <p:cNvCxnSpPr>
            <a:cxnSpLocks/>
          </p:cNvCxnSpPr>
          <p:nvPr/>
        </p:nvCxnSpPr>
        <p:spPr>
          <a:xfrm flipH="1">
            <a:off x="1746101" y="4568384"/>
            <a:ext cx="3554519" cy="17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B58FEB60-A8CB-1EB7-CCC0-292AFB79F012}"/>
              </a:ext>
            </a:extLst>
          </p:cNvPr>
          <p:cNvSpPr/>
          <p:nvPr/>
        </p:nvSpPr>
        <p:spPr>
          <a:xfrm rot="5400000">
            <a:off x="3370236" y="4407950"/>
            <a:ext cx="339867" cy="368301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1" name="Arrow: Chevron 60">
            <a:extLst>
              <a:ext uri="{FF2B5EF4-FFF2-40B4-BE49-F238E27FC236}">
                <a16:creationId xmlns:a16="http://schemas.microsoft.com/office/drawing/2014/main" id="{50945BE0-BC51-821C-E3BC-D093C8077EEA}"/>
              </a:ext>
            </a:extLst>
          </p:cNvPr>
          <p:cNvSpPr/>
          <p:nvPr/>
        </p:nvSpPr>
        <p:spPr>
          <a:xfrm rot="5400000">
            <a:off x="3447837" y="4475322"/>
            <a:ext cx="169925" cy="21124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C84FE6-DD5B-5927-8185-BC4F58A000C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9522" y="3232718"/>
            <a:ext cx="2030743" cy="95889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76ECB6-5CFD-F894-276D-986CFB56333C}"/>
              </a:ext>
            </a:extLst>
          </p:cNvPr>
          <p:cNvCxnSpPr/>
          <p:nvPr/>
        </p:nvCxnSpPr>
        <p:spPr>
          <a:xfrm>
            <a:off x="8849423" y="3990184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3E331-3E82-CE9F-C196-B73609D3304B}"/>
              </a:ext>
            </a:extLst>
          </p:cNvPr>
          <p:cNvCxnSpPr/>
          <p:nvPr/>
        </p:nvCxnSpPr>
        <p:spPr>
          <a:xfrm>
            <a:off x="10976727" y="3934117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8367BFC6-D5EE-0DA7-002A-F9E84209DE9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13285" y="3546380"/>
            <a:ext cx="1761335" cy="7401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6FE797D-AD79-AE2E-F2B9-9D90382B6251}"/>
              </a:ext>
            </a:extLst>
          </p:cNvPr>
          <p:cNvSpPr/>
          <p:nvPr/>
        </p:nvSpPr>
        <p:spPr>
          <a:xfrm>
            <a:off x="6633796" y="1926955"/>
            <a:ext cx="5387329" cy="433607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36813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DB823-58E7-51F7-DFA3-6EAC45A62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04A71DE-8554-6DC8-30F5-9B0E4C7CA27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4A71DE-8554-6DC8-30F5-9B0E4C7CA2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3074C7E6-F7B5-571F-5613-CFC690BAF300}"/>
              </a:ext>
            </a:extLst>
          </p:cNvPr>
          <p:cNvSpPr/>
          <p:nvPr/>
        </p:nvSpPr>
        <p:spPr>
          <a:xfrm rot="10800000">
            <a:off x="1751667" y="2086209"/>
            <a:ext cx="3600922" cy="3910136"/>
          </a:xfrm>
          <a:prstGeom prst="triangle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4F69E9A-ED94-B918-7DD3-4519A7E0D1B2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6F83D-79CE-FDA4-351F-1192AFEE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19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55650F-F319-1808-AAEE-D9110ACF01E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6DDB8013-09D9-1C51-C21B-4D09EA12FF27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344A0ECB-3F47-46AA-FC7E-3F6A43BC7919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ea typeface="Calibri"/>
                <a:cs typeface="Calibri"/>
                <a:sym typeface="Calibri"/>
              </a:rPr>
              <a:t>Model</a:t>
            </a: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Gated Recurrent Unit-Ordinary Differential Equation 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9B6603-CCBF-0573-322F-339148F95903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425301-FDBD-652C-126F-B992ED98F194}"/>
              </a:ext>
            </a:extLst>
          </p:cNvPr>
          <p:cNvSpPr/>
          <p:nvPr/>
        </p:nvSpPr>
        <p:spPr>
          <a:xfrm>
            <a:off x="115475" y="4120466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9A79629B-53F8-A322-A950-7B336F4B056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BBE7B5DD-AAC8-722B-7236-D43A5D3B9ABA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06E1DC0F-7175-BF1D-C1F8-4C6612EB867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C2637253-63ED-4854-34DE-1733EB632CB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CB0B853D-AA77-555E-DFC1-256661A91E5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63012AF6-932E-9E91-D1B3-A5F7AED9341C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12580227-EBBC-BE9F-7494-21AE433429AF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80F9527A-6588-7F65-1DCA-D470D18AD02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D55772-B1EE-DA79-0452-F630DB3E56FC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3FBF02-08B8-32C0-D1B7-DB5A37827D9B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59E76D-B1C6-B34C-B129-F2EA431E185A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82C052-7110-3C34-0928-F0CF015AAFFF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0B00E48-795A-CC99-EBA8-405DB3DBA170}"/>
              </a:ext>
            </a:extLst>
          </p:cNvPr>
          <p:cNvSpPr/>
          <p:nvPr/>
        </p:nvSpPr>
        <p:spPr>
          <a:xfrm>
            <a:off x="120848" y="2205103"/>
            <a:ext cx="1528712" cy="94461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AC2B2B0-4BDB-5504-D7BE-20249DC66BDE}"/>
              </a:ext>
            </a:extLst>
          </p:cNvPr>
          <p:cNvSpPr/>
          <p:nvPr/>
        </p:nvSpPr>
        <p:spPr>
          <a:xfrm>
            <a:off x="115282" y="4141618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FDC8EE-2E7A-BADD-ECEB-0A35B740E339}"/>
              </a:ext>
            </a:extLst>
          </p:cNvPr>
          <p:cNvSpPr/>
          <p:nvPr/>
        </p:nvSpPr>
        <p:spPr>
          <a:xfrm>
            <a:off x="1736726" y="1511300"/>
            <a:ext cx="3679385" cy="32385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222" tIns="49611" rIns="99222" bIns="49611" rtlCol="0" anchor="ctr"/>
          <a:lstStyle/>
          <a:p>
            <a:pPr algn="ctr" defTabSz="992221"/>
            <a:r>
              <a:rPr lang="en-ID" sz="2170" kern="1302" dirty="0"/>
              <a:t>GRU-ODE</a:t>
            </a:r>
            <a:endParaRPr lang="en-ID" sz="2170" kern="1302" dirty="0"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365926-A8FF-2EA6-A28B-39A1CA75056D}"/>
              </a:ext>
            </a:extLst>
          </p:cNvPr>
          <p:cNvSpPr txBox="1"/>
          <p:nvPr/>
        </p:nvSpPr>
        <p:spPr>
          <a:xfrm>
            <a:off x="1718401" y="2002838"/>
            <a:ext cx="3627162" cy="31835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noAutofit/>
          </a:bodyPr>
          <a:lstStyle/>
          <a:p>
            <a:pPr algn="ctr"/>
            <a:r>
              <a:rPr lang="en-ID" sz="1400" i="1" dirty="0"/>
              <a:t>Reset Gate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8D5251-152A-5553-CE3D-BF1764233405}"/>
              </a:ext>
            </a:extLst>
          </p:cNvPr>
          <p:cNvSpPr txBox="1"/>
          <p:nvPr/>
        </p:nvSpPr>
        <p:spPr>
          <a:xfrm>
            <a:off x="1740517" y="3119613"/>
            <a:ext cx="3627340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i="1" dirty="0"/>
              <a:t>Update Gate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3C1682-5A29-5301-A821-755347B94697}"/>
              </a:ext>
            </a:extLst>
          </p:cNvPr>
          <p:cNvSpPr txBox="1"/>
          <p:nvPr/>
        </p:nvSpPr>
        <p:spPr>
          <a:xfrm>
            <a:off x="1748034" y="4098732"/>
            <a:ext cx="3627340" cy="307777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i="1" dirty="0"/>
              <a:t>Candidate Hidden State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278E570-19A2-A1EB-E50E-B795CBA697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8153" y="2434414"/>
            <a:ext cx="3206347" cy="5024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DF653F2-E315-24A9-4FE8-3658411CDB0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46241" y="3516993"/>
            <a:ext cx="3183098" cy="41245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5F4F9D6-BB0B-C3A8-B1B3-BE379441185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89892" y="4575332"/>
            <a:ext cx="3492808" cy="345525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BD50B57-6BB0-2DDD-C96E-10EA68B4FD8A}"/>
              </a:ext>
            </a:extLst>
          </p:cNvPr>
          <p:cNvSpPr txBox="1"/>
          <p:nvPr/>
        </p:nvSpPr>
        <p:spPr>
          <a:xfrm>
            <a:off x="1746294" y="5087028"/>
            <a:ext cx="3627340" cy="307777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i="1" dirty="0"/>
              <a:t>Candidate Hidden State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FA01F6EB-BEC0-3C08-8A7E-671E7CC3018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56402" y="5478092"/>
            <a:ext cx="2806844" cy="558829"/>
          </a:xfrm>
          <a:prstGeom prst="rect">
            <a:avLst/>
          </a:prstGeom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03D1F63-9286-DC08-1253-A37F842A3965}"/>
              </a:ext>
            </a:extLst>
          </p:cNvPr>
          <p:cNvCxnSpPr/>
          <p:nvPr/>
        </p:nvCxnSpPr>
        <p:spPr>
          <a:xfrm>
            <a:off x="6518689" y="4036348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C4C4067C-6FA9-0D1B-114C-061B9E821B3C}"/>
              </a:ext>
            </a:extLst>
          </p:cNvPr>
          <p:cNvSpPr/>
          <p:nvPr/>
        </p:nvSpPr>
        <p:spPr>
          <a:xfrm>
            <a:off x="5746291" y="1526584"/>
            <a:ext cx="6292800" cy="326766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222" tIns="49611" rIns="99222" bIns="49611" rtlCol="0" anchor="ctr"/>
          <a:lstStyle/>
          <a:p>
            <a:pPr algn="ctr" defTabSz="992221"/>
            <a:r>
              <a:rPr lang="en-ID" sz="2170" kern="1302" dirty="0" err="1"/>
              <a:t>Struktur</a:t>
            </a:r>
            <a:endParaRPr lang="en-ID" sz="2170" kern="1302" dirty="0">
              <a:cs typeface="Arial" panose="020B0604020202020204" pitchFamily="34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0CC7A5C-ED84-4F61-64DC-0E7C7A0849A3}"/>
              </a:ext>
            </a:extLst>
          </p:cNvPr>
          <p:cNvSpPr/>
          <p:nvPr/>
        </p:nvSpPr>
        <p:spPr>
          <a:xfrm>
            <a:off x="6713061" y="1998409"/>
            <a:ext cx="2191056" cy="4038230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B46A4B5-95E1-FCB0-E54B-E9F469DB15D8}"/>
              </a:ext>
            </a:extLst>
          </p:cNvPr>
          <p:cNvSpPr/>
          <p:nvPr/>
        </p:nvSpPr>
        <p:spPr>
          <a:xfrm>
            <a:off x="5766289" y="2017233"/>
            <a:ext cx="752400" cy="403823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dirty="0">
                <a:solidFill>
                  <a:schemeClr val="tx1"/>
                </a:solidFill>
              </a:rPr>
              <a:t>Input Data</a:t>
            </a:r>
          </a:p>
          <a:p>
            <a:pPr algn="ctr"/>
            <a:r>
              <a:rPr lang="en-ID" sz="1400" dirty="0">
                <a:solidFill>
                  <a:schemeClr val="tx1"/>
                </a:solidFill>
              </a:rPr>
              <a:t>x (t)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31E5CB-6D37-5775-A62C-C6D7D4348D50}"/>
              </a:ext>
            </a:extLst>
          </p:cNvPr>
          <p:cNvSpPr txBox="1"/>
          <p:nvPr/>
        </p:nvSpPr>
        <p:spPr>
          <a:xfrm>
            <a:off x="7052704" y="2374443"/>
            <a:ext cx="1596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/>
              <a:t>GRU-ODE Layer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01A785B-DABD-824E-4E43-359AA0262C60}"/>
              </a:ext>
            </a:extLst>
          </p:cNvPr>
          <p:cNvSpPr/>
          <p:nvPr/>
        </p:nvSpPr>
        <p:spPr>
          <a:xfrm>
            <a:off x="11149891" y="1973399"/>
            <a:ext cx="860539" cy="4064139"/>
          </a:xfrm>
          <a:prstGeom prst="roundRect">
            <a:avLst/>
          </a:prstGeom>
          <a:solidFill>
            <a:srgbClr val="70AD4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dirty="0"/>
              <a:t>Output Layer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2A80878B-3712-D606-81AA-1F4095F90119}"/>
              </a:ext>
            </a:extLst>
          </p:cNvPr>
          <p:cNvSpPr/>
          <p:nvPr/>
        </p:nvSpPr>
        <p:spPr>
          <a:xfrm>
            <a:off x="9094873" y="2045016"/>
            <a:ext cx="1952911" cy="3992522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C5E692B-911E-CF04-8947-0A0D5A4F70D4}"/>
              </a:ext>
            </a:extLst>
          </p:cNvPr>
          <p:cNvSpPr txBox="1"/>
          <p:nvPr/>
        </p:nvSpPr>
        <p:spPr>
          <a:xfrm>
            <a:off x="8955719" y="2351369"/>
            <a:ext cx="2187146" cy="748959"/>
          </a:xfrm>
          <a:prstGeom prst="rect">
            <a:avLst/>
          </a:prstGeom>
          <a:noFill/>
        </p:spPr>
        <p:txBody>
          <a:bodyPr wrap="square" lIns="105954" tIns="52977" rIns="105954" bIns="52977" rtlCol="0">
            <a:spAutoFit/>
          </a:bodyPr>
          <a:lstStyle/>
          <a:p>
            <a:pPr algn="ctr" defTabSz="1059543"/>
            <a:r>
              <a:rPr lang="en-ID" sz="2086" kern="1390" dirty="0"/>
              <a:t>Hidden state evolution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AC5D6CC8-80DD-3363-9C0E-D1E8A15D28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00213" y="3248002"/>
            <a:ext cx="2030743" cy="958899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8AED9F4-70B0-BB37-BAD2-66261FCF31F8}"/>
              </a:ext>
            </a:extLst>
          </p:cNvPr>
          <p:cNvCxnSpPr/>
          <p:nvPr/>
        </p:nvCxnSpPr>
        <p:spPr>
          <a:xfrm>
            <a:off x="8910114" y="4005468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F904BF5-A96B-5198-5B3F-3DCCDD110848}"/>
              </a:ext>
            </a:extLst>
          </p:cNvPr>
          <p:cNvCxnSpPr/>
          <p:nvPr/>
        </p:nvCxnSpPr>
        <p:spPr>
          <a:xfrm>
            <a:off x="11037418" y="3949401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58C1C1A-EDCA-BF99-0F8E-1B9E02387A6B}"/>
              </a:ext>
            </a:extLst>
          </p:cNvPr>
          <p:cNvSpPr/>
          <p:nvPr/>
        </p:nvSpPr>
        <p:spPr>
          <a:xfrm>
            <a:off x="5653355" y="1930693"/>
            <a:ext cx="1062926" cy="433607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9F83CB7-9FE0-F3E7-08C7-8EC67B04E75B}"/>
              </a:ext>
            </a:extLst>
          </p:cNvPr>
          <p:cNvSpPr/>
          <p:nvPr/>
        </p:nvSpPr>
        <p:spPr>
          <a:xfrm>
            <a:off x="11110557" y="1930693"/>
            <a:ext cx="1062926" cy="433607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473155C9-50F6-8688-E615-5B4C0EB0D37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12555" y="3387622"/>
            <a:ext cx="1734950" cy="7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43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2D64B-4AD7-D7FE-1B9D-D1955B919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7EA4BF-9DD6-6864-E93A-6403E051660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7EA4BF-9DD6-6864-E93A-6403E05166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C302DB1E-41B8-E1E1-78D0-B47204D21C28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76168-42DD-6856-9254-0D5CCA999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20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366304-9DA3-BA10-5E0D-E5BBB0E105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F14CC93C-C727-D46E-9F40-A0F1C7D6F942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DA7A8069-5186-0D44-49E0-5530F627D992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ea typeface="Calibri"/>
                <a:cs typeface="Calibri"/>
                <a:sym typeface="Calibri"/>
              </a:rPr>
              <a:t>Model</a:t>
            </a: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Gated Recurrent Unit-Ordinary Differential Equation 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19640AD-E908-7775-7CE9-337D1820D821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9D83A-541B-EFF9-C270-0C3158B95919}"/>
              </a:ext>
            </a:extLst>
          </p:cNvPr>
          <p:cNvSpPr/>
          <p:nvPr/>
        </p:nvSpPr>
        <p:spPr>
          <a:xfrm>
            <a:off x="115475" y="4120466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0A8C0429-96DD-5237-7FE6-E9543DF6B09F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A4EA7C81-2B06-0088-D37B-1E7450F214C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3EA1F9BD-9C5F-38D3-B970-A6ECA037DC7D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7D3438DA-E38F-162B-875C-56B76AFA43DD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3C6888B9-9DC8-747E-EC0D-061C41F6B34C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CC50C234-178D-F0EE-05E6-22C81CD42332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A4418849-C8F7-FEB5-4289-9A0401CAF4E9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77BA9E6A-D1A7-88FE-2A72-3905E4B5E39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D954F3-1D8D-BDE2-ED12-CA634ABD028D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A51FF0-0176-D489-534B-32C6551B157E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7EB39A-0F58-529D-F75C-DC155C8BD0BC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2C6A0C-E6D4-DB1D-1AF4-63B21E86FA58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CF3AACE-5F95-CED8-D02F-40AFEA9BE0E1}"/>
              </a:ext>
            </a:extLst>
          </p:cNvPr>
          <p:cNvSpPr/>
          <p:nvPr/>
        </p:nvSpPr>
        <p:spPr>
          <a:xfrm>
            <a:off x="120848" y="2205103"/>
            <a:ext cx="1528712" cy="94461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A16C802-22A0-C232-D0AC-0568025E5E1B}"/>
              </a:ext>
            </a:extLst>
          </p:cNvPr>
          <p:cNvSpPr/>
          <p:nvPr/>
        </p:nvSpPr>
        <p:spPr>
          <a:xfrm>
            <a:off x="115282" y="4141618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D1C921-3B91-498A-70B7-0278DCD0E68B}"/>
              </a:ext>
            </a:extLst>
          </p:cNvPr>
          <p:cNvSpPr/>
          <p:nvPr/>
        </p:nvSpPr>
        <p:spPr>
          <a:xfrm>
            <a:off x="1736726" y="1511300"/>
            <a:ext cx="3679385" cy="323850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222" tIns="49611" rIns="99222" bIns="49611" rtlCol="0" anchor="ctr"/>
          <a:lstStyle/>
          <a:p>
            <a:pPr algn="ctr" defTabSz="992221"/>
            <a:r>
              <a:rPr lang="en-ID" sz="2170" kern="1302" dirty="0"/>
              <a:t>Output Layer</a:t>
            </a:r>
            <a:endParaRPr lang="en-ID" sz="2170" kern="1302" dirty="0"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DF00B99-842D-463C-48EB-6C5519C13F66}"/>
              </a:ext>
            </a:extLst>
          </p:cNvPr>
          <p:cNvSpPr txBox="1"/>
          <p:nvPr/>
        </p:nvSpPr>
        <p:spPr>
          <a:xfrm>
            <a:off x="1765954" y="4043030"/>
            <a:ext cx="3627340" cy="307777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i="1" dirty="0"/>
              <a:t>Predicted Closing Price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F3F3FF7-CFB2-0552-6AE1-53CEBFA7C500}"/>
              </a:ext>
            </a:extLst>
          </p:cNvPr>
          <p:cNvCxnSpPr>
            <a:cxnSpLocks/>
          </p:cNvCxnSpPr>
          <p:nvPr/>
        </p:nvCxnSpPr>
        <p:spPr>
          <a:xfrm flipH="1">
            <a:off x="1751486" y="3831801"/>
            <a:ext cx="3554519" cy="17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B6D525E2-B639-7E94-9740-0D50039DBFEC}"/>
              </a:ext>
            </a:extLst>
          </p:cNvPr>
          <p:cNvSpPr/>
          <p:nvPr/>
        </p:nvSpPr>
        <p:spPr>
          <a:xfrm rot="5400000">
            <a:off x="3377320" y="3632092"/>
            <a:ext cx="339867" cy="368301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0" name="Arrow: Chevron 79">
            <a:extLst>
              <a:ext uri="{FF2B5EF4-FFF2-40B4-BE49-F238E27FC236}">
                <a16:creationId xmlns:a16="http://schemas.microsoft.com/office/drawing/2014/main" id="{19C7D0C9-60E1-B5C0-B322-D8CF24DCC091}"/>
              </a:ext>
            </a:extLst>
          </p:cNvPr>
          <p:cNvSpPr/>
          <p:nvPr/>
        </p:nvSpPr>
        <p:spPr>
          <a:xfrm rot="5400000">
            <a:off x="3453222" y="3738739"/>
            <a:ext cx="169925" cy="21124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CFBA27-C921-9028-0404-B19BC99A075A}"/>
                  </a:ext>
                </a:extLst>
              </p:cNvPr>
              <p:cNvSpPr txBox="1"/>
              <p:nvPr/>
            </p:nvSpPr>
            <p:spPr>
              <a:xfrm>
                <a:off x="1897352" y="3262443"/>
                <a:ext cx="3411767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F0502020204030204" pitchFamily="18" charset="0"/>
                        </a:rPr>
                        <m:t>𝑜𝑢𝑡𝑝𝑢</m:t>
                      </m:r>
                      <m:sSub>
                        <m:sSubPr>
                          <m:ctrlPr>
                            <a:rPr lang="en-US" i="1">
                              <a:latin typeface="Cambria Math" panose="020F0502020204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F0502020204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F0502020204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latin typeface="Cambria Math" panose="020F0502020204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F0502020204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F0502020204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F0502020204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F0502020204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𝑜𝑢𝑡𝑝𝑢𝑡</m:t>
                          </m:r>
                        </m:sub>
                      </m:sSub>
                      <m:r>
                        <a:rPr lang="en-US" i="1">
                          <a:latin typeface="Cambria Math" panose="020F0502020204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F0502020204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F0502020204030204" pitchFamily="18" charset="0"/>
                            </a:rPr>
                            <m:t>𝑜𝑢𝑡𝑝𝑢𝑡</m:t>
                          </m:r>
                        </m:sub>
                      </m:sSub>
                      <m:r>
                        <a:rPr lang="en-US" i="1">
                          <a:latin typeface="Cambria Math" panose="020F0502020204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CFBA27-C921-9028-0404-B19BC99A0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352" y="3262443"/>
                <a:ext cx="3411767" cy="298415"/>
              </a:xfrm>
              <a:prstGeom prst="rect">
                <a:avLst/>
              </a:prstGeom>
              <a:blipFill>
                <a:blip r:embed="rId15"/>
                <a:stretch>
                  <a:fillRect l="-1786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8F03619-F861-4930-7DF8-2D618AEE2CCD}"/>
              </a:ext>
            </a:extLst>
          </p:cNvPr>
          <p:cNvSpPr txBox="1"/>
          <p:nvPr/>
        </p:nvSpPr>
        <p:spPr>
          <a:xfrm>
            <a:off x="1772356" y="4550575"/>
            <a:ext cx="3627340" cy="954107"/>
          </a:xfrm>
          <a:prstGeom prst="rect">
            <a:avLst/>
          </a:prstGeom>
          <a:solidFill>
            <a:srgbClr val="E8E8E8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+mj-lt"/>
              </a:rPr>
              <a:t>Hidden state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yang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dihasilkan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pada </a:t>
            </a:r>
            <a:r>
              <a:rPr lang="en-US" sz="1400" i="1" dirty="0">
                <a:solidFill>
                  <a:srgbClr val="000000"/>
                </a:solidFill>
                <a:latin typeface="+mj-lt"/>
              </a:rPr>
              <a:t>GRU ODE layer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selanjutnya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diteruskan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ke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 i="1" dirty="0">
                <a:solidFill>
                  <a:srgbClr val="000000"/>
                </a:solidFill>
                <a:latin typeface="+mj-lt"/>
              </a:rPr>
              <a:t>output layer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untuk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dipetakan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secara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linear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untuk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mendapat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 i="1" dirty="0">
                <a:solidFill>
                  <a:srgbClr val="000000"/>
                </a:solidFill>
                <a:latin typeface="+mj-lt"/>
              </a:rPr>
              <a:t>predicted closing price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. </a:t>
            </a:r>
            <a:endParaRPr lang="en-US" sz="1400" dirty="0"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AF488A-FAF4-3EC9-CB47-02161372B64E}"/>
              </a:ext>
            </a:extLst>
          </p:cNvPr>
          <p:cNvCxnSpPr/>
          <p:nvPr/>
        </p:nvCxnSpPr>
        <p:spPr>
          <a:xfrm>
            <a:off x="6518689" y="4036348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988DFB3-A79C-CFD9-9628-34BBD38EED13}"/>
              </a:ext>
            </a:extLst>
          </p:cNvPr>
          <p:cNvSpPr/>
          <p:nvPr/>
        </p:nvSpPr>
        <p:spPr>
          <a:xfrm>
            <a:off x="5746291" y="1526584"/>
            <a:ext cx="6292800" cy="326766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222" tIns="49611" rIns="99222" bIns="49611" rtlCol="0" anchor="ctr"/>
          <a:lstStyle/>
          <a:p>
            <a:pPr algn="ctr" defTabSz="992221"/>
            <a:r>
              <a:rPr lang="en-ID" sz="2170" kern="1302" dirty="0" err="1"/>
              <a:t>Struktur</a:t>
            </a:r>
            <a:endParaRPr lang="en-ID" sz="2170" kern="1302" dirty="0">
              <a:cs typeface="Arial" panose="020B0604020202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8F714B9-F30C-90EB-D5C7-791A0CDB8069}"/>
              </a:ext>
            </a:extLst>
          </p:cNvPr>
          <p:cNvSpPr/>
          <p:nvPr/>
        </p:nvSpPr>
        <p:spPr>
          <a:xfrm>
            <a:off x="6713061" y="1998409"/>
            <a:ext cx="2191056" cy="4038230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3E5BA31-281B-35B4-4877-9E4E5B3F494C}"/>
              </a:ext>
            </a:extLst>
          </p:cNvPr>
          <p:cNvSpPr/>
          <p:nvPr/>
        </p:nvSpPr>
        <p:spPr>
          <a:xfrm>
            <a:off x="5766289" y="2017233"/>
            <a:ext cx="752400" cy="403823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dirty="0">
                <a:solidFill>
                  <a:schemeClr val="tx1"/>
                </a:solidFill>
              </a:rPr>
              <a:t>Input Data</a:t>
            </a:r>
          </a:p>
          <a:p>
            <a:pPr algn="ctr"/>
            <a:r>
              <a:rPr lang="en-ID" sz="1400" dirty="0">
                <a:solidFill>
                  <a:schemeClr val="tx1"/>
                </a:solidFill>
              </a:rPr>
              <a:t>x (t)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6F1886-60D6-CD82-71FE-4F25A0A7AFEF}"/>
              </a:ext>
            </a:extLst>
          </p:cNvPr>
          <p:cNvSpPr txBox="1"/>
          <p:nvPr/>
        </p:nvSpPr>
        <p:spPr>
          <a:xfrm>
            <a:off x="7052704" y="2374443"/>
            <a:ext cx="1596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/>
              <a:t>GRU-ODE Layer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47D1850-D48A-7FE5-0930-7370A6E14F6C}"/>
              </a:ext>
            </a:extLst>
          </p:cNvPr>
          <p:cNvSpPr/>
          <p:nvPr/>
        </p:nvSpPr>
        <p:spPr>
          <a:xfrm>
            <a:off x="11149891" y="1973399"/>
            <a:ext cx="860539" cy="4064139"/>
          </a:xfrm>
          <a:prstGeom prst="roundRect">
            <a:avLst/>
          </a:prstGeom>
          <a:solidFill>
            <a:srgbClr val="70AD4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dirty="0"/>
              <a:t>Output Layer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ED7D6C0-B9DB-2434-84F1-7353290733BA}"/>
              </a:ext>
            </a:extLst>
          </p:cNvPr>
          <p:cNvSpPr/>
          <p:nvPr/>
        </p:nvSpPr>
        <p:spPr>
          <a:xfrm>
            <a:off x="9094873" y="2045016"/>
            <a:ext cx="1952911" cy="3992522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59E53F-A505-25B9-8293-9FD8A083E00C}"/>
              </a:ext>
            </a:extLst>
          </p:cNvPr>
          <p:cNvSpPr txBox="1"/>
          <p:nvPr/>
        </p:nvSpPr>
        <p:spPr>
          <a:xfrm>
            <a:off x="8955719" y="2351369"/>
            <a:ext cx="2187146" cy="748959"/>
          </a:xfrm>
          <a:prstGeom prst="rect">
            <a:avLst/>
          </a:prstGeom>
          <a:noFill/>
        </p:spPr>
        <p:txBody>
          <a:bodyPr wrap="square" lIns="105954" tIns="52977" rIns="105954" bIns="52977" rtlCol="0">
            <a:spAutoFit/>
          </a:bodyPr>
          <a:lstStyle/>
          <a:p>
            <a:pPr algn="ctr" defTabSz="1059543"/>
            <a:r>
              <a:rPr lang="en-ID" sz="2086" kern="1390" dirty="0"/>
              <a:t>Hidden state evolution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712F9DCB-C344-121F-0EFB-AD1AD10B14B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0213" y="3248002"/>
            <a:ext cx="2030743" cy="958899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B05F5A2-291C-FD27-8C03-7579B8682E29}"/>
              </a:ext>
            </a:extLst>
          </p:cNvPr>
          <p:cNvCxnSpPr/>
          <p:nvPr/>
        </p:nvCxnSpPr>
        <p:spPr>
          <a:xfrm>
            <a:off x="8910114" y="4005468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BECB6AF-FC29-9322-B11E-33A2DA65F137}"/>
              </a:ext>
            </a:extLst>
          </p:cNvPr>
          <p:cNvCxnSpPr/>
          <p:nvPr/>
        </p:nvCxnSpPr>
        <p:spPr>
          <a:xfrm>
            <a:off x="11037418" y="3949401"/>
            <a:ext cx="1847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Picture 80">
            <a:extLst>
              <a:ext uri="{FF2B5EF4-FFF2-40B4-BE49-F238E27FC236}">
                <a16:creationId xmlns:a16="http://schemas.microsoft.com/office/drawing/2014/main" id="{3A49DE28-4FD2-D9A3-FF7C-C5518ADA7C2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34028" y="3541724"/>
            <a:ext cx="1708310" cy="740101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BD3841BD-1A36-046B-FF52-B0C5ADA45505}"/>
              </a:ext>
            </a:extLst>
          </p:cNvPr>
          <p:cNvSpPr/>
          <p:nvPr/>
        </p:nvSpPr>
        <p:spPr>
          <a:xfrm>
            <a:off x="5662406" y="1881395"/>
            <a:ext cx="5401455" cy="433607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57827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0EC363-10EA-DF5E-168D-6F7CAA736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8ADD773-86A8-7B30-4B24-42215588A3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42" y="2025976"/>
            <a:ext cx="3503590" cy="4379488"/>
          </a:xfrm>
          <a:prstGeom prst="rect">
            <a:avLst/>
          </a:prstGeom>
        </p:spPr>
      </p:pic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94F3C29-C36E-1B59-450E-98C1581F25D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676F6-611E-A4DE-6652-19E12314B3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2A279CA-42A3-0A10-791F-382678CD8742}"/>
              </a:ext>
            </a:extLst>
          </p:cNvPr>
          <p:cNvSpPr/>
          <p:nvPr/>
        </p:nvSpPr>
        <p:spPr>
          <a:xfrm rot="5400000">
            <a:off x="4953825" y="3604588"/>
            <a:ext cx="1664545" cy="129539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E0DE07-5A97-2A3B-0B57-AEADBBBBC2D7}"/>
              </a:ext>
            </a:extLst>
          </p:cNvPr>
          <p:cNvSpPr/>
          <p:nvPr/>
        </p:nvSpPr>
        <p:spPr>
          <a:xfrm>
            <a:off x="5769625" y="3475559"/>
            <a:ext cx="5745600" cy="1548096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174EBD-D14A-D433-9E4F-CF45D95EDEC0}"/>
              </a:ext>
            </a:extLst>
          </p:cNvPr>
          <p:cNvSpPr txBox="1"/>
          <p:nvPr/>
        </p:nvSpPr>
        <p:spPr>
          <a:xfrm>
            <a:off x="5786098" y="3660019"/>
            <a:ext cx="5364060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D" dirty="0"/>
              <a:t>Hidden Layer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lapisan</a:t>
            </a:r>
            <a:r>
              <a:rPr lang="en-ID" dirty="0"/>
              <a:t> </a:t>
            </a:r>
            <a:r>
              <a:rPr lang="en-ID" dirty="0" err="1"/>
              <a:t>GRUODECell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hidden units yang </a:t>
            </a:r>
            <a:r>
              <a:rPr lang="en-ID" dirty="0" err="1"/>
              <a:t>membentuk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fθ</a:t>
            </a:r>
            <a:r>
              <a:rPr lang="en-ID" dirty="0"/>
              <a:t> pada hidden state h(t) yang </a:t>
            </a:r>
            <a:r>
              <a:rPr lang="en-ID" dirty="0" err="1"/>
              <a:t>diselesaikan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numerik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ODESolver</a:t>
            </a:r>
            <a:r>
              <a:rPr lang="en-ID" dirty="0"/>
              <a:t>.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50F966CF-F6BD-AD4B-52C3-EB71E5C5C11A}"/>
              </a:ext>
            </a:extLst>
          </p:cNvPr>
          <p:cNvSpPr/>
          <p:nvPr/>
        </p:nvSpPr>
        <p:spPr>
          <a:xfrm rot="5400000">
            <a:off x="5258663" y="2048381"/>
            <a:ext cx="1054870" cy="1295396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3DCD5FC-63E7-E6A3-040E-644C4E66A788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53865-A8C1-76DA-2912-BD678D96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21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9E5203-EDCC-FA7F-9894-D0DC3F74D0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EADEA54B-DD7D-B72F-03C5-70A01CA36973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46C0A510-2B7B-539D-3EF8-DC5EFFCFFCBF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Implementasi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Gated Recurrent Unit-Ordinary Differential Equation 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3C8B9C2-9DA8-E280-DEEB-D7F98E4AF657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B0EBB3E5-F6C0-D60C-B7D8-49988641C32E}"/>
              </a:ext>
            </a:extLst>
          </p:cNvPr>
          <p:cNvSpPr/>
          <p:nvPr/>
        </p:nvSpPr>
        <p:spPr>
          <a:xfrm rot="5400000">
            <a:off x="5291175" y="5034367"/>
            <a:ext cx="989846" cy="1295396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AE7372-1785-0F95-46EB-90FCD24C9CC7}"/>
              </a:ext>
            </a:extLst>
          </p:cNvPr>
          <p:cNvSpPr/>
          <p:nvPr/>
        </p:nvSpPr>
        <p:spPr>
          <a:xfrm>
            <a:off x="5769625" y="5195486"/>
            <a:ext cx="5745600" cy="920598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3827C5-5567-6A2B-BA33-C5A3089AEFEF}"/>
              </a:ext>
            </a:extLst>
          </p:cNvPr>
          <p:cNvSpPr txBox="1"/>
          <p:nvPr/>
        </p:nvSpPr>
        <p:spPr>
          <a:xfrm>
            <a:off x="5786098" y="5192754"/>
            <a:ext cx="536406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representasi</a:t>
            </a:r>
            <a:r>
              <a:rPr lang="en-ID" dirty="0"/>
              <a:t> </a:t>
            </a:r>
            <a:r>
              <a:rPr lang="en-ID" i="1" dirty="0"/>
              <a:t>hidden state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ODESolve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 closing price Intraday LQ45 pada time step </a:t>
            </a:r>
            <a:r>
              <a:rPr lang="en-ID" dirty="0" err="1"/>
              <a:t>berikutnya</a:t>
            </a:r>
            <a:r>
              <a:rPr lang="en-ID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E0E841-21D9-BF64-59F4-74A102155A10}"/>
              </a:ext>
            </a:extLst>
          </p:cNvPr>
          <p:cNvSpPr/>
          <p:nvPr/>
        </p:nvSpPr>
        <p:spPr>
          <a:xfrm>
            <a:off x="1718400" y="1548299"/>
            <a:ext cx="10254072" cy="368301"/>
          </a:xfrm>
          <a:prstGeom prst="rect">
            <a:avLst/>
          </a:prstGeom>
          <a:solidFill>
            <a:srgbClr val="70AD4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 err="1"/>
              <a:t>Ringkasan</a:t>
            </a:r>
            <a:r>
              <a:rPr lang="en-ID" sz="2000" dirty="0"/>
              <a:t> Model</a:t>
            </a:r>
            <a:endParaRPr lang="id-ID" sz="2000" dirty="0"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F0F2B1-3EA2-AD6D-BA1C-301EC6774A38}"/>
              </a:ext>
            </a:extLst>
          </p:cNvPr>
          <p:cNvSpPr/>
          <p:nvPr/>
        </p:nvSpPr>
        <p:spPr>
          <a:xfrm>
            <a:off x="5769625" y="2181537"/>
            <a:ext cx="5745600" cy="981073"/>
          </a:xfrm>
          <a:prstGeom prst="rect">
            <a:avLst/>
          </a:prstGeom>
          <a:solidFill>
            <a:schemeClr val="bg1"/>
          </a:solidFill>
          <a:ln>
            <a:solidFill>
              <a:srgbClr val="BEE7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F3A771-CF2D-36A8-1F6E-814CBCA9EFBF}"/>
              </a:ext>
            </a:extLst>
          </p:cNvPr>
          <p:cNvSpPr txBox="1"/>
          <p:nvPr/>
        </p:nvSpPr>
        <p:spPr>
          <a:xfrm>
            <a:off x="5786098" y="2239280"/>
            <a:ext cx="536406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D" dirty="0"/>
              <a:t>Input layer </a:t>
            </a:r>
            <a:r>
              <a:rPr lang="en-ID" dirty="0" err="1"/>
              <a:t>menerima</a:t>
            </a:r>
            <a:r>
              <a:rPr lang="en-ID" dirty="0"/>
              <a:t> dua input,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b="1" dirty="0"/>
              <a:t>feature sequencing </a:t>
            </a:r>
            <a:r>
              <a:rPr lang="en-ID" b="1" dirty="0" err="1"/>
              <a:t>harga</a:t>
            </a:r>
            <a:r>
              <a:rPr lang="en-ID" b="1" dirty="0"/>
              <a:t> closing price </a:t>
            </a:r>
            <a:r>
              <a:rPr lang="en-ID" b="1" dirty="0" err="1"/>
              <a:t>sepanjang</a:t>
            </a:r>
            <a:r>
              <a:rPr lang="en-ID" b="1" dirty="0"/>
              <a:t> 30 time step</a:t>
            </a:r>
            <a:r>
              <a:rPr lang="en-ID" dirty="0"/>
              <a:t> dan </a:t>
            </a:r>
            <a:r>
              <a:rPr lang="en-ID" b="1" dirty="0"/>
              <a:t>elapsed time</a:t>
            </a:r>
            <a:r>
              <a:rPr lang="en-ID" dirty="0"/>
              <a:t>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48A7CAF-19EB-D438-4C8A-49BE9944E06E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147AC8B-554E-D6EC-C54A-73486E80B03B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C2D8AEC-37E5-9637-94A0-2A0EEF8CAE2E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F8303BAF-B6FD-1E23-DCCD-13DA4BFAC657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AF6AE5A3-DA5C-10C3-ADBB-C4FB41E36384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AFC467C-15C8-1C53-03B5-56203003E92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8998149E-923F-72CB-FB00-DA2A7E88E28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D85B4B9C-965B-AC68-73F3-A13648CF7B4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86165-56A6-3750-AB1E-93E9F4740DAF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4C28C6-F382-F3FC-FB0E-217FEA4D0C5F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C4CFF6-D28A-FE15-D037-AA68AF84A5F3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7E6958-4455-6B47-4614-7135DA7D7230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7C1622-CC53-3EF0-77FA-49F266BA4B6B}"/>
              </a:ext>
            </a:extLst>
          </p:cNvPr>
          <p:cNvSpPr/>
          <p:nvPr/>
        </p:nvSpPr>
        <p:spPr>
          <a:xfrm>
            <a:off x="120848" y="2205103"/>
            <a:ext cx="1528712" cy="182565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31EB9AD-B42D-5238-5D8C-CE1FBF55EACF}"/>
              </a:ext>
            </a:extLst>
          </p:cNvPr>
          <p:cNvSpPr/>
          <p:nvPr/>
        </p:nvSpPr>
        <p:spPr>
          <a:xfrm>
            <a:off x="115475" y="4933960"/>
            <a:ext cx="1528712" cy="104123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83277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6B4927-BC37-B791-CB68-9C1214CE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8D6EE42-D88A-E3CC-5E0E-82CBCBAF2AD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6362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5" imgH="405" progId="TCLayout.ActiveDocument.1">
                  <p:embed/>
                </p:oleObj>
              </mc:Choice>
              <mc:Fallback>
                <p:oleObj name="think-cell Slide" r:id="rId11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17636B-178C-65EA-60CC-4CC12DED85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60DEED1F-08B2-A373-51B5-7BB6469C217D}"/>
              </a:ext>
            </a:extLst>
          </p:cNvPr>
          <p:cNvSpPr/>
          <p:nvPr/>
        </p:nvSpPr>
        <p:spPr>
          <a:xfrm>
            <a:off x="6780000" y="2308409"/>
            <a:ext cx="5257492" cy="1025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B71B54E-D42C-3413-03AD-3A8B29B899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7600" y="1490897"/>
            <a:ext cx="2589892" cy="529033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A011946E-98A0-258A-5640-57796986526C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2CADC-8B63-B132-F8D3-845200EB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22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D12390-9EB7-2412-3D11-7A3E20AA578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7BD0E0B5-0761-68B5-1B96-8DC800EB3C68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7E0F0888-80BB-74CC-6333-7E456ACFDA5A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ea typeface="Calibri"/>
                <a:cs typeface="Calibri"/>
                <a:sym typeface="Calibri"/>
              </a:rPr>
              <a:t>Model</a:t>
            </a: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Gated Recurrent Unit-Ordinary Differential Equation 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0A8ADE2-F3F2-D1DF-A83B-B0AF5E2AB56F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BEB7B-6B8C-0C55-370F-CF52EC1C3F27}"/>
              </a:ext>
            </a:extLst>
          </p:cNvPr>
          <p:cNvSpPr txBox="1"/>
          <p:nvPr/>
        </p:nvSpPr>
        <p:spPr>
          <a:xfrm>
            <a:off x="1644187" y="1444413"/>
            <a:ext cx="47139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/>
              <a:t>Formulasi</a:t>
            </a:r>
            <a:r>
              <a:rPr lang="en-ID" sz="1400" dirty="0"/>
              <a:t> </a:t>
            </a:r>
            <a:r>
              <a:rPr lang="en-ID" sz="1400" dirty="0" err="1"/>
              <a:t>laju</a:t>
            </a:r>
            <a:r>
              <a:rPr lang="en-ID" sz="1400" dirty="0"/>
              <a:t> </a:t>
            </a:r>
            <a:r>
              <a:rPr lang="en-ID" sz="1400" dirty="0" err="1"/>
              <a:t>perubahan</a:t>
            </a:r>
            <a:r>
              <a:rPr lang="en-ID" sz="1400" dirty="0"/>
              <a:t> hidden state pada GRU-ODE </a:t>
            </a:r>
            <a:r>
              <a:rPr lang="en-ID" sz="1400" dirty="0" err="1"/>
              <a:t>diturunkan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bentuk</a:t>
            </a:r>
            <a:r>
              <a:rPr lang="en-ID" sz="1400" dirty="0"/>
              <a:t> </a:t>
            </a:r>
            <a:r>
              <a:rPr lang="en-ID" sz="1400" dirty="0" err="1"/>
              <a:t>diskrit</a:t>
            </a:r>
            <a:r>
              <a:rPr lang="en-ID" sz="1400" dirty="0"/>
              <a:t> GRU </a:t>
            </a:r>
            <a:r>
              <a:rPr lang="en-ID" sz="1400" dirty="0" err="1"/>
              <a:t>melalui</a:t>
            </a:r>
            <a:r>
              <a:rPr lang="en-ID" sz="1400" dirty="0"/>
              <a:t> </a:t>
            </a:r>
            <a:r>
              <a:rPr lang="en-ID" sz="1400" dirty="0" err="1"/>
              <a:t>analogi</a:t>
            </a:r>
            <a:r>
              <a:rPr lang="en-ID" sz="1400" dirty="0"/>
              <a:t> </a:t>
            </a:r>
            <a:r>
              <a:rPr lang="en-ID" sz="1400" dirty="0" err="1"/>
              <a:t>struktural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langkah</a:t>
            </a:r>
            <a:r>
              <a:rPr lang="en-ID" sz="1400" dirty="0"/>
              <a:t> Euler forward pada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diferensial</a:t>
            </a:r>
            <a:r>
              <a:rPr lang="en-ID" sz="1400" dirty="0"/>
              <a:t> </a:t>
            </a:r>
            <a:r>
              <a:rPr lang="en-ID" sz="1400" dirty="0" err="1"/>
              <a:t>biasa</a:t>
            </a:r>
            <a:r>
              <a:rPr lang="en-ID" sz="1400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5FCE35-5426-6266-846D-26F75A5A92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9781" y="2392576"/>
            <a:ext cx="3905429" cy="12607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A2DA70B-D0B0-B75A-DA2F-4F157BFC33EC}"/>
              </a:ext>
            </a:extLst>
          </p:cNvPr>
          <p:cNvSpPr txBox="1"/>
          <p:nvPr/>
        </p:nvSpPr>
        <p:spPr>
          <a:xfrm>
            <a:off x="6780000" y="1444413"/>
            <a:ext cx="2667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diferensial</a:t>
            </a:r>
            <a:r>
              <a:rPr lang="en-ID" sz="1400" dirty="0"/>
              <a:t> yang </a:t>
            </a:r>
            <a:r>
              <a:rPr lang="en-ID" sz="1400" dirty="0" err="1"/>
              <a:t>mendefinisikan</a:t>
            </a:r>
            <a:r>
              <a:rPr lang="en-ID" sz="1400" dirty="0"/>
              <a:t> </a:t>
            </a:r>
            <a:r>
              <a:rPr lang="en-ID" sz="1400" dirty="0" err="1"/>
              <a:t>dinamika</a:t>
            </a:r>
            <a:r>
              <a:rPr lang="en-ID" sz="1400" dirty="0"/>
              <a:t> hidden state pada GRU-ODE: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3A6D9CE-C826-5EB2-3834-BC2DF0D1A97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53754" y="2272879"/>
            <a:ext cx="2857557" cy="102516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3EDF9A4-EA96-6AB4-7157-377312D33274}"/>
              </a:ext>
            </a:extLst>
          </p:cNvPr>
          <p:cNvSpPr txBox="1"/>
          <p:nvPr/>
        </p:nvSpPr>
        <p:spPr>
          <a:xfrm>
            <a:off x="6780000" y="2415589"/>
            <a:ext cx="22957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komponen</a:t>
            </a:r>
            <a:r>
              <a:rPr lang="en-ID" sz="1200" dirty="0"/>
              <a:t> gate dan candidate hidden state yang </a:t>
            </a:r>
            <a:r>
              <a:rPr lang="en-ID" sz="1200" dirty="0" err="1"/>
              <a:t>bergantung</a:t>
            </a:r>
            <a:r>
              <a:rPr lang="en-ID" sz="1200" dirty="0"/>
              <a:t> pada </a:t>
            </a:r>
            <a:r>
              <a:rPr lang="en-ID" sz="1200" dirty="0" err="1"/>
              <a:t>waktu</a:t>
            </a:r>
            <a:r>
              <a:rPr lang="en-ID" sz="1200" dirty="0"/>
              <a:t> </a:t>
            </a:r>
            <a:r>
              <a:rPr lang="en-ID" sz="1200" dirty="0" err="1"/>
              <a:t>didefinisikan</a:t>
            </a:r>
            <a:r>
              <a:rPr lang="en-ID" sz="1200" dirty="0"/>
              <a:t> </a:t>
            </a:r>
            <a:r>
              <a:rPr lang="en-ID" sz="1200" dirty="0" err="1"/>
              <a:t>sebagai</a:t>
            </a:r>
            <a:r>
              <a:rPr lang="en-ID" sz="1200" dirty="0"/>
              <a:t>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C80C35-42D6-B15F-28B0-C0BC867DD65B}"/>
              </a:ext>
            </a:extLst>
          </p:cNvPr>
          <p:cNvSpPr txBox="1"/>
          <p:nvPr/>
        </p:nvSpPr>
        <p:spPr>
          <a:xfrm>
            <a:off x="1718399" y="3700954"/>
            <a:ext cx="46397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memudahkan</a:t>
            </a:r>
            <a:r>
              <a:rPr lang="en-ID" sz="1400" dirty="0"/>
              <a:t> </a:t>
            </a:r>
            <a:r>
              <a:rPr lang="en-ID" sz="1400" dirty="0" err="1"/>
              <a:t>notasi</a:t>
            </a:r>
            <a:r>
              <a:rPr lang="en-ID" sz="1400" dirty="0"/>
              <a:t> pada </a:t>
            </a:r>
            <a:r>
              <a:rPr lang="en-ID" sz="1400" dirty="0" err="1"/>
              <a:t>pembahasan</a:t>
            </a:r>
            <a:r>
              <a:rPr lang="en-ID" sz="1400" dirty="0"/>
              <a:t> </a:t>
            </a:r>
            <a:r>
              <a:rPr lang="en-ID" sz="1400" dirty="0" err="1"/>
              <a:t>selanjutnya</a:t>
            </a:r>
            <a:r>
              <a:rPr lang="en-ID" sz="1400" dirty="0"/>
              <a:t>, </a:t>
            </a:r>
            <a:r>
              <a:rPr lang="en-ID" sz="1400" dirty="0" err="1"/>
              <a:t>ruas</a:t>
            </a:r>
            <a:r>
              <a:rPr lang="en-ID" sz="1400" dirty="0"/>
              <a:t> </a:t>
            </a:r>
            <a:r>
              <a:rPr lang="en-ID" sz="1400" dirty="0" err="1"/>
              <a:t>kanan</a:t>
            </a:r>
            <a:r>
              <a:rPr lang="en-ID" sz="1400" dirty="0"/>
              <a:t>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diferensial</a:t>
            </a:r>
            <a:r>
              <a:rPr lang="en-ID" sz="1400" dirty="0"/>
              <a:t> GRU-ODE </a:t>
            </a:r>
            <a:r>
              <a:rPr lang="en-ID" sz="1400" dirty="0" err="1"/>
              <a:t>mengikuti</a:t>
            </a:r>
            <a:r>
              <a:rPr lang="en-ID" sz="1400" dirty="0"/>
              <a:t> </a:t>
            </a:r>
            <a:r>
              <a:rPr lang="en-ID" sz="1400" dirty="0" err="1"/>
              <a:t>konvensi</a:t>
            </a:r>
            <a:r>
              <a:rPr lang="en-ID" sz="1400" dirty="0"/>
              <a:t> </a:t>
            </a:r>
            <a:r>
              <a:rPr lang="en-ID" sz="1400" dirty="0" err="1"/>
              <a:t>parameterisasi</a:t>
            </a:r>
            <a:r>
              <a:rPr lang="en-ID" sz="1400" dirty="0"/>
              <a:t> </a:t>
            </a:r>
            <a:r>
              <a:rPr lang="en-ID" sz="1400" dirty="0" err="1"/>
              <a:t>turunan</a:t>
            </a:r>
            <a:r>
              <a:rPr lang="en-ID" sz="1400" dirty="0"/>
              <a:t> hidden state oleh neural network (Chen et al., 2018): 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B4AA3F2-19E6-3055-E450-5E4ECE28262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17832" y="4573211"/>
            <a:ext cx="2166671" cy="74010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7571180-3D3D-4BEA-81EF-104A641454EC}"/>
              </a:ext>
            </a:extLst>
          </p:cNvPr>
          <p:cNvSpPr txBox="1"/>
          <p:nvPr/>
        </p:nvSpPr>
        <p:spPr>
          <a:xfrm>
            <a:off x="6780000" y="3700954"/>
            <a:ext cx="52080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/>
              <a:t>Pada GRU-ODE, </a:t>
            </a:r>
            <a:r>
              <a:rPr lang="en-ID" sz="1400" dirty="0" err="1"/>
              <a:t>formulasi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 </a:t>
            </a:r>
            <a:r>
              <a:rPr lang="en-ID" sz="1400" dirty="0" err="1"/>
              <a:t>diperluas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menambahkan</a:t>
            </a:r>
            <a:r>
              <a:rPr lang="en-ID" sz="1400" dirty="0"/>
              <a:t> </a:t>
            </a:r>
            <a:r>
              <a:rPr lang="en-ID" sz="1400" dirty="0" err="1"/>
              <a:t>vektor</a:t>
            </a:r>
            <a:r>
              <a:rPr lang="en-ID" sz="1400" dirty="0"/>
              <a:t> input </a:t>
            </a:r>
            <a:r>
              <a:rPr lang="en-ID" sz="1400" dirty="0" err="1"/>
              <a:t>observasi</a:t>
            </a:r>
            <a:r>
              <a:rPr lang="en-ID" sz="1400" dirty="0"/>
              <a:t> x(t), </a:t>
            </a:r>
            <a:r>
              <a:rPr lang="en-ID" sz="1400" dirty="0" err="1"/>
              <a:t>sehingga</a:t>
            </a:r>
            <a:r>
              <a:rPr lang="en-ID" sz="1400" dirty="0"/>
              <a:t>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ditulis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bentuk</a:t>
            </a:r>
            <a:r>
              <a:rPr lang="en-ID" sz="1400" dirty="0"/>
              <a:t> yang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ringkas</a:t>
            </a:r>
            <a:r>
              <a:rPr lang="en-ID" sz="1400" dirty="0"/>
              <a:t>: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143C838E-D511-92F8-4ACD-BBA133F1510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11631" y="4517357"/>
            <a:ext cx="4871937" cy="85181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2F4E732C-7CBB-9C30-34F2-049CD34BF669}"/>
              </a:ext>
            </a:extLst>
          </p:cNvPr>
          <p:cNvSpPr txBox="1"/>
          <p:nvPr/>
        </p:nvSpPr>
        <p:spPr>
          <a:xfrm>
            <a:off x="1757891" y="5615667"/>
            <a:ext cx="10269698" cy="419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D" sz="1400" dirty="0" err="1"/>
              <a:t>dengan</a:t>
            </a:r>
            <a:r>
              <a:rPr lang="en-ID" sz="1400" dirty="0"/>
              <a:t> θ = {</a:t>
            </a:r>
            <a:r>
              <a:rPr lang="en-ID" sz="1400" dirty="0" err="1"/>
              <a:t>Wr,Wz,Wg,br,bz,bg</a:t>
            </a:r>
            <a:r>
              <a:rPr lang="en-ID" sz="1400" dirty="0"/>
              <a:t>} </a:t>
            </a:r>
            <a:r>
              <a:rPr lang="en-ID" sz="1400" dirty="0" err="1"/>
              <a:t>merupakan</a:t>
            </a:r>
            <a:r>
              <a:rPr lang="en-ID" sz="1400" dirty="0"/>
              <a:t> </a:t>
            </a:r>
            <a:r>
              <a:rPr lang="en-ID" sz="1400" dirty="0" err="1"/>
              <a:t>himpunan</a:t>
            </a:r>
            <a:r>
              <a:rPr lang="en-ID" sz="1400" dirty="0"/>
              <a:t> parameter GRU-ODE yang </a:t>
            </a:r>
            <a:r>
              <a:rPr lang="en-ID" sz="1400" dirty="0" err="1"/>
              <a:t>dipelajari</a:t>
            </a:r>
            <a:r>
              <a:rPr lang="en-ID" sz="1400" dirty="0"/>
              <a:t> </a:t>
            </a:r>
            <a:r>
              <a:rPr lang="en-ID" sz="1400" dirty="0" err="1"/>
              <a:t>selama</a:t>
            </a:r>
            <a:r>
              <a:rPr lang="en-ID" sz="1400" dirty="0"/>
              <a:t> </a:t>
            </a:r>
            <a:r>
              <a:rPr lang="en-ID" sz="1400" dirty="0" err="1"/>
              <a:t>pelatihan</a:t>
            </a:r>
            <a:r>
              <a:rPr lang="en-ID" sz="1400" dirty="0"/>
              <a:t>.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formulasi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, hidden state h(t) </a:t>
            </a:r>
            <a:r>
              <a:rPr lang="en-ID" sz="1400" dirty="0" err="1"/>
              <a:t>berevolusi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kontinu</a:t>
            </a:r>
            <a:r>
              <a:rPr lang="en-ID" sz="1400" dirty="0"/>
              <a:t> </a:t>
            </a:r>
            <a:r>
              <a:rPr lang="en-ID" sz="1400" dirty="0" err="1"/>
              <a:t>terhadap</a:t>
            </a:r>
            <a:r>
              <a:rPr lang="en-ID" sz="1400" dirty="0"/>
              <a:t> </a:t>
            </a:r>
            <a:r>
              <a:rPr lang="en-ID" sz="1400" dirty="0" err="1"/>
              <a:t>waktu</a:t>
            </a:r>
            <a:endParaRPr lang="en-ID" sz="1400" dirty="0"/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240DEE54-3FD8-D4F4-108C-84372AEC249F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5" name="Rectangle 3">
            <a:extLst>
              <a:ext uri="{FF2B5EF4-FFF2-40B4-BE49-F238E27FC236}">
                <a16:creationId xmlns:a16="http://schemas.microsoft.com/office/drawing/2014/main" id="{48E19489-6AAD-9350-0534-ABB9469230B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39760A7A-D2DA-37FF-2784-C8B7EBFF6A09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70" name="Rectangle 3">
            <a:extLst>
              <a:ext uri="{FF2B5EF4-FFF2-40B4-BE49-F238E27FC236}">
                <a16:creationId xmlns:a16="http://schemas.microsoft.com/office/drawing/2014/main" id="{0CE12189-DCE7-219C-E811-1D36E717EAA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74" name="Rectangle 3">
            <a:extLst>
              <a:ext uri="{FF2B5EF4-FFF2-40B4-BE49-F238E27FC236}">
                <a16:creationId xmlns:a16="http://schemas.microsoft.com/office/drawing/2014/main" id="{9820617F-2F70-5450-678F-90AEED57FF45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77" name="Rectangle 3">
            <a:extLst>
              <a:ext uri="{FF2B5EF4-FFF2-40B4-BE49-F238E27FC236}">
                <a16:creationId xmlns:a16="http://schemas.microsoft.com/office/drawing/2014/main" id="{0573ADBA-4C4E-7F75-7EC8-5278D56C38B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79" name="Rectangle 3">
            <a:extLst>
              <a:ext uri="{FF2B5EF4-FFF2-40B4-BE49-F238E27FC236}">
                <a16:creationId xmlns:a16="http://schemas.microsoft.com/office/drawing/2014/main" id="{C7E07D0A-6D3B-66E6-B696-5476A8D96AE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83" name="Rectangle 3">
            <a:extLst>
              <a:ext uri="{FF2B5EF4-FFF2-40B4-BE49-F238E27FC236}">
                <a16:creationId xmlns:a16="http://schemas.microsoft.com/office/drawing/2014/main" id="{2686662D-F381-E4F1-AD56-EC6E7A5CD590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90E273F-267F-121F-F687-A399C02C86EA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F825322-5E05-6BBD-6110-D8E0CDF7A324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9593D1E-2EB1-23DA-E21A-26BE0348A325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CB48051-7039-261F-906C-19D7C48D72E9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6FD119C-3737-DE53-C15D-998255129194}"/>
              </a:ext>
            </a:extLst>
          </p:cNvPr>
          <p:cNvSpPr/>
          <p:nvPr/>
        </p:nvSpPr>
        <p:spPr>
          <a:xfrm>
            <a:off x="120848" y="2205103"/>
            <a:ext cx="1528712" cy="94461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7C074A8-C52B-815E-F577-CF111D3EB4B5}"/>
              </a:ext>
            </a:extLst>
          </p:cNvPr>
          <p:cNvSpPr/>
          <p:nvPr/>
        </p:nvSpPr>
        <p:spPr>
          <a:xfrm>
            <a:off x="115282" y="4141618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195B938-C108-B342-C59C-5FFA69F7E630}"/>
              </a:ext>
            </a:extLst>
          </p:cNvPr>
          <p:cNvCxnSpPr>
            <a:cxnSpLocks/>
          </p:cNvCxnSpPr>
          <p:nvPr/>
        </p:nvCxnSpPr>
        <p:spPr>
          <a:xfrm>
            <a:off x="6574800" y="1460086"/>
            <a:ext cx="0" cy="41555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58A9C7F-A1F6-593E-E3E0-F7585DF6208E}"/>
              </a:ext>
            </a:extLst>
          </p:cNvPr>
          <p:cNvSpPr/>
          <p:nvPr/>
        </p:nvSpPr>
        <p:spPr>
          <a:xfrm>
            <a:off x="6430474" y="3569943"/>
            <a:ext cx="339867" cy="368301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68D9C2B-D93A-6C02-6B72-A1314879F249}"/>
              </a:ext>
            </a:extLst>
          </p:cNvPr>
          <p:cNvSpPr/>
          <p:nvPr/>
        </p:nvSpPr>
        <p:spPr>
          <a:xfrm>
            <a:off x="6543017" y="3654361"/>
            <a:ext cx="169925" cy="21124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687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1FA9C8-832F-A6E9-E774-286F32AFC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4790C09-4EE4-4A61-5C82-E98CBC6E619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5" imgH="405" progId="TCLayout.ActiveDocument.1">
                  <p:embed/>
                </p:oleObj>
              </mc:Choice>
              <mc:Fallback>
                <p:oleObj name="think-cell Slide" r:id="rId11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D6EE42-D88A-E3CC-5E0E-82CBCBAF2A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EF6579A9-0ED4-ECFF-8D86-C1D4E41DA49B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CD56B-51C2-8A37-4083-11E3EA8A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23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5A1150-C422-7074-0C85-86385B4EC4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0544EF95-6863-D6D0-3BB3-14B59813DF1F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E264045F-C337-4090-DA31-92D46DE5FCCD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ea typeface="Calibri"/>
                <a:cs typeface="Calibri"/>
                <a:sym typeface="Calibri"/>
              </a:rPr>
              <a:t>Model</a:t>
            </a:r>
          </a:p>
          <a:p>
            <a:pPr lvl="0" algn="ctr"/>
            <a:r>
              <a:rPr lang="en-ID" sz="2800" dirty="0"/>
              <a:t>Integrasi </a:t>
            </a:r>
            <a:r>
              <a:rPr lang="en-ID" sz="2800" dirty="0" err="1"/>
              <a:t>Numerik</a:t>
            </a:r>
            <a:r>
              <a:rPr lang="en-ID" sz="2800" dirty="0"/>
              <a:t> pada GRU-ODE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CDC4CBE-2805-22B2-66D2-A8D8AF388F7F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4B150-761A-2C1E-CD49-3CFC59433F59}"/>
              </a:ext>
            </a:extLst>
          </p:cNvPr>
          <p:cNvSpPr txBox="1"/>
          <p:nvPr/>
        </p:nvSpPr>
        <p:spPr>
          <a:xfrm>
            <a:off x="1718400" y="1461872"/>
            <a:ext cx="1026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memperjelas</a:t>
            </a:r>
            <a:r>
              <a:rPr lang="en-ID" sz="1400" dirty="0"/>
              <a:t> </a:t>
            </a:r>
            <a:r>
              <a:rPr lang="en-ID" sz="1400" dirty="0" err="1"/>
              <a:t>mekanisme</a:t>
            </a:r>
            <a:r>
              <a:rPr lang="en-ID" sz="1400" dirty="0"/>
              <a:t> </a:t>
            </a:r>
            <a:r>
              <a:rPr lang="en-ID" sz="1400" dirty="0" err="1"/>
              <a:t>kedua</a:t>
            </a:r>
            <a:r>
              <a:rPr lang="en-ID" sz="1400" dirty="0"/>
              <a:t> ODE solver yang </a:t>
            </a:r>
            <a:r>
              <a:rPr lang="en-ID" sz="1400" dirty="0" err="1"/>
              <a:t>digunakan</a:t>
            </a:r>
            <a:r>
              <a:rPr lang="en-ID" sz="1400" dirty="0"/>
              <a:t>, pada </a:t>
            </a:r>
            <a:r>
              <a:rPr lang="en-ID" sz="1400" dirty="0" err="1"/>
              <a:t>subseksi</a:t>
            </a:r>
            <a:r>
              <a:rPr lang="en-ID" sz="1400" dirty="0"/>
              <a:t> </a:t>
            </a:r>
            <a:r>
              <a:rPr lang="en-ID" sz="1400" dirty="0" err="1"/>
              <a:t>berikut</a:t>
            </a:r>
            <a:r>
              <a:rPr lang="en-ID" sz="1400" dirty="0"/>
              <a:t> </a:t>
            </a:r>
            <a:r>
              <a:rPr lang="en-ID" sz="1400" dirty="0" err="1"/>
              <a:t>diberikan</a:t>
            </a:r>
            <a:r>
              <a:rPr lang="en-ID" sz="1400" dirty="0"/>
              <a:t> </a:t>
            </a:r>
            <a:r>
              <a:rPr lang="en-ID" sz="1400" dirty="0" err="1"/>
              <a:t>ilustrasi</a:t>
            </a:r>
            <a:r>
              <a:rPr lang="en-ID" sz="1400" dirty="0"/>
              <a:t> </a:t>
            </a:r>
            <a:r>
              <a:rPr lang="en-ID" sz="1400" dirty="0" err="1"/>
              <a:t>perhitungan</a:t>
            </a:r>
            <a:r>
              <a:rPr lang="en-ID" sz="1400" dirty="0"/>
              <a:t> dua </a:t>
            </a:r>
            <a:r>
              <a:rPr lang="en-ID" sz="1400" dirty="0" err="1"/>
              <a:t>langkah</a:t>
            </a:r>
            <a:r>
              <a:rPr lang="en-ID" sz="1400" dirty="0"/>
              <a:t> pada GRU-ODE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konfigurasi</a:t>
            </a:r>
            <a:r>
              <a:rPr lang="en-ID" sz="1400" dirty="0"/>
              <a:t> </a:t>
            </a:r>
            <a:r>
              <a:rPr lang="en-ID" sz="1400" dirty="0" err="1"/>
              <a:t>skalar</a:t>
            </a:r>
            <a:r>
              <a:rPr lang="en-ID" sz="1400" dirty="0"/>
              <a:t> </a:t>
            </a:r>
            <a:r>
              <a:rPr lang="en-ID" sz="1400" dirty="0" err="1"/>
              <a:t>sederhana</a:t>
            </a:r>
            <a:r>
              <a:rPr lang="en-ID" sz="1400" dirty="0"/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D5932-7319-F6B9-2441-500DC22B20CF}"/>
              </a:ext>
            </a:extLst>
          </p:cNvPr>
          <p:cNvSpPr txBox="1"/>
          <p:nvPr/>
        </p:nvSpPr>
        <p:spPr>
          <a:xfrm>
            <a:off x="1732615" y="1992600"/>
            <a:ext cx="45385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/>
              <a:t>Diasumsikan</a:t>
            </a:r>
            <a:r>
              <a:rPr lang="en-ID" sz="1400" dirty="0"/>
              <a:t> </a:t>
            </a:r>
            <a:r>
              <a:rPr lang="en-ID" sz="1400" i="1" dirty="0"/>
              <a:t>hidden state </a:t>
            </a:r>
            <a:r>
              <a:rPr lang="en-ID" sz="1400" dirty="0" err="1"/>
              <a:t>berdimensi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(d = 1)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kondisi</a:t>
            </a:r>
            <a:r>
              <a:rPr lang="en-ID" sz="1400" dirty="0"/>
              <a:t> </a:t>
            </a:r>
            <a:r>
              <a:rPr lang="en-ID" sz="1400" dirty="0" err="1"/>
              <a:t>awal</a:t>
            </a:r>
            <a:r>
              <a:rPr lang="en-ID" sz="1400" dirty="0"/>
              <a:t> h0 = 0, input </a:t>
            </a:r>
            <a:r>
              <a:rPr lang="en-ID" sz="1400" dirty="0" err="1"/>
              <a:t>observasi</a:t>
            </a:r>
            <a:r>
              <a:rPr lang="en-ID" sz="1400" dirty="0"/>
              <a:t> x = 0,5, </a:t>
            </a:r>
            <a:r>
              <a:rPr lang="en-ID" sz="1400" dirty="0" err="1"/>
              <a:t>serta</a:t>
            </a:r>
            <a:r>
              <a:rPr lang="en-ID" sz="1400" dirty="0"/>
              <a:t> </a:t>
            </a:r>
            <a:r>
              <a:rPr lang="en-ID" sz="1400" dirty="0" err="1"/>
              <a:t>bobot</a:t>
            </a:r>
            <a:r>
              <a:rPr lang="en-ID" sz="1400" dirty="0"/>
              <a:t> dan bias gate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berikut</a:t>
            </a:r>
            <a:r>
              <a:rPr lang="en-ID" sz="1400" dirty="0"/>
              <a:t>: </a:t>
            </a:r>
            <a:r>
              <a:rPr lang="en-ID" sz="1400" dirty="0" err="1"/>
              <a:t>Wr</a:t>
            </a:r>
            <a:r>
              <a:rPr lang="en-ID" sz="1400" dirty="0"/>
              <a:t> = </a:t>
            </a:r>
            <a:r>
              <a:rPr lang="en-ID" sz="1400" dirty="0" err="1"/>
              <a:t>Wz</a:t>
            </a:r>
            <a:r>
              <a:rPr lang="en-ID" sz="1400" dirty="0"/>
              <a:t> = </a:t>
            </a:r>
            <a:r>
              <a:rPr lang="en-ID" sz="1400" dirty="0" err="1"/>
              <a:t>Wg</a:t>
            </a:r>
            <a:r>
              <a:rPr lang="en-ID" sz="1400" dirty="0"/>
              <a:t> =0,5 </a:t>
            </a:r>
            <a:r>
              <a:rPr lang="en-ID" sz="1400" dirty="0" err="1"/>
              <a:t>danbr</a:t>
            </a:r>
            <a:r>
              <a:rPr lang="en-ID" sz="1400" dirty="0"/>
              <a:t> = </a:t>
            </a:r>
            <a:r>
              <a:rPr lang="en-ID" sz="1400" dirty="0" err="1"/>
              <a:t>bz</a:t>
            </a:r>
            <a:r>
              <a:rPr lang="en-ID" sz="1400" dirty="0"/>
              <a:t> = </a:t>
            </a:r>
            <a:r>
              <a:rPr lang="en-ID" sz="1400" dirty="0" err="1"/>
              <a:t>bg</a:t>
            </a:r>
            <a:r>
              <a:rPr lang="en-ID" sz="1400" dirty="0"/>
              <a:t> = 0.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13DD8B-6485-FFBE-AD2F-01728F9FAAC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9985" y="1992600"/>
            <a:ext cx="4849615" cy="993834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466478E-140F-B1F9-9D5E-66ACF2F17155}"/>
              </a:ext>
            </a:extLst>
          </p:cNvPr>
          <p:cNvSpPr txBox="1"/>
          <p:nvPr/>
        </p:nvSpPr>
        <p:spPr>
          <a:xfrm>
            <a:off x="1793472" y="3087000"/>
            <a:ext cx="4538546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dirty="0"/>
              <a:t>Metode</a:t>
            </a:r>
            <a:r>
              <a:rPr lang="en-ID" sz="1400" i="1" dirty="0"/>
              <a:t> Euler</a:t>
            </a:r>
            <a:endParaRPr lang="en-ID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708CA8-6426-4FEC-457C-951AB85AB336}"/>
              </a:ext>
            </a:extLst>
          </p:cNvPr>
          <p:cNvSpPr txBox="1"/>
          <p:nvPr/>
        </p:nvSpPr>
        <p:spPr>
          <a:xfrm>
            <a:off x="1763434" y="3425671"/>
            <a:ext cx="4568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/>
              <a:t>Langkah </a:t>
            </a:r>
            <a:r>
              <a:rPr lang="en-ID" sz="1400" dirty="0" err="1"/>
              <a:t>pertama</a:t>
            </a:r>
            <a:r>
              <a:rPr lang="en-ID" sz="1400" dirty="0"/>
              <a:t> </a:t>
            </a:r>
            <a:r>
              <a:rPr lang="en-ID" sz="1400" dirty="0" err="1"/>
              <a:t>dimulai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h0 = 0 dan x = 0,5. </a:t>
            </a:r>
            <a:r>
              <a:rPr lang="en-ID" sz="1400" dirty="0" err="1"/>
              <a:t>Komponen</a:t>
            </a:r>
            <a:r>
              <a:rPr lang="en-ID" sz="1400" dirty="0"/>
              <a:t> gate </a:t>
            </a:r>
            <a:r>
              <a:rPr lang="en-ID" sz="1400" dirty="0" err="1"/>
              <a:t>dihitung</a:t>
            </a:r>
            <a:r>
              <a:rPr lang="en-ID" sz="1400" dirty="0"/>
              <a:t> </a:t>
            </a:r>
            <a:r>
              <a:rPr lang="en-ID" sz="1400" dirty="0" err="1"/>
              <a:t>terlebih</a:t>
            </a:r>
            <a:r>
              <a:rPr lang="en-ID" sz="1400" dirty="0"/>
              <a:t> </a:t>
            </a:r>
            <a:r>
              <a:rPr lang="en-ID" sz="1400" dirty="0" err="1"/>
              <a:t>dahulu</a:t>
            </a:r>
            <a:r>
              <a:rPr lang="en-ID" sz="1400" dirty="0"/>
              <a:t>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A12FE5D-05C7-09B9-32F0-A3D96E4993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96491" y="4056515"/>
            <a:ext cx="3890398" cy="57479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43A8E81-965A-97B1-AE39-78F6584C8C2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7362" y="5164076"/>
            <a:ext cx="3585175" cy="93715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9016D18-851C-BC34-7FF5-590A85FEC5E5}"/>
              </a:ext>
            </a:extLst>
          </p:cNvPr>
          <p:cNvSpPr txBox="1"/>
          <p:nvPr/>
        </p:nvSpPr>
        <p:spPr>
          <a:xfrm>
            <a:off x="1747722" y="4633417"/>
            <a:ext cx="50487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/>
              <a:t>Langkah </a:t>
            </a:r>
            <a:r>
              <a:rPr lang="en-ID" sz="1400" dirty="0" err="1"/>
              <a:t>kedua</a:t>
            </a:r>
            <a:r>
              <a:rPr lang="en-ID" sz="1400" dirty="0"/>
              <a:t> </a:t>
            </a:r>
            <a:r>
              <a:rPr lang="en-ID" sz="1400" dirty="0" err="1"/>
              <a:t>dimulai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h1 = 0,0536. </a:t>
            </a:r>
            <a:r>
              <a:rPr lang="en-ID" sz="1400" dirty="0" err="1"/>
              <a:t>Komponen</a:t>
            </a:r>
            <a:r>
              <a:rPr lang="en-ID" sz="1400" dirty="0"/>
              <a:t> gate </a:t>
            </a:r>
            <a:r>
              <a:rPr lang="en-ID" sz="1400" dirty="0" err="1"/>
              <a:t>dihitung</a:t>
            </a:r>
            <a:r>
              <a:rPr lang="en-ID" sz="1400" dirty="0"/>
              <a:t> </a:t>
            </a:r>
            <a:r>
              <a:rPr lang="en-ID" sz="1400" dirty="0" err="1"/>
              <a:t>ulang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nilai</a:t>
            </a:r>
            <a:r>
              <a:rPr lang="en-ID" sz="1400" dirty="0"/>
              <a:t> hidden state yang </a:t>
            </a:r>
            <a:r>
              <a:rPr lang="en-ID" sz="1400" dirty="0" err="1"/>
              <a:t>baru</a:t>
            </a:r>
            <a:r>
              <a:rPr lang="en-ID" sz="1400" dirty="0"/>
              <a:t>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1285CE-F992-8CA1-C1FF-897805CC0D9E}"/>
              </a:ext>
            </a:extLst>
          </p:cNvPr>
          <p:cNvSpPr txBox="1"/>
          <p:nvPr/>
        </p:nvSpPr>
        <p:spPr>
          <a:xfrm>
            <a:off x="6649985" y="3087001"/>
            <a:ext cx="4849614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dirty="0"/>
              <a:t>Metode</a:t>
            </a:r>
            <a:r>
              <a:rPr lang="en-ID" sz="1400" i="1" dirty="0"/>
              <a:t> RK4</a:t>
            </a:r>
            <a:endParaRPr lang="en-ID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DE682C-59B5-BB7C-5A91-B79A97D0DCD5}"/>
              </a:ext>
            </a:extLst>
          </p:cNvPr>
          <p:cNvSpPr txBox="1"/>
          <p:nvPr/>
        </p:nvSpPr>
        <p:spPr>
          <a:xfrm>
            <a:off x="6649985" y="3431436"/>
            <a:ext cx="4735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/>
              <a:t> Langkah </a:t>
            </a:r>
            <a:r>
              <a:rPr lang="en-ID" sz="1400" dirty="0" err="1"/>
              <a:t>pertama</a:t>
            </a:r>
            <a:r>
              <a:rPr lang="en-ID" sz="1400" dirty="0"/>
              <a:t> </a:t>
            </a:r>
            <a:r>
              <a:rPr lang="en-ID" sz="1400" dirty="0" err="1"/>
              <a:t>dimulai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h0 = 0. </a:t>
            </a:r>
            <a:r>
              <a:rPr lang="en-ID" sz="1400" dirty="0" err="1"/>
              <a:t>Keempat</a:t>
            </a:r>
            <a:r>
              <a:rPr lang="en-ID" sz="1400" dirty="0"/>
              <a:t> </a:t>
            </a:r>
            <a:r>
              <a:rPr lang="en-ID" sz="1400" dirty="0" err="1"/>
              <a:t>evaluasi</a:t>
            </a:r>
            <a:endParaRPr lang="en-ID" sz="1400" dirty="0"/>
          </a:p>
          <a:p>
            <a:r>
              <a:rPr lang="en-ID" sz="1400" dirty="0" err="1"/>
              <a:t>turunan</a:t>
            </a:r>
            <a:r>
              <a:rPr lang="en-ID" sz="1400" dirty="0"/>
              <a:t> </a:t>
            </a:r>
            <a:r>
              <a:rPr lang="en-ID" sz="1400" dirty="0" err="1"/>
              <a:t>dihitung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berurutan</a:t>
            </a:r>
            <a:r>
              <a:rPr lang="en-ID" sz="1400" dirty="0"/>
              <a:t>: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403F3C4-C08F-56E0-6F48-E8A18764F8C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0744" y="3908514"/>
            <a:ext cx="3050456" cy="93773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8072F08-530A-E521-FB55-D9F92141B8F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70743" y="5384866"/>
            <a:ext cx="3120109" cy="101041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7CC0BDC-C6E8-D764-6C9E-C19D1C59D097}"/>
              </a:ext>
            </a:extLst>
          </p:cNvPr>
          <p:cNvSpPr txBox="1"/>
          <p:nvPr/>
        </p:nvSpPr>
        <p:spPr>
          <a:xfrm>
            <a:off x="6649985" y="4824988"/>
            <a:ext cx="48496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/>
              <a:t>Langkah </a:t>
            </a:r>
            <a:r>
              <a:rPr lang="en-ID" sz="1400" dirty="0" err="1"/>
              <a:t>kedua</a:t>
            </a:r>
            <a:r>
              <a:rPr lang="en-ID" sz="1400" dirty="0"/>
              <a:t> </a:t>
            </a:r>
            <a:r>
              <a:rPr lang="en-ID" sz="1400" dirty="0" err="1"/>
              <a:t>dimulai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h1 = 0,0492. </a:t>
            </a:r>
            <a:r>
              <a:rPr lang="en-ID" sz="1400" dirty="0" err="1"/>
              <a:t>Keempat</a:t>
            </a:r>
            <a:r>
              <a:rPr lang="en-ID" sz="1400" dirty="0"/>
              <a:t> </a:t>
            </a:r>
            <a:r>
              <a:rPr lang="en-ID" sz="1400" dirty="0" err="1"/>
              <a:t>evaluasi</a:t>
            </a:r>
            <a:r>
              <a:rPr lang="en-ID" sz="1400" dirty="0"/>
              <a:t> </a:t>
            </a:r>
            <a:r>
              <a:rPr lang="en-ID" sz="1400" dirty="0" err="1"/>
              <a:t>turunan</a:t>
            </a:r>
            <a:r>
              <a:rPr lang="en-ID" sz="1400" dirty="0"/>
              <a:t> </a:t>
            </a:r>
            <a:r>
              <a:rPr lang="en-ID" sz="1400" dirty="0" err="1"/>
              <a:t>dihitung</a:t>
            </a:r>
            <a:r>
              <a:rPr lang="en-ID" sz="1400" dirty="0"/>
              <a:t> </a:t>
            </a:r>
            <a:r>
              <a:rPr lang="en-ID" sz="1400" dirty="0" err="1"/>
              <a:t>kembali</a:t>
            </a:r>
            <a:endParaRPr lang="en-ID" sz="1400" dirty="0"/>
          </a:p>
        </p:txBody>
      </p:sp>
      <p:sp>
        <p:nvSpPr>
          <p:cNvPr id="65" name="Rectangle 3">
            <a:extLst>
              <a:ext uri="{FF2B5EF4-FFF2-40B4-BE49-F238E27FC236}">
                <a16:creationId xmlns:a16="http://schemas.microsoft.com/office/drawing/2014/main" id="{C8052264-CCAB-6480-778A-9CA1299F0D94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3C5A1D47-B9A5-4D4C-FC86-FD1E54EC341C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9" name="Rectangle 3">
            <a:extLst>
              <a:ext uri="{FF2B5EF4-FFF2-40B4-BE49-F238E27FC236}">
                <a16:creationId xmlns:a16="http://schemas.microsoft.com/office/drawing/2014/main" id="{9FC5FF04-F228-D945-486C-7E09F70157EA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7187D624-F9FC-DF72-6F36-7E927E6050C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F34381E3-CBB6-9CA8-FAE9-5C341711EE58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75" name="Rectangle 3">
            <a:extLst>
              <a:ext uri="{FF2B5EF4-FFF2-40B4-BE49-F238E27FC236}">
                <a16:creationId xmlns:a16="http://schemas.microsoft.com/office/drawing/2014/main" id="{67C7776E-40AB-9348-0E4A-5ED3BFE0110A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77" name="Rectangle 3">
            <a:extLst>
              <a:ext uri="{FF2B5EF4-FFF2-40B4-BE49-F238E27FC236}">
                <a16:creationId xmlns:a16="http://schemas.microsoft.com/office/drawing/2014/main" id="{D14413DC-6949-76A0-09B4-540644063DD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79" name="Rectangle 3">
            <a:extLst>
              <a:ext uri="{FF2B5EF4-FFF2-40B4-BE49-F238E27FC236}">
                <a16:creationId xmlns:a16="http://schemas.microsoft.com/office/drawing/2014/main" id="{817136E4-44CA-EDD7-CD0F-7DC6E34D073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F57050A-8632-AB34-7563-1DCC737F7559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FE53554-549C-32FB-D2BE-0AD71A8824DE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44C142-48E6-164D-0135-5E6B3C623B48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ECB642B-47F8-2523-D5B5-A4C127C7FD39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3B2DFBF-5964-8C7C-9AFB-F79D2F2D2B24}"/>
              </a:ext>
            </a:extLst>
          </p:cNvPr>
          <p:cNvSpPr/>
          <p:nvPr/>
        </p:nvSpPr>
        <p:spPr>
          <a:xfrm>
            <a:off x="120848" y="2205103"/>
            <a:ext cx="1528712" cy="94461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E3ADA1A-FE42-62C2-662E-FFBB8A74215A}"/>
              </a:ext>
            </a:extLst>
          </p:cNvPr>
          <p:cNvSpPr/>
          <p:nvPr/>
        </p:nvSpPr>
        <p:spPr>
          <a:xfrm>
            <a:off x="115282" y="4141618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4838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B5B195-BB12-FFF5-BFE6-B22B699A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188DEB4-6DC3-EBC4-7322-9C479636C27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5" imgH="405" progId="TCLayout.ActiveDocument.1">
                  <p:embed/>
                </p:oleObj>
              </mc:Choice>
              <mc:Fallback>
                <p:oleObj name="think-cell Slide" r:id="rId11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790C09-4EE4-4A61-5C82-E98CBC6E61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452898CB-0EBA-255D-BDF9-A8705C377300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17F4A-7EE3-38DC-A0CF-B98DD711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24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BBB97A-A61F-F356-A25C-15D242A8D9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429574" y="71644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774B990A-F064-E281-10BB-F46211C5F713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47AEDA71-71D2-7B7D-8CB0-51665771D3B1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ea typeface="Calibri"/>
                <a:cs typeface="Calibri"/>
                <a:sym typeface="Calibri"/>
              </a:rPr>
              <a:t>Model</a:t>
            </a:r>
          </a:p>
          <a:p>
            <a:pPr lvl="0" algn="ctr"/>
            <a:r>
              <a:rPr lang="en-ID" sz="2800" dirty="0" err="1"/>
              <a:t>Ilustrasi</a:t>
            </a:r>
            <a:r>
              <a:rPr lang="en-ID" sz="2800" dirty="0"/>
              <a:t> </a:t>
            </a:r>
            <a:r>
              <a:rPr lang="en-ID" sz="2800" dirty="0" err="1"/>
              <a:t>Perhitungan</a:t>
            </a:r>
            <a:r>
              <a:rPr lang="en-ID" sz="2800" dirty="0"/>
              <a:t> GRU-ODE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3FB207A-0163-B1CB-F2E1-D53358CD8CD0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764FF-9AC2-3EB7-E6A1-62FC3FA84622}"/>
              </a:ext>
            </a:extLst>
          </p:cNvPr>
          <p:cNvSpPr txBox="1"/>
          <p:nvPr/>
        </p:nvSpPr>
        <p:spPr>
          <a:xfrm>
            <a:off x="1718400" y="1461872"/>
            <a:ext cx="1026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/>
              <a:t>Pada </a:t>
            </a:r>
            <a:r>
              <a:rPr lang="en-ID" sz="1400" dirty="0" err="1"/>
              <a:t>ilustrasi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, </a:t>
            </a:r>
            <a:r>
              <a:rPr lang="en-ID" sz="1400" dirty="0" err="1"/>
              <a:t>digunakan</a:t>
            </a:r>
            <a:r>
              <a:rPr lang="en-ID" sz="1400" dirty="0"/>
              <a:t> </a:t>
            </a:r>
            <a:r>
              <a:rPr lang="en-ID" sz="1400" dirty="0" err="1"/>
              <a:t>fitur</a:t>
            </a:r>
            <a:r>
              <a:rPr lang="en-ID" sz="1400" dirty="0"/>
              <a:t> input </a:t>
            </a:r>
            <a:r>
              <a:rPr lang="en-ID" sz="1400" dirty="0" err="1"/>
              <a:t>berupa</a:t>
            </a:r>
            <a:r>
              <a:rPr lang="en-ID" sz="1400" dirty="0"/>
              <a:t> </a:t>
            </a:r>
            <a:r>
              <a:rPr lang="en-ID" sz="1400" dirty="0" err="1"/>
              <a:t>harga</a:t>
            </a:r>
            <a:r>
              <a:rPr lang="en-ID" sz="1400" dirty="0"/>
              <a:t> </a:t>
            </a:r>
            <a:r>
              <a:rPr lang="en-ID" sz="1400" i="1" dirty="0"/>
              <a:t>closing price</a:t>
            </a:r>
            <a:r>
              <a:rPr lang="en-ID" sz="1400" dirty="0"/>
              <a:t>, </a:t>
            </a:r>
            <a:r>
              <a:rPr lang="en-ID" sz="1400" dirty="0" err="1"/>
              <a:t>jumlah</a:t>
            </a:r>
            <a:r>
              <a:rPr lang="en-ID" sz="1400" dirty="0"/>
              <a:t> </a:t>
            </a:r>
            <a:r>
              <a:rPr lang="en-ID" sz="1400" dirty="0" err="1"/>
              <a:t>substep</a:t>
            </a:r>
            <a:r>
              <a:rPr lang="en-ID" sz="1400" dirty="0"/>
              <a:t> N = 4, </a:t>
            </a:r>
            <a:r>
              <a:rPr lang="en-ID" sz="1400" dirty="0" err="1"/>
              <a:t>dimensi</a:t>
            </a:r>
            <a:r>
              <a:rPr lang="en-ID" sz="1400" dirty="0"/>
              <a:t> </a:t>
            </a:r>
            <a:r>
              <a:rPr lang="en-ID" sz="1400" i="1" dirty="0"/>
              <a:t>hidden state </a:t>
            </a:r>
            <a:r>
              <a:rPr lang="en-ID" sz="1400" dirty="0"/>
              <a:t>dh = 2, dan ODE solver </a:t>
            </a:r>
            <a:r>
              <a:rPr lang="en-ID" sz="1400" dirty="0" err="1"/>
              <a:t>berupa</a:t>
            </a:r>
            <a:r>
              <a:rPr lang="en-ID" sz="1400" dirty="0"/>
              <a:t> </a:t>
            </a:r>
            <a:r>
              <a:rPr lang="en-ID" sz="1400" dirty="0" err="1"/>
              <a:t>metode</a:t>
            </a:r>
            <a:r>
              <a:rPr lang="en-ID" sz="1400" dirty="0"/>
              <a:t> </a:t>
            </a:r>
            <a:r>
              <a:rPr lang="en-ID" sz="1400" i="1" dirty="0"/>
              <a:t>Euler</a:t>
            </a:r>
            <a:r>
              <a:rPr lang="en-ID" sz="1400" dirty="0"/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E56256-ED2E-FD45-8A64-9FA82F7695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80299" y="2326168"/>
            <a:ext cx="3657788" cy="9017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AF71A9-F37E-E020-C84B-62BF21660659}"/>
              </a:ext>
            </a:extLst>
          </p:cNvPr>
          <p:cNvSpPr txBox="1"/>
          <p:nvPr/>
        </p:nvSpPr>
        <p:spPr>
          <a:xfrm>
            <a:off x="1718400" y="2002837"/>
            <a:ext cx="4538546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i="1" dirty="0"/>
              <a:t>Reset Gate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E36AFA-31B2-0016-5110-FF5955B71FE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2021" y="3473702"/>
            <a:ext cx="3733992" cy="91444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C869412-F782-651E-64C1-FFC21797247B}"/>
              </a:ext>
            </a:extLst>
          </p:cNvPr>
          <p:cNvSpPr txBox="1"/>
          <p:nvPr/>
        </p:nvSpPr>
        <p:spPr>
          <a:xfrm>
            <a:off x="1718400" y="3232939"/>
            <a:ext cx="3169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Tambahkan</a:t>
            </a:r>
            <a:r>
              <a:rPr lang="en-ID" sz="1400" dirty="0"/>
              <a:t> bias dan </a:t>
            </a:r>
            <a:r>
              <a:rPr lang="en-ID" sz="1400" dirty="0" err="1"/>
              <a:t>fungsi</a:t>
            </a:r>
            <a:r>
              <a:rPr lang="en-ID" sz="1400" dirty="0"/>
              <a:t> sigmoid: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14D81-571C-813C-A489-790D3C2314ED}"/>
              </a:ext>
            </a:extLst>
          </p:cNvPr>
          <p:cNvSpPr txBox="1"/>
          <p:nvPr/>
        </p:nvSpPr>
        <p:spPr>
          <a:xfrm>
            <a:off x="6780000" y="2012065"/>
            <a:ext cx="4856400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i="1" dirty="0"/>
              <a:t>Update Gate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0FEC776-A751-62DF-834F-0C638DB2E21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4561" y="2326168"/>
            <a:ext cx="3467278" cy="92079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9171945-68DE-04DD-A066-9472B7180C23}"/>
              </a:ext>
            </a:extLst>
          </p:cNvPr>
          <p:cNvSpPr txBox="1"/>
          <p:nvPr/>
        </p:nvSpPr>
        <p:spPr>
          <a:xfrm>
            <a:off x="6782673" y="3232938"/>
            <a:ext cx="3169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Tambahkan</a:t>
            </a:r>
            <a:r>
              <a:rPr lang="en-ID" sz="1400" dirty="0"/>
              <a:t> bias dan </a:t>
            </a:r>
            <a:r>
              <a:rPr lang="en-ID" sz="1400" dirty="0" err="1"/>
              <a:t>fungsi</a:t>
            </a:r>
            <a:r>
              <a:rPr lang="en-ID" sz="1400" dirty="0"/>
              <a:t> sigmoid: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D0E77D9-1E63-5A5E-7A7D-66E299E6555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0755" y="3473446"/>
            <a:ext cx="3467278" cy="92051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8C93E81-6D5A-7DED-1A2E-9A5F60D940B3}"/>
              </a:ext>
            </a:extLst>
          </p:cNvPr>
          <p:cNvSpPr txBox="1"/>
          <p:nvPr/>
        </p:nvSpPr>
        <p:spPr>
          <a:xfrm>
            <a:off x="1718400" y="4461762"/>
            <a:ext cx="4538546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i="1" dirty="0"/>
              <a:t>Candidate Hidden State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85C3715-C7FE-E90F-7F3B-A11F1DC1D8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58849" y="4848323"/>
            <a:ext cx="2857647" cy="36196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D8C448A-E6B6-665B-25D1-9B768ED9A47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42293" y="5272552"/>
            <a:ext cx="3495794" cy="99334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3C892076-5581-2531-9892-F35B50A532A5}"/>
              </a:ext>
            </a:extLst>
          </p:cNvPr>
          <p:cNvSpPr txBox="1"/>
          <p:nvPr/>
        </p:nvSpPr>
        <p:spPr>
          <a:xfrm>
            <a:off x="6780000" y="4466554"/>
            <a:ext cx="4856400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ID" sz="1400" dirty="0" err="1"/>
              <a:t>Kelajuan</a:t>
            </a:r>
            <a:r>
              <a:rPr lang="en-ID" sz="1400" dirty="0"/>
              <a:t> </a:t>
            </a:r>
            <a:r>
              <a:rPr lang="en-ID" sz="1400" i="1" dirty="0"/>
              <a:t>Hidden State </a:t>
            </a:r>
            <a:r>
              <a:rPr lang="en-ID" sz="1400" dirty="0"/>
              <a:t>dan </a:t>
            </a:r>
            <a:r>
              <a:rPr lang="en-ID" sz="1400" i="1" dirty="0"/>
              <a:t>Hidden State </a:t>
            </a:r>
            <a:r>
              <a:rPr lang="en-ID" sz="1400" dirty="0" err="1"/>
              <a:t>baru</a:t>
            </a:r>
            <a:endParaRPr lang="en-ID" sz="1400" i="1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04121FE-8CB6-EED0-A633-BD3A53B6C25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88256" y="4764139"/>
            <a:ext cx="3039888" cy="106891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53871512-0E44-4720-6F48-5F8C5887EA4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3497" y="5868611"/>
            <a:ext cx="4788146" cy="552478"/>
          </a:xfrm>
          <a:prstGeom prst="rect">
            <a:avLst/>
          </a:prstGeom>
        </p:spPr>
      </p:pic>
      <p:sp>
        <p:nvSpPr>
          <p:cNvPr id="89" name="Rectangle 3">
            <a:extLst>
              <a:ext uri="{FF2B5EF4-FFF2-40B4-BE49-F238E27FC236}">
                <a16:creationId xmlns:a16="http://schemas.microsoft.com/office/drawing/2014/main" id="{683C14C0-2FC3-B0E9-B046-7BD5F9A45DC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AF1D8F1A-2B10-9439-A29C-4B0A803D08D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id="{DC0E9845-D225-F166-4AA1-26FA8A52FB5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95" name="Rectangle 3">
            <a:extLst>
              <a:ext uri="{FF2B5EF4-FFF2-40B4-BE49-F238E27FC236}">
                <a16:creationId xmlns:a16="http://schemas.microsoft.com/office/drawing/2014/main" id="{1B736A92-F24E-9A16-4A2F-81595878CE2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97" name="Rectangle 3">
            <a:extLst>
              <a:ext uri="{FF2B5EF4-FFF2-40B4-BE49-F238E27FC236}">
                <a16:creationId xmlns:a16="http://schemas.microsoft.com/office/drawing/2014/main" id="{C7F06B8C-2FBE-FBF6-EACB-D33F8FF11314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99" name="Rectangle 3">
            <a:extLst>
              <a:ext uri="{FF2B5EF4-FFF2-40B4-BE49-F238E27FC236}">
                <a16:creationId xmlns:a16="http://schemas.microsoft.com/office/drawing/2014/main" id="{882EB44F-2381-EAD7-F810-E6A96C805B02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A2E87F3F-3052-5885-F477-B71191811AC3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103" name="Rectangle 3">
            <a:extLst>
              <a:ext uri="{FF2B5EF4-FFF2-40B4-BE49-F238E27FC236}">
                <a16:creationId xmlns:a16="http://schemas.microsoft.com/office/drawing/2014/main" id="{CE54CB54-EC07-502A-3CA9-17D177053CE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36249CD-80D2-85F3-8A52-1C2D579A99A5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2A46B1A-2476-9AB2-4460-DD053B30E28B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9648588-E784-C9CE-B845-53BDD771B9EA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36D2C55-947A-9F55-2B27-045E4943BC08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36D9AB9-0F75-14C1-F3EF-A56B1576A073}"/>
              </a:ext>
            </a:extLst>
          </p:cNvPr>
          <p:cNvSpPr/>
          <p:nvPr/>
        </p:nvSpPr>
        <p:spPr>
          <a:xfrm>
            <a:off x="120848" y="2205103"/>
            <a:ext cx="1528712" cy="94461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2954D80-D693-8735-1804-FB0E7D5386D0}"/>
              </a:ext>
            </a:extLst>
          </p:cNvPr>
          <p:cNvSpPr/>
          <p:nvPr/>
        </p:nvSpPr>
        <p:spPr>
          <a:xfrm>
            <a:off x="115282" y="4141618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88928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ACF8-BB42-C2E6-236C-E1440BCF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E3CBF-E0C0-C0F3-25C0-AFF4145A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25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8CC7ED-4D8C-EB75-3654-C60C25B6BDF9}"/>
              </a:ext>
            </a:extLst>
          </p:cNvPr>
          <p:cNvSpPr/>
          <p:nvPr/>
        </p:nvSpPr>
        <p:spPr>
          <a:xfrm>
            <a:off x="3223200" y="3097689"/>
            <a:ext cx="5745600" cy="15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/>
              <a:t>Implementasi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34352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3AF40-EEB8-14F5-17F6-4FFF82C6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2C6193A-7A00-8CD3-B738-9F0D1BE184A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17636B-178C-65EA-60CC-4CC12DED85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9112870D-7C5D-4090-7BFA-A54C7D33B57B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EC6E9-F2C5-AECB-8878-1CC1906D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26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9885EA-4F69-BFC5-66D5-367B9D29B83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82B45B92-D330-D95F-6E64-28D281E9E632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DD97ABD4-74B4-B10C-ECC7-9353AD065235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ea typeface="Calibri"/>
                <a:cs typeface="Calibri"/>
                <a:sym typeface="Calibri"/>
              </a:rPr>
              <a:t>Model</a:t>
            </a:r>
          </a:p>
          <a:p>
            <a:pPr lvl="0" algn="ctr"/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Alur </a:t>
            </a:r>
            <a:r>
              <a:rPr lang="en-US" sz="2600" dirty="0" err="1">
                <a:latin typeface="+mj-lt"/>
                <a:ea typeface="Calibri"/>
                <a:cs typeface="Calibri"/>
                <a:sym typeface="Calibri"/>
              </a:rPr>
              <a:t>Penelitian</a:t>
            </a:r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 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DB45C76-6454-67D0-0D7B-EF306C99A4E0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C0F8559-9D37-721C-AECB-B02B1B23D9E0}"/>
              </a:ext>
            </a:extLst>
          </p:cNvPr>
          <p:cNvSpPr/>
          <p:nvPr/>
        </p:nvSpPr>
        <p:spPr>
          <a:xfrm>
            <a:off x="115475" y="4120466"/>
            <a:ext cx="1528712" cy="18547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C8EC18C0-BC5B-0A87-52FF-7032CC4F377E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846C34B3-2E39-0EB1-1673-0DA33AA8561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0" name="Rectangle 3">
            <a:extLst>
              <a:ext uri="{FF2B5EF4-FFF2-40B4-BE49-F238E27FC236}">
                <a16:creationId xmlns:a16="http://schemas.microsoft.com/office/drawing/2014/main" id="{C0CDA212-DE7D-B6EF-CE78-583FBFBDF28A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5EBBFA6E-606E-7F40-7F64-D9932FE4E1E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DED3FEBE-C764-A0DA-EBD3-BEEA61F1B536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E89C5878-95E3-6EC8-724C-B5EDD5555F31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895227A5-0ADC-2853-1A41-BCD1F147FF3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70" name="Rectangle 3">
            <a:extLst>
              <a:ext uri="{FF2B5EF4-FFF2-40B4-BE49-F238E27FC236}">
                <a16:creationId xmlns:a16="http://schemas.microsoft.com/office/drawing/2014/main" id="{46F3D2C6-7203-CA12-52EA-EF2A2F14638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07AD810-729C-88FE-6137-42CE0A8A5C56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425AB1-0D2B-0ABF-9032-1121A5EC4C98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130098-13E9-E3FD-54F8-C62BE02D92DD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951FEA-7229-3C92-7649-063A4087BA66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AE3D9A4-FC5D-7790-EAD7-67CDF1723D1E}"/>
              </a:ext>
            </a:extLst>
          </p:cNvPr>
          <p:cNvSpPr/>
          <p:nvPr/>
        </p:nvSpPr>
        <p:spPr>
          <a:xfrm>
            <a:off x="120848" y="2205103"/>
            <a:ext cx="1528712" cy="177766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B89392B-D113-964B-F168-2924A55B304E}"/>
              </a:ext>
            </a:extLst>
          </p:cNvPr>
          <p:cNvSpPr/>
          <p:nvPr/>
        </p:nvSpPr>
        <p:spPr>
          <a:xfrm>
            <a:off x="115282" y="5012526"/>
            <a:ext cx="1528712" cy="98381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EF316F-8016-880E-0DCF-6BD025133F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00749" y="1549781"/>
            <a:ext cx="3590501" cy="473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6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AD78CB-AA68-977D-9580-A56D9BE36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4607900-75BA-F7AA-432B-6409EECB239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32145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5" imgH="405" progId="TCLayout.ActiveDocument.1">
                  <p:embed/>
                </p:oleObj>
              </mc:Choice>
              <mc:Fallback>
                <p:oleObj name="think-cell Slide" r:id="rId11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F5E880-D30F-5A94-4EE6-1DFDE19894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88D90FEA-D723-5526-9131-FCACEA39DD54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DBD56-2CEF-398D-8B8A-AFF8E56DB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27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DB55AB-CC93-9ECF-D104-027EA89B63D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20535DFC-2F41-DF3B-70C3-1B3E2C3AD415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A42E863-D966-A9D9-B908-3AC0344F0B2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79319C84-9862-8D09-B839-6B328B6530A6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9F57FABE-565E-EFC9-3C71-69BD7B6246A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1F696E82-E3C1-2EB9-E6E3-8094C4D6FB76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ED71963-C377-69C6-7BF9-7EE587A98D5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109E4CE1-8552-63E5-69F1-2528B7754DB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9A725F02-EFE2-93EB-3D06-9A2ACDBA55E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09928B-E019-37F9-2A6F-615CD2740D44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80E105-A15C-9595-EF35-AC4D717208C7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A24AD0-DE97-D9CE-DBC8-3AA2574E2F98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E319E8-0B51-E27F-BBBA-70C957644FB1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7C817E-E53D-D3BC-ABB1-8DAE6EA77AB2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7E06FBAA-43C2-2262-25ED-D146D24B85A8}"/>
              </a:ext>
            </a:extLst>
          </p:cNvPr>
          <p:cNvSpPr/>
          <p:nvPr/>
        </p:nvSpPr>
        <p:spPr>
          <a:xfrm>
            <a:off x="1855201" y="100998"/>
            <a:ext cx="7934399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Implementasi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ID" sz="2800" dirty="0" err="1"/>
              <a:t>Deskripsi</a:t>
            </a:r>
            <a:r>
              <a:rPr lang="en-ID" sz="2800" dirty="0"/>
              <a:t> Data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ECF7DB7-FEBF-F93C-8371-FF0CFE7F0882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312FA5-9728-4A4A-8068-97408569386F}"/>
              </a:ext>
            </a:extLst>
          </p:cNvPr>
          <p:cNvSpPr/>
          <p:nvPr/>
        </p:nvSpPr>
        <p:spPr>
          <a:xfrm>
            <a:off x="120848" y="2205103"/>
            <a:ext cx="1528712" cy="182565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1AFB2A-C276-1AB8-A7A6-0D954DBCE5A8}"/>
              </a:ext>
            </a:extLst>
          </p:cNvPr>
          <p:cNvSpPr/>
          <p:nvPr/>
        </p:nvSpPr>
        <p:spPr>
          <a:xfrm>
            <a:off x="115475" y="4933960"/>
            <a:ext cx="1528712" cy="104123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D0449-C813-2715-5819-C12C7C718813}"/>
              </a:ext>
            </a:extLst>
          </p:cNvPr>
          <p:cNvSpPr txBox="1"/>
          <p:nvPr/>
        </p:nvSpPr>
        <p:spPr>
          <a:xfrm>
            <a:off x="3496800" y="1569874"/>
            <a:ext cx="7315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</a:t>
            </a:r>
            <a:r>
              <a:rPr lang="en-US" sz="1800" dirty="0" err="1">
                <a:solidFill>
                  <a:srgbClr val="1F2937"/>
                </a:solidFill>
              </a:rPr>
              <a:t>Sumber</a:t>
            </a:r>
            <a:r>
              <a:rPr lang="en-US" sz="1800" dirty="0">
                <a:solidFill>
                  <a:srgbClr val="1F2937"/>
                </a:solidFill>
              </a:rPr>
              <a:t>	: Yahoo Finance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</a:t>
            </a:r>
            <a:r>
              <a:rPr lang="en-US" sz="1800" dirty="0" err="1">
                <a:solidFill>
                  <a:srgbClr val="1F2937"/>
                </a:solidFill>
              </a:rPr>
              <a:t>Periode</a:t>
            </a:r>
            <a:r>
              <a:rPr lang="en-US" sz="1800" dirty="0">
                <a:solidFill>
                  <a:srgbClr val="1F2937"/>
                </a:solidFill>
              </a:rPr>
              <a:t>		: 1 Agustus 2025 − 28 November 2025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</a:t>
            </a:r>
            <a:r>
              <a:rPr lang="en-US" sz="1800" dirty="0" err="1">
                <a:solidFill>
                  <a:srgbClr val="1F2937"/>
                </a:solidFill>
              </a:rPr>
              <a:t>Frekuensi</a:t>
            </a:r>
            <a:r>
              <a:rPr lang="en-US" sz="1800" dirty="0">
                <a:solidFill>
                  <a:srgbClr val="1F2937"/>
                </a:solidFill>
              </a:rPr>
              <a:t>	: </a:t>
            </a:r>
            <a:r>
              <a:rPr lang="en-US" sz="1800" dirty="0" err="1">
                <a:solidFill>
                  <a:srgbClr val="1F2937"/>
                </a:solidFill>
              </a:rPr>
              <a:t>observasi</a:t>
            </a:r>
            <a:r>
              <a:rPr lang="en-US" sz="1800" dirty="0">
                <a:solidFill>
                  <a:srgbClr val="1F2937"/>
                </a:solidFill>
              </a:rPr>
              <a:t> intraday 5 </a:t>
            </a:r>
            <a:r>
              <a:rPr lang="en-US" sz="1800" dirty="0" err="1">
                <a:solidFill>
                  <a:srgbClr val="1F2937"/>
                </a:solidFill>
              </a:rPr>
              <a:t>menit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</a:t>
            </a:r>
            <a:r>
              <a:rPr lang="en-US" sz="1800" dirty="0" err="1">
                <a:solidFill>
                  <a:srgbClr val="1F2937"/>
                </a:solidFill>
              </a:rPr>
              <a:t>Jumlah</a:t>
            </a:r>
            <a:r>
              <a:rPr lang="en-US" sz="1800" dirty="0">
                <a:solidFill>
                  <a:srgbClr val="1F2937"/>
                </a:solidFill>
              </a:rPr>
              <a:t> </a:t>
            </a:r>
            <a:r>
              <a:rPr lang="en-US" sz="1800" dirty="0" err="1">
                <a:solidFill>
                  <a:srgbClr val="1F2937"/>
                </a:solidFill>
              </a:rPr>
              <a:t>sampel</a:t>
            </a:r>
            <a:r>
              <a:rPr lang="en-US" sz="1800" dirty="0">
                <a:solidFill>
                  <a:srgbClr val="1F2937"/>
                </a:solidFill>
              </a:rPr>
              <a:t>	: 4.736</a:t>
            </a:r>
            <a:endParaRPr lang="en-US" sz="1800" dirty="0"/>
          </a:p>
          <a:p>
            <a:pPr marL="0" indent="0" algn="just">
              <a:buNone/>
            </a:pPr>
            <a:r>
              <a:rPr lang="en-US" sz="1800" dirty="0">
                <a:solidFill>
                  <a:srgbClr val="1F2937"/>
                </a:solidFill>
              </a:rPr>
              <a:t>• Target		: closing price </a:t>
            </a:r>
            <a:r>
              <a:rPr lang="en-US" sz="1800" dirty="0" err="1">
                <a:solidFill>
                  <a:srgbClr val="1F2937"/>
                </a:solidFill>
              </a:rPr>
              <a:t>berikutnya</a:t>
            </a:r>
            <a:endParaRPr lang="en-US" sz="1800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A044BDFB-51C1-FC73-9F22-87782C8A5AA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11400" y="3060770"/>
            <a:ext cx="6087600" cy="325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89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D78CB-AA68-977D-9580-A56D9BE36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0E6E98F1-8B2C-CC71-E909-BCDB5460739D}"/>
              </a:ext>
            </a:extLst>
          </p:cNvPr>
          <p:cNvSpPr/>
          <p:nvPr/>
        </p:nvSpPr>
        <p:spPr>
          <a:xfrm rot="5400000">
            <a:off x="3482526" y="1557281"/>
            <a:ext cx="1873212" cy="2853469"/>
          </a:xfrm>
          <a:prstGeom prst="homePlate">
            <a:avLst>
              <a:gd name="adj" fmla="val 8842"/>
            </a:avLst>
          </a:prstGeom>
          <a:solidFill>
            <a:srgbClr val="002060"/>
          </a:solidFill>
          <a:ln w="22358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322" tIns="53661" rIns="107322" bIns="53661" rtlCol="0" anchor="ctr"/>
          <a:lstStyle/>
          <a:p>
            <a:pPr algn="ctr" defTabSz="1073214"/>
            <a:endParaRPr lang="en-ID" sz="2114" kern="1408" dirty="0"/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4607900-75BA-F7AA-432B-6409EECB239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607900-75BA-F7AA-432B-6409EECB23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88D90FEA-D723-5526-9131-FCACEA39DD54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DBD56-2CEF-398D-8B8A-AFF8E56DB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28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DB55AB-CC93-9ECF-D104-027EA89B63D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20535DFC-2F41-DF3B-70C3-1B3E2C3AD415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A42E863-D966-A9D9-B908-3AC0344F0B2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79319C84-9862-8D09-B839-6B328B6530A6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9F57FABE-565E-EFC9-3C71-69BD7B6246A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1F696E82-E3C1-2EB9-E6E3-8094C4D6FB76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ED71963-C377-69C6-7BF9-7EE587A98D5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109E4CE1-8552-63E5-69F1-2528B7754DB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9A725F02-EFE2-93EB-3D06-9A2ACDBA55E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09928B-E019-37F9-2A6F-615CD2740D44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80E105-A15C-9595-EF35-AC4D717208C7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A24AD0-DE97-D9CE-DBC8-3AA2574E2F98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E319E8-0B51-E27F-BBBA-70C957644FB1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7C817E-E53D-D3BC-ABB1-8DAE6EA77AB2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7E06FBAA-43C2-2262-25ED-D146D24B85A8}"/>
              </a:ext>
            </a:extLst>
          </p:cNvPr>
          <p:cNvSpPr/>
          <p:nvPr/>
        </p:nvSpPr>
        <p:spPr>
          <a:xfrm>
            <a:off x="1855201" y="100998"/>
            <a:ext cx="7934399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Implementasi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ID" sz="2800" dirty="0" err="1"/>
              <a:t>Deskripsi</a:t>
            </a:r>
            <a:r>
              <a:rPr lang="en-ID" sz="2800" dirty="0"/>
              <a:t> Data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ECF7DB7-FEBF-F93C-8371-FF0CFE7F0882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312FA5-9728-4A4A-8068-97408569386F}"/>
              </a:ext>
            </a:extLst>
          </p:cNvPr>
          <p:cNvSpPr/>
          <p:nvPr/>
        </p:nvSpPr>
        <p:spPr>
          <a:xfrm>
            <a:off x="120848" y="2205103"/>
            <a:ext cx="1528712" cy="182565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1AFB2A-C276-1AB8-A7A6-0D954DBCE5A8}"/>
              </a:ext>
            </a:extLst>
          </p:cNvPr>
          <p:cNvSpPr/>
          <p:nvPr/>
        </p:nvSpPr>
        <p:spPr>
          <a:xfrm>
            <a:off x="115475" y="4933960"/>
            <a:ext cx="1528712" cy="104123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48AAAB-14D8-FBDA-774C-4DBA2AB019E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12990" y="3966873"/>
            <a:ext cx="3012287" cy="220000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8F33AB6-2F07-D2DB-1956-4A1D3FF69844}"/>
              </a:ext>
            </a:extLst>
          </p:cNvPr>
          <p:cNvSpPr/>
          <p:nvPr/>
        </p:nvSpPr>
        <p:spPr>
          <a:xfrm>
            <a:off x="1718400" y="1521060"/>
            <a:ext cx="4993200" cy="406362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/>
              <a:t>Input dan </a:t>
            </a:r>
            <a:r>
              <a:rPr lang="en-ID" sz="2000" i="1" dirty="0"/>
              <a:t>Pre-Processing</a:t>
            </a:r>
            <a:r>
              <a:rPr lang="en-ID" sz="2000" dirty="0"/>
              <a:t> Data</a:t>
            </a:r>
            <a:endParaRPr lang="id-ID" sz="20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668B72-7E4A-41A5-812D-A993966EE199}"/>
              </a:ext>
            </a:extLst>
          </p:cNvPr>
          <p:cNvCxnSpPr>
            <a:cxnSpLocks/>
          </p:cNvCxnSpPr>
          <p:nvPr/>
        </p:nvCxnSpPr>
        <p:spPr>
          <a:xfrm>
            <a:off x="6949933" y="1519993"/>
            <a:ext cx="0" cy="45766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BE03EF12-BB16-7B58-F861-DC5FA16D5FBB}"/>
              </a:ext>
            </a:extLst>
          </p:cNvPr>
          <p:cNvSpPr/>
          <p:nvPr/>
        </p:nvSpPr>
        <p:spPr>
          <a:xfrm>
            <a:off x="6780000" y="3908785"/>
            <a:ext cx="339867" cy="368301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A64380FD-F693-8968-CBB0-47DE425F2782}"/>
              </a:ext>
            </a:extLst>
          </p:cNvPr>
          <p:cNvSpPr/>
          <p:nvPr/>
        </p:nvSpPr>
        <p:spPr>
          <a:xfrm>
            <a:off x="6864970" y="3981614"/>
            <a:ext cx="169925" cy="21124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030296-76C8-FF6D-F137-74B111A4BD20}"/>
              </a:ext>
            </a:extLst>
          </p:cNvPr>
          <p:cNvSpPr/>
          <p:nvPr/>
        </p:nvSpPr>
        <p:spPr>
          <a:xfrm>
            <a:off x="7119867" y="1521060"/>
            <a:ext cx="4823703" cy="406362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 err="1"/>
              <a:t>Normalisasi</a:t>
            </a:r>
            <a:endParaRPr lang="id-ID" sz="2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BAABA7-6E6F-FDE9-A6C0-9151FA602974}"/>
              </a:ext>
            </a:extLst>
          </p:cNvPr>
          <p:cNvSpPr txBox="1"/>
          <p:nvPr/>
        </p:nvSpPr>
        <p:spPr>
          <a:xfrm>
            <a:off x="7199743" y="2132153"/>
            <a:ext cx="39954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Dilakukan</a:t>
            </a:r>
            <a:r>
              <a:rPr lang="en-ID" sz="1400" dirty="0"/>
              <a:t> min-max normalization pada data train </a:t>
            </a:r>
            <a:r>
              <a:rPr lang="en-ID" sz="1400" dirty="0" err="1"/>
              <a:t>dengan</a:t>
            </a:r>
            <a:r>
              <a:rPr lang="en-ID" sz="1400" dirty="0"/>
              <a:t>: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8DB9F8-5B89-1C8B-ED6C-513812F2BB58}"/>
              </a:ext>
            </a:extLst>
          </p:cNvPr>
          <p:cNvSpPr txBox="1"/>
          <p:nvPr/>
        </p:nvSpPr>
        <p:spPr>
          <a:xfrm>
            <a:off x="7199743" y="3106408"/>
            <a:ext cx="37027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Kemudian</a:t>
            </a:r>
            <a:r>
              <a:rPr lang="en-ID" sz="1400" dirty="0"/>
              <a:t> </a:t>
            </a:r>
            <a:r>
              <a:rPr lang="en-ID" sz="1400" dirty="0" err="1"/>
              <a:t>akan</a:t>
            </a:r>
            <a:r>
              <a:rPr lang="en-ID" sz="1400" dirty="0"/>
              <a:t> </a:t>
            </a:r>
            <a:r>
              <a:rPr lang="en-ID" sz="1400" dirty="0" err="1"/>
              <a:t>dilakukan</a:t>
            </a:r>
            <a:r>
              <a:rPr lang="en-ID" sz="1400" dirty="0"/>
              <a:t> </a:t>
            </a:r>
            <a:r>
              <a:rPr lang="en-ID" sz="1400" dirty="0" err="1"/>
              <a:t>denormalisasi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5047DF-D3AE-175F-B3ED-D9680D1F57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3551" y="2034750"/>
            <a:ext cx="4993198" cy="16329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62A28F4-A749-F794-40BA-CE3485F3E8E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85595" y="2456453"/>
            <a:ext cx="1449684" cy="54673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3333FC-43AB-7588-97FA-3D8DD40799E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25121" y="3608959"/>
            <a:ext cx="2325599" cy="39025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068CD6B-0A8F-9BC9-E6F0-66EF15E91AF9}"/>
              </a:ext>
            </a:extLst>
          </p:cNvPr>
          <p:cNvSpPr/>
          <p:nvPr/>
        </p:nvSpPr>
        <p:spPr>
          <a:xfrm>
            <a:off x="7175895" y="4048130"/>
            <a:ext cx="4823703" cy="406362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/>
              <a:t>Data Splitting</a:t>
            </a:r>
            <a:endParaRPr lang="id-ID" sz="2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CC46A8E-A1D2-F224-7BDD-C673549B6AF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5509" y="4613052"/>
            <a:ext cx="4765948" cy="86041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7DAE3F1-3ABA-8E5E-B14F-D706B0673D4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48305" y="2587453"/>
            <a:ext cx="1408522" cy="91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8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34AA-36ED-FD3E-345D-9ED72F36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B032204-D6F8-E613-5282-C42147BCB02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287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676F6-611E-A4DE-6652-19E12314B3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9C4B1F36-3C99-B6C5-DA4A-5E7D8DECB662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8C137-E23B-AC41-6C65-A9D2A8E0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29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595842-FFB8-2CD1-D16B-8B6A07CD1F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83A57F25-2DB0-0396-61A1-D534155FFD30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B4E4D1C9-759A-7524-6E7B-E7E3510C8A11}"/>
              </a:ext>
            </a:extLst>
          </p:cNvPr>
          <p:cNvSpPr/>
          <p:nvPr/>
        </p:nvSpPr>
        <p:spPr>
          <a:xfrm>
            <a:off x="2350893" y="100998"/>
            <a:ext cx="7438707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Implementasi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600" i="1" dirty="0">
                <a:latin typeface="+mj-lt"/>
                <a:ea typeface="Calibri"/>
                <a:cs typeface="Calibri"/>
                <a:sym typeface="Calibri"/>
              </a:rPr>
              <a:t>Hyperparameter Tuning</a:t>
            </a:r>
            <a:endParaRPr sz="2600" i="1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CC6DAF3-FB07-986D-06A5-58134D4056E5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9979E56-6242-4244-D689-9894002FC7D6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301472A-AB90-FC3A-9DD1-4DF8E61AC863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9FB4A58-2902-4622-6722-EDCCA1CD88FD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8B35439-BE1E-5460-31AE-E2EFD062C010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69371305-9BBC-FC9F-3736-C0F1D6D5D13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9BDE4593-3D75-3CBE-606F-8690B940AED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8569A070-AB87-9D0D-5286-02BE67C7F583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08CD9AE4-C5DA-B976-FA30-3647D2E8F5A9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46DF95-70D6-34E1-0E4D-3F17A19819B1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96F670-8F7F-C46E-E482-E31C23EDF02F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A5B1D7-3030-06A2-5028-E515B4959927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62073A-624A-5094-4790-0451140CA176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A777F77-001B-D325-B086-AA8648049D29}"/>
              </a:ext>
            </a:extLst>
          </p:cNvPr>
          <p:cNvSpPr/>
          <p:nvPr/>
        </p:nvSpPr>
        <p:spPr>
          <a:xfrm>
            <a:off x="120848" y="2205103"/>
            <a:ext cx="1528712" cy="182565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C5C8C8C-259E-2093-845E-C392808D2D9C}"/>
              </a:ext>
            </a:extLst>
          </p:cNvPr>
          <p:cNvSpPr/>
          <p:nvPr/>
        </p:nvSpPr>
        <p:spPr>
          <a:xfrm>
            <a:off x="115475" y="4933960"/>
            <a:ext cx="1528712" cy="104123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717E00-042F-DD05-11E5-29119AD21A0D}"/>
              </a:ext>
            </a:extLst>
          </p:cNvPr>
          <p:cNvSpPr txBox="1"/>
          <p:nvPr/>
        </p:nvSpPr>
        <p:spPr>
          <a:xfrm>
            <a:off x="3237772" y="5294634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/>
              <a:t>16 </a:t>
            </a:r>
            <a:r>
              <a:rPr lang="en-US" sz="1800" b="1" dirty="0" err="1"/>
              <a:t>kombinasi</a:t>
            </a:r>
            <a:r>
              <a:rPr lang="en-US" sz="1800" b="1" dirty="0"/>
              <a:t> hyperparameter </a:t>
            </a:r>
            <a:r>
              <a:rPr lang="en-US" b="1" dirty="0" err="1"/>
              <a:t>terhasilkan</a:t>
            </a:r>
            <a:r>
              <a:rPr lang="en-US" b="1" dirty="0"/>
              <a:t>. </a:t>
            </a:r>
            <a:r>
              <a:rPr lang="en-US" sz="1800" b="1" dirty="0" err="1"/>
              <a:t>Konfigurasi</a:t>
            </a:r>
            <a:r>
              <a:rPr lang="en-US" sz="1800" b="1" dirty="0"/>
              <a:t> </a:t>
            </a:r>
            <a:r>
              <a:rPr lang="en-US" sz="1800" b="1" dirty="0" err="1"/>
              <a:t>terbaik</a:t>
            </a:r>
            <a:r>
              <a:rPr lang="en-US" sz="1800" b="1" dirty="0"/>
              <a:t> </a:t>
            </a:r>
            <a:r>
              <a:rPr lang="en-US" sz="1800" b="1" dirty="0" err="1"/>
              <a:t>dipilih</a:t>
            </a:r>
            <a:r>
              <a:rPr lang="en-US" sz="1800" b="1" dirty="0"/>
              <a:t> </a:t>
            </a:r>
            <a:r>
              <a:rPr lang="en-US" sz="1800" b="1" dirty="0" err="1"/>
              <a:t>berdasarkan</a:t>
            </a:r>
            <a:r>
              <a:rPr lang="en-US" sz="1800" b="1" dirty="0"/>
              <a:t> </a:t>
            </a:r>
            <a:r>
              <a:rPr lang="en-US" b="1" dirty="0" err="1"/>
              <a:t>metrik</a:t>
            </a:r>
            <a:r>
              <a:rPr lang="en-US" b="1" dirty="0"/>
              <a:t> </a:t>
            </a:r>
            <a:r>
              <a:rPr lang="en-US" sz="1800" b="1" dirty="0"/>
              <a:t>MAE pada </a:t>
            </a:r>
            <a:r>
              <a:rPr lang="en-US" sz="1800" b="1" i="1" dirty="0"/>
              <a:t>validation set </a:t>
            </a:r>
            <a:r>
              <a:rPr lang="en-US" sz="1800" b="1" dirty="0" err="1"/>
              <a:t>terendah</a:t>
            </a:r>
            <a:r>
              <a:rPr lang="en-US" sz="1800" b="1" dirty="0"/>
              <a:t>.</a:t>
            </a:r>
            <a:endParaRPr lang="en-US" sz="18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F83683-565F-7DBF-82DC-C3536FF383F8}"/>
              </a:ext>
            </a:extLst>
          </p:cNvPr>
          <p:cNvSpPr/>
          <p:nvPr/>
        </p:nvSpPr>
        <p:spPr>
          <a:xfrm>
            <a:off x="7213583" y="3938474"/>
            <a:ext cx="339867" cy="368301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C13DF8BA-C40A-DD86-3F56-5642054B4F9F}"/>
              </a:ext>
            </a:extLst>
          </p:cNvPr>
          <p:cNvSpPr/>
          <p:nvPr/>
        </p:nvSpPr>
        <p:spPr>
          <a:xfrm>
            <a:off x="7316040" y="4001797"/>
            <a:ext cx="169925" cy="211243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F87F80F-BF8D-BCC7-C1D9-E963AAAA0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907118"/>
              </p:ext>
            </p:extLst>
          </p:nvPr>
        </p:nvGraphicFramePr>
        <p:xfrm>
          <a:off x="2399065" y="2659958"/>
          <a:ext cx="4674669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223">
                  <a:extLst>
                    <a:ext uri="{9D8B030D-6E8A-4147-A177-3AD203B41FA5}">
                      <a16:colId xmlns:a16="http://schemas.microsoft.com/office/drawing/2014/main" val="1330976531"/>
                    </a:ext>
                  </a:extLst>
                </a:gridCol>
                <a:gridCol w="1558223">
                  <a:extLst>
                    <a:ext uri="{9D8B030D-6E8A-4147-A177-3AD203B41FA5}">
                      <a16:colId xmlns:a16="http://schemas.microsoft.com/office/drawing/2014/main" val="3758348826"/>
                    </a:ext>
                  </a:extLst>
                </a:gridCol>
                <a:gridCol w="1558223">
                  <a:extLst>
                    <a:ext uri="{9D8B030D-6E8A-4147-A177-3AD203B41FA5}">
                      <a16:colId xmlns:a16="http://schemas.microsoft.com/office/drawing/2014/main" val="1651098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Nilai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Referensi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503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Hidden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32 dan 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Kurniasari</a:t>
                      </a:r>
                      <a:r>
                        <a:rPr lang="en-US" sz="1200" dirty="0"/>
                        <a:t> et al., 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625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0,001 dan 0,0001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Tshamaroh</a:t>
                      </a:r>
                      <a:r>
                        <a:rPr lang="en-US" sz="1200" dirty="0"/>
                        <a:t> et al.,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79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32 dan 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Kurniasari</a:t>
                      </a:r>
                      <a:r>
                        <a:rPr lang="en-US" sz="1200" dirty="0"/>
                        <a:t> et al., 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038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ODE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Euler dan RK4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 Brouwer et al., 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712448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76E3C25-0745-9E30-053F-5AB048DCD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028520"/>
              </p:ext>
            </p:extLst>
          </p:nvPr>
        </p:nvGraphicFramePr>
        <p:xfrm>
          <a:off x="7712756" y="2952036"/>
          <a:ext cx="311644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223">
                  <a:extLst>
                    <a:ext uri="{9D8B030D-6E8A-4147-A177-3AD203B41FA5}">
                      <a16:colId xmlns:a16="http://schemas.microsoft.com/office/drawing/2014/main" val="1330976531"/>
                    </a:ext>
                  </a:extLst>
                </a:gridCol>
                <a:gridCol w="1558223">
                  <a:extLst>
                    <a:ext uri="{9D8B030D-6E8A-4147-A177-3AD203B41FA5}">
                      <a16:colId xmlns:a16="http://schemas.microsoft.com/office/drawing/2014/main" val="3758348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Nilai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503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Hidden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625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0,001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79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038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ODE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RK4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712448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5E9B6E7B-4791-A08B-29B6-65CF39FF660B}"/>
              </a:ext>
            </a:extLst>
          </p:cNvPr>
          <p:cNvSpPr/>
          <p:nvPr/>
        </p:nvSpPr>
        <p:spPr>
          <a:xfrm>
            <a:off x="2407802" y="2151394"/>
            <a:ext cx="4665932" cy="406362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 err="1"/>
              <a:t>Kandidat</a:t>
            </a:r>
            <a:r>
              <a:rPr lang="en-ID" sz="2000" dirty="0"/>
              <a:t> Hyperparameter</a:t>
            </a:r>
            <a:endParaRPr lang="id-ID" sz="20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0BB34A1-34EE-9223-F1EA-B888E7368A05}"/>
              </a:ext>
            </a:extLst>
          </p:cNvPr>
          <p:cNvSpPr/>
          <p:nvPr/>
        </p:nvSpPr>
        <p:spPr>
          <a:xfrm>
            <a:off x="7712756" y="2168379"/>
            <a:ext cx="3116446" cy="406362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/>
              <a:t>Hyperparameter </a:t>
            </a:r>
            <a:r>
              <a:rPr lang="en-ID" sz="2000" dirty="0" err="1"/>
              <a:t>Terbaik</a:t>
            </a:r>
            <a:endParaRPr lang="id-ID" sz="2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BAE51F-5D8A-A6F7-A20F-4873E4CE4AE7}"/>
              </a:ext>
            </a:extLst>
          </p:cNvPr>
          <p:cNvSpPr txBox="1"/>
          <p:nvPr/>
        </p:nvSpPr>
        <p:spPr>
          <a:xfrm>
            <a:off x="3154800" y="154867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/>
              <a:t>Hyperparameter tuning </a:t>
            </a:r>
            <a:r>
              <a:rPr lang="en-US" sz="1800" b="1" dirty="0" err="1"/>
              <a:t>dilakukan</a:t>
            </a:r>
            <a:r>
              <a:rPr lang="en-US" sz="1800" b="1" dirty="0"/>
              <a:t> </a:t>
            </a:r>
            <a:r>
              <a:rPr lang="en-US" sz="1800" b="1" dirty="0" err="1"/>
              <a:t>menggunakan</a:t>
            </a:r>
            <a:r>
              <a:rPr lang="en-US" sz="1800" b="1" dirty="0"/>
              <a:t> Grid Search.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94325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54F07-3F40-6BFE-9061-C19A50E4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FF5E880-D30F-5A94-4EE6-1DFDE19894C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2689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E7A7B0-40AC-FE7F-9B4A-DDAB838FC2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A4227D73-4107-4AA7-4D0E-B9EBD9704804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FD59A-5B50-34FF-0A9A-6A34B5FC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30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5E17C4-BA6B-01F1-3380-3C49A58CEF8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951C37FB-3DF8-AB1E-AD40-7DBA1E2362A1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006595ED-CAC5-2E39-5013-47FDBB55B8B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7D8DF69F-305C-8FB8-833C-0EE691D17541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B7DC5170-1E6C-6E11-D4AC-3DFE773E9475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29688FE7-530B-1E6B-B430-D1AB5028A843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8F2AE0DF-98B9-65B7-68D6-EEA07DF650C5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0EA74EA3-8BB1-98BF-90A0-079F660FC69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B113B992-7161-1833-608F-84DDEC4D45E1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7F1306-B764-0ABA-D2B9-E6747629868B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7B1A21-F8A9-31F7-580B-8D9F423D43D8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21AC42-D6FA-0174-C8A6-C4E30D1CBCC1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C28FD3-93F9-41F3-7987-78744F650908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2A0A2A-715E-26BE-7382-5F6A42987093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39938BFD-AF23-DCE1-8D63-3B81BDEF5EC7}"/>
              </a:ext>
            </a:extLst>
          </p:cNvPr>
          <p:cNvSpPr/>
          <p:nvPr/>
        </p:nvSpPr>
        <p:spPr>
          <a:xfrm>
            <a:off x="1855201" y="100998"/>
            <a:ext cx="7934399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Implementasi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ID" sz="2800" dirty="0"/>
              <a:t>Forecasting </a:t>
            </a:r>
            <a:r>
              <a:rPr lang="en-ID" sz="2800" dirty="0" err="1"/>
              <a:t>Indeks</a:t>
            </a:r>
            <a:r>
              <a:rPr lang="en-ID" sz="2800" dirty="0"/>
              <a:t> Harga Saham Intraday LQ45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F0F0B13-DC06-EBFD-2D3F-C8557BBF9BD7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DB4B5F0-068D-FCC1-B93C-A1A02DD10393}"/>
              </a:ext>
            </a:extLst>
          </p:cNvPr>
          <p:cNvSpPr/>
          <p:nvPr/>
        </p:nvSpPr>
        <p:spPr>
          <a:xfrm>
            <a:off x="120848" y="2205103"/>
            <a:ext cx="1528712" cy="182565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0526D-E7C1-4FC3-D2D7-7A2ED896ED64}"/>
              </a:ext>
            </a:extLst>
          </p:cNvPr>
          <p:cNvSpPr/>
          <p:nvPr/>
        </p:nvSpPr>
        <p:spPr>
          <a:xfrm>
            <a:off x="115475" y="4933960"/>
            <a:ext cx="1528712" cy="104123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8053B1-EB8E-2332-545C-BBC95456B094}"/>
              </a:ext>
            </a:extLst>
          </p:cNvPr>
          <p:cNvSpPr/>
          <p:nvPr/>
        </p:nvSpPr>
        <p:spPr>
          <a:xfrm>
            <a:off x="1718400" y="1521060"/>
            <a:ext cx="10269696" cy="376273"/>
          </a:xfrm>
          <a:prstGeom prst="rect">
            <a:avLst/>
          </a:prstGeom>
          <a:solidFill>
            <a:srgbClr val="0042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 err="1"/>
              <a:t>Implementasi</a:t>
            </a:r>
            <a:r>
              <a:rPr lang="en-ID" sz="2000" dirty="0"/>
              <a:t> Model GRU-ODE</a:t>
            </a:r>
            <a:endParaRPr lang="id-ID" sz="2000" i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61EC066-C077-260C-D59A-BE06DA19D5B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7522" y="2427219"/>
            <a:ext cx="3010478" cy="152098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FD316B3-2314-A78D-776D-B583F8811D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5200" y="2400554"/>
            <a:ext cx="3009900" cy="15208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CC55400-86F0-894D-45F6-473A11A8852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92300" y="2413323"/>
            <a:ext cx="3009900" cy="152082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F37A806-5CF2-0218-2D6A-C8F6FD2B524F}"/>
              </a:ext>
            </a:extLst>
          </p:cNvPr>
          <p:cNvSpPr txBox="1"/>
          <p:nvPr/>
        </p:nvSpPr>
        <p:spPr>
          <a:xfrm>
            <a:off x="1684787" y="2061765"/>
            <a:ext cx="3010478" cy="34123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ID" sz="1400" i="1" dirty="0"/>
              <a:t>Hasil </a:t>
            </a:r>
            <a:r>
              <a:rPr lang="en-ID" sz="1400" i="1" dirty="0" err="1"/>
              <a:t>Prediksi</a:t>
            </a:r>
            <a:r>
              <a:rPr lang="en-ID" sz="1400" i="1" dirty="0"/>
              <a:t> Train Test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AB041E-D6A5-03AC-45DC-07CC2391B1A8}"/>
              </a:ext>
            </a:extLst>
          </p:cNvPr>
          <p:cNvSpPr txBox="1"/>
          <p:nvPr/>
        </p:nvSpPr>
        <p:spPr>
          <a:xfrm>
            <a:off x="5341712" y="2052939"/>
            <a:ext cx="3009900" cy="30777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ID" sz="1400" i="1" dirty="0"/>
              <a:t>Hasil </a:t>
            </a:r>
            <a:r>
              <a:rPr lang="en-ID" sz="1400" i="1" dirty="0" err="1"/>
              <a:t>Prediksi</a:t>
            </a:r>
            <a:r>
              <a:rPr lang="en-ID" sz="1400" i="1" dirty="0"/>
              <a:t> Validation Set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AD8B71-BC26-C033-B776-13D50B2512FF}"/>
              </a:ext>
            </a:extLst>
          </p:cNvPr>
          <p:cNvSpPr txBox="1"/>
          <p:nvPr/>
        </p:nvSpPr>
        <p:spPr>
          <a:xfrm>
            <a:off x="8892300" y="2068494"/>
            <a:ext cx="3009900" cy="30777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algn="ctr"/>
            <a:r>
              <a:rPr lang="en-ID" sz="1400" i="1" dirty="0"/>
              <a:t>Hasil </a:t>
            </a:r>
            <a:r>
              <a:rPr lang="en-ID" sz="1400" i="1" dirty="0" err="1"/>
              <a:t>Prediksi</a:t>
            </a:r>
            <a:r>
              <a:rPr lang="en-ID" sz="1400" i="1" dirty="0"/>
              <a:t> Test Set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56AECD-0291-253C-1EA2-F9C13C5AE617}"/>
              </a:ext>
            </a:extLst>
          </p:cNvPr>
          <p:cNvSpPr txBox="1"/>
          <p:nvPr/>
        </p:nvSpPr>
        <p:spPr>
          <a:xfrm>
            <a:off x="1661822" y="3994046"/>
            <a:ext cx="10240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Metrik</a:t>
            </a:r>
            <a:r>
              <a:rPr lang="en-ID" sz="1400" dirty="0"/>
              <a:t> </a:t>
            </a:r>
            <a:r>
              <a:rPr lang="en-ID" sz="1400" dirty="0" err="1"/>
              <a:t>evaluasi</a:t>
            </a:r>
            <a:r>
              <a:rPr lang="en-ID" sz="1400" dirty="0"/>
              <a:t> yang </a:t>
            </a:r>
            <a:r>
              <a:rPr lang="en-ID" sz="1400" dirty="0" err="1"/>
              <a:t>diperoleh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setiap</a:t>
            </a:r>
            <a:r>
              <a:rPr lang="en-ID" sz="1400" dirty="0"/>
              <a:t> </a:t>
            </a:r>
            <a:r>
              <a:rPr lang="en-ID" sz="1400" i="1" dirty="0"/>
              <a:t>set</a:t>
            </a:r>
            <a:r>
              <a:rPr lang="en-ID" sz="1400" dirty="0"/>
              <a:t> pada model </a:t>
            </a:r>
            <a:r>
              <a:rPr lang="en-ID" sz="1400" dirty="0" err="1"/>
              <a:t>terbaik</a:t>
            </a:r>
            <a:r>
              <a:rPr lang="en-ID" sz="1400" dirty="0"/>
              <a:t>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0A9073-92DE-0C4F-22B9-10595C607853}"/>
              </a:ext>
            </a:extLst>
          </p:cNvPr>
          <p:cNvSpPr txBox="1"/>
          <p:nvPr/>
        </p:nvSpPr>
        <p:spPr>
          <a:xfrm>
            <a:off x="3835751" y="6005592"/>
            <a:ext cx="6468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/>
              <a:t>Best Model: MAE 0,8229   |   RMSE 1,1217   |   MAPE 0,0964%</a:t>
            </a: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E024D8-780F-AFD9-684A-7A9E081C836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43148" y="4368754"/>
            <a:ext cx="5253899" cy="160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47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FD58-7405-0C32-4BAB-F57E6CA8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2B90986-713B-87AC-06DD-5EBF0BDB322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93367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F5E880-D30F-5A94-4EE6-1DFDE19894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2DA75C6F-ECCA-84AD-17EF-4A3CA4DAA498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2FDC8-171D-1967-2E14-941E8E4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31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ACA1C1-1D81-0937-68F8-28A9A55799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438811" y="1306148"/>
            <a:ext cx="2191056" cy="2495898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7768F249-92F0-E662-5882-31674417B256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7894EE6-5021-0A4D-DDF7-F93C172FEDD5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167A44A6-83F4-DE09-A011-A3719A3642F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CFD7A093-63B1-A6E1-6743-85E59D79AB53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8DF164E6-E7B7-245D-79FD-53F7597D76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34FFEC1-833E-8F33-8BC0-D60BA66B03FE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768F1EA0-8DB2-6711-54D0-08101F60F8CE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9DC8A81A-B6CC-A292-33BE-07432BE97297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DDBA9E-FEDB-AD31-B8B7-FAFFA60DE4FA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8DD1EE-0801-E103-6CE3-FE0F9659A3FD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7D3596-439E-8844-7405-4E1093D4CD13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A0C7CE-DDE7-F97B-9308-298060E8F2C5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2F1603E-AAB3-C9B1-F380-D16CB6E4510A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05;p15">
            <a:extLst>
              <a:ext uri="{FF2B5EF4-FFF2-40B4-BE49-F238E27FC236}">
                <a16:creationId xmlns:a16="http://schemas.microsoft.com/office/drawing/2014/main" id="{AC0F9384-1B98-B2BA-C4CF-5E6D4BEC9644}"/>
              </a:ext>
            </a:extLst>
          </p:cNvPr>
          <p:cNvSpPr/>
          <p:nvPr/>
        </p:nvSpPr>
        <p:spPr>
          <a:xfrm>
            <a:off x="1855201" y="100998"/>
            <a:ext cx="7934399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Implementasi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lvl="0" algn="ctr"/>
            <a:r>
              <a:rPr lang="en-ID" sz="2800" dirty="0"/>
              <a:t>Forecasting </a:t>
            </a:r>
            <a:r>
              <a:rPr lang="en-ID" sz="2800" dirty="0" err="1"/>
              <a:t>Indeks</a:t>
            </a:r>
            <a:r>
              <a:rPr lang="en-ID" sz="2800" dirty="0"/>
              <a:t> Harga Saham Intraday LQ45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9D7499C-CB8F-E009-7C29-4963B0046293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980DF9-4CFE-A399-8330-B202FA951A9C}"/>
              </a:ext>
            </a:extLst>
          </p:cNvPr>
          <p:cNvSpPr/>
          <p:nvPr/>
        </p:nvSpPr>
        <p:spPr>
          <a:xfrm>
            <a:off x="120848" y="2205103"/>
            <a:ext cx="1528712" cy="182565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300AE-D5EE-3A73-579B-43A03749F1EB}"/>
              </a:ext>
            </a:extLst>
          </p:cNvPr>
          <p:cNvSpPr/>
          <p:nvPr/>
        </p:nvSpPr>
        <p:spPr>
          <a:xfrm>
            <a:off x="115475" y="4933960"/>
            <a:ext cx="1528712" cy="104123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C5A958-C21D-C49B-8D29-19F451DA263F}"/>
              </a:ext>
            </a:extLst>
          </p:cNvPr>
          <p:cNvSpPr txBox="1"/>
          <p:nvPr/>
        </p:nvSpPr>
        <p:spPr>
          <a:xfrm>
            <a:off x="1670846" y="1536896"/>
            <a:ext cx="80503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 err="1"/>
              <a:t>Perbandingan</a:t>
            </a:r>
            <a:r>
              <a:rPr lang="en-ID" sz="1400" dirty="0"/>
              <a:t> Performa GRU-ODE vs GRU pada Test Set: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E1EE12-87B7-BE68-617A-32FFF5B1F769}"/>
              </a:ext>
            </a:extLst>
          </p:cNvPr>
          <p:cNvSpPr txBox="1"/>
          <p:nvPr/>
        </p:nvSpPr>
        <p:spPr>
          <a:xfrm>
            <a:off x="1613435" y="4055014"/>
            <a:ext cx="9924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/>
              <a:t>Hasil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menunjukkan</a:t>
            </a:r>
            <a:r>
              <a:rPr lang="en-ID" sz="1400" dirty="0"/>
              <a:t> </a:t>
            </a:r>
            <a:r>
              <a:rPr lang="en-ID" sz="1400" dirty="0" err="1"/>
              <a:t>bahwa</a:t>
            </a:r>
            <a:r>
              <a:rPr lang="en-ID" sz="1400" dirty="0"/>
              <a:t> </a:t>
            </a:r>
            <a:r>
              <a:rPr lang="en-ID" sz="1400" dirty="0" err="1"/>
              <a:t>pemodelan</a:t>
            </a:r>
            <a:r>
              <a:rPr lang="en-ID" sz="1400" dirty="0"/>
              <a:t> hidden state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kontinu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pendekatan</a:t>
            </a:r>
            <a:r>
              <a:rPr lang="en-ID" sz="1400" dirty="0"/>
              <a:t> hybrid  GRU-ODE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efektif</a:t>
            </a:r>
            <a:r>
              <a:rPr lang="en-ID" sz="1400" dirty="0"/>
              <a:t> </a:t>
            </a:r>
            <a:r>
              <a:rPr lang="en-ID" sz="1400" dirty="0" err="1"/>
              <a:t>dibandingkan</a:t>
            </a:r>
            <a:r>
              <a:rPr lang="en-ID" sz="1400" dirty="0"/>
              <a:t> GRU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kasus</a:t>
            </a:r>
            <a:r>
              <a:rPr lang="en-ID" sz="1400" dirty="0"/>
              <a:t> </a:t>
            </a:r>
            <a:r>
              <a:rPr lang="en-ID" sz="1400" dirty="0" err="1"/>
              <a:t>prediksi</a:t>
            </a:r>
            <a:r>
              <a:rPr lang="en-ID" sz="1400" dirty="0"/>
              <a:t> </a:t>
            </a:r>
            <a:r>
              <a:rPr lang="en-ID" sz="1400" dirty="0" err="1"/>
              <a:t>Indeks</a:t>
            </a:r>
            <a:r>
              <a:rPr lang="en-ID" sz="1400" dirty="0"/>
              <a:t> Harga Saham Intraday LQ45.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D81BA8-B9D3-2E30-726D-82E014BE9841}"/>
              </a:ext>
            </a:extLst>
          </p:cNvPr>
          <p:cNvSpPr txBox="1"/>
          <p:nvPr/>
        </p:nvSpPr>
        <p:spPr>
          <a:xfrm>
            <a:off x="2812800" y="5588910"/>
            <a:ext cx="7315200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 algn="ctr"/>
            <a:r>
              <a:rPr lang="en-US" sz="1800" dirty="0"/>
              <a:t>GRU-ODE &gt; GRU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i="1" dirty="0"/>
              <a:t>forecasting</a:t>
            </a:r>
            <a:r>
              <a:rPr lang="en-US" sz="1800" dirty="0"/>
              <a:t> pada dataset LQ45 intraday irregular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D1D9FA9-CC7F-D4D4-3849-5B329817556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4042" y="1849787"/>
            <a:ext cx="7579238" cy="187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65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68C85-62FA-0707-7DDB-A21EBE8B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6457-AD15-B915-4934-23CCBF522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4FE52-A886-E128-EF86-185B0C4A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32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15A872-C3E1-F821-39D9-C608DC546CDF}"/>
              </a:ext>
            </a:extLst>
          </p:cNvPr>
          <p:cNvSpPr/>
          <p:nvPr/>
        </p:nvSpPr>
        <p:spPr>
          <a:xfrm>
            <a:off x="3223200" y="3097689"/>
            <a:ext cx="5745600" cy="15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/>
              <a:t>Penutup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56948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DD997E12-4F36-0145-22FC-56DE4A2BE84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865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5903C8A-C5B7-5488-C1D0-CDDDA8B6F524}"/>
              </a:ext>
            </a:extLst>
          </p:cNvPr>
          <p:cNvSpPr/>
          <p:nvPr/>
        </p:nvSpPr>
        <p:spPr>
          <a:xfrm>
            <a:off x="1718400" y="1522691"/>
            <a:ext cx="2129923" cy="335267"/>
          </a:xfrm>
          <a:prstGeom prst="rect">
            <a:avLst/>
          </a:prstGeom>
          <a:solidFill>
            <a:srgbClr val="70AD47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Kesimpulan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FFAB9A-C354-0068-2A8D-CFE946D2CDB2}"/>
              </a:ext>
            </a:extLst>
          </p:cNvPr>
          <p:cNvCxnSpPr>
            <a:cxnSpLocks/>
          </p:cNvCxnSpPr>
          <p:nvPr/>
        </p:nvCxnSpPr>
        <p:spPr>
          <a:xfrm>
            <a:off x="6510013" y="1684266"/>
            <a:ext cx="5497854" cy="0"/>
          </a:xfrm>
          <a:prstGeom prst="line">
            <a:avLst/>
          </a:prstGeom>
          <a:ln w="28575" cap="rnd">
            <a:solidFill>
              <a:srgbClr val="002060"/>
            </a:solidFill>
            <a:prstDash val="solid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B6B3CF3-8156-9888-5693-F736449BE3A8}"/>
              </a:ext>
            </a:extLst>
          </p:cNvPr>
          <p:cNvSpPr/>
          <p:nvPr/>
        </p:nvSpPr>
        <p:spPr>
          <a:xfrm>
            <a:off x="6198000" y="1522691"/>
            <a:ext cx="2120400" cy="335267"/>
          </a:xfrm>
          <a:prstGeom prst="rect">
            <a:avLst/>
          </a:prstGeom>
          <a:solidFill>
            <a:srgbClr val="FFC0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D58EAD-B981-3A50-29C7-F094A1FF4DE5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89D31E9-9741-CAFB-3488-FE43E923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33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8352AB-7E33-3CB4-23FE-3A12769AA666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Google Shape;105;p15">
            <a:extLst>
              <a:ext uri="{FF2B5EF4-FFF2-40B4-BE49-F238E27FC236}">
                <a16:creationId xmlns:a16="http://schemas.microsoft.com/office/drawing/2014/main" id="{B83EAEFE-A12C-E117-A808-E687F5DFF1A5}"/>
              </a:ext>
            </a:extLst>
          </p:cNvPr>
          <p:cNvSpPr/>
          <p:nvPr/>
        </p:nvSpPr>
        <p:spPr>
          <a:xfrm>
            <a:off x="3907200" y="100998"/>
            <a:ext cx="4377600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Penutup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+mj-lt"/>
                <a:ea typeface="Calibri"/>
                <a:cs typeface="Calibri"/>
                <a:sym typeface="Calibri"/>
              </a:rPr>
              <a:t>Kesimpulan dan Saran</a:t>
            </a:r>
            <a:endParaRPr sz="2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EDB011-F20A-E817-E18C-4ECC84C17767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73A01F-833B-CDD9-F189-FC30C004D86D}"/>
              </a:ext>
            </a:extLst>
          </p:cNvPr>
          <p:cNvSpPr txBox="1"/>
          <p:nvPr/>
        </p:nvSpPr>
        <p:spPr>
          <a:xfrm>
            <a:off x="1718400" y="1929505"/>
            <a:ext cx="436156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200" dirty="0"/>
              <a:t>Data </a:t>
            </a:r>
            <a:r>
              <a:rPr lang="en-ID" sz="1200" dirty="0" err="1"/>
              <a:t>Indeks</a:t>
            </a:r>
            <a:r>
              <a:rPr lang="en-ID" sz="1200" dirty="0"/>
              <a:t> Harga Saham LQ45 </a:t>
            </a:r>
            <a:r>
              <a:rPr lang="en-ID" sz="1200" i="1" dirty="0"/>
              <a:t>intraday</a:t>
            </a:r>
            <a:r>
              <a:rPr lang="en-ID" sz="1200" dirty="0"/>
              <a:t> </a:t>
            </a:r>
            <a:r>
              <a:rPr lang="en-ID" sz="1200" dirty="0" err="1"/>
              <a:t>periode</a:t>
            </a:r>
            <a:r>
              <a:rPr lang="en-ID" sz="1200" dirty="0"/>
              <a:t> 1 Agustus 2025 </a:t>
            </a:r>
            <a:r>
              <a:rPr lang="en-ID" sz="1200" dirty="0" err="1"/>
              <a:t>hingga</a:t>
            </a:r>
            <a:r>
              <a:rPr lang="en-ID" sz="1200" dirty="0"/>
              <a:t> 28 November 2025 </a:t>
            </a:r>
            <a:r>
              <a:rPr lang="en-ID" sz="1200" dirty="0" err="1"/>
              <a:t>terdiri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b="1" dirty="0"/>
              <a:t>4.736 </a:t>
            </a:r>
            <a:r>
              <a:rPr lang="en-ID" sz="1200" b="1" dirty="0" err="1"/>
              <a:t>sampel</a:t>
            </a:r>
            <a:r>
              <a:rPr lang="en-ID" sz="1200" b="1" dirty="0"/>
              <a:t> </a:t>
            </a:r>
            <a:r>
              <a:rPr lang="en-ID" sz="1200" b="1" dirty="0" err="1"/>
              <a:t>dengan</a:t>
            </a:r>
            <a:r>
              <a:rPr lang="en-ID" sz="1200" b="1" dirty="0"/>
              <a:t> </a:t>
            </a:r>
            <a:r>
              <a:rPr lang="en-ID" sz="1200" b="1" dirty="0" err="1"/>
              <a:t>karakteristik</a:t>
            </a:r>
            <a:r>
              <a:rPr lang="en-ID" sz="1200" b="1" dirty="0"/>
              <a:t> </a:t>
            </a:r>
            <a:r>
              <a:rPr lang="en-ID" sz="1200" b="1" i="1" dirty="0"/>
              <a:t>irregular time-series</a:t>
            </a:r>
            <a:r>
              <a:rPr lang="en-ID" sz="1200" dirty="0"/>
              <a:t>. </a:t>
            </a:r>
            <a:r>
              <a:rPr lang="en-ID" sz="1200" dirty="0" err="1"/>
              <a:t>Ketidakteraturan</a:t>
            </a:r>
            <a:r>
              <a:rPr lang="en-ID" sz="1200" dirty="0"/>
              <a:t>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muncul</a:t>
            </a:r>
            <a:r>
              <a:rPr lang="en-ID" sz="1200" dirty="0"/>
              <a:t> </a:t>
            </a:r>
            <a:r>
              <a:rPr lang="en-ID" sz="1200" dirty="0" err="1"/>
              <a:t>karena</a:t>
            </a:r>
            <a:r>
              <a:rPr lang="en-ID" sz="1200" dirty="0"/>
              <a:t> </a:t>
            </a:r>
            <a:r>
              <a:rPr lang="en-ID" sz="1200" dirty="0" err="1"/>
              <a:t>adanya</a:t>
            </a:r>
            <a:r>
              <a:rPr lang="en-ID" sz="1200" dirty="0"/>
              <a:t> </a:t>
            </a:r>
            <a:r>
              <a:rPr lang="en-ID" sz="1200" dirty="0" err="1"/>
              <a:t>jeda</a:t>
            </a:r>
            <a:r>
              <a:rPr lang="en-ID" sz="1200" dirty="0"/>
              <a:t> </a:t>
            </a:r>
            <a:r>
              <a:rPr lang="en-ID" sz="1200" dirty="0" err="1"/>
              <a:t>perdagangan</a:t>
            </a:r>
            <a:r>
              <a:rPr lang="en-ID" sz="1200" dirty="0"/>
              <a:t>, </a:t>
            </a:r>
            <a:r>
              <a:rPr lang="en-ID" sz="1200" dirty="0" err="1"/>
              <a:t>seperti</a:t>
            </a:r>
            <a:r>
              <a:rPr lang="en-ID" sz="1200" dirty="0"/>
              <a:t> </a:t>
            </a:r>
            <a:r>
              <a:rPr lang="en-ID" sz="1200" dirty="0" err="1"/>
              <a:t>istirahat</a:t>
            </a:r>
            <a:r>
              <a:rPr lang="en-ID" sz="1200" dirty="0"/>
              <a:t> </a:t>
            </a:r>
            <a:r>
              <a:rPr lang="en-ID" sz="1200" dirty="0" err="1"/>
              <a:t>siang</a:t>
            </a:r>
            <a:r>
              <a:rPr lang="en-ID" sz="1200" dirty="0"/>
              <a:t>, </a:t>
            </a:r>
            <a:r>
              <a:rPr lang="en-ID" sz="1200" dirty="0" err="1"/>
              <a:t>penutupan</a:t>
            </a:r>
            <a:r>
              <a:rPr lang="en-ID" sz="1200" dirty="0"/>
              <a:t> pasar, </a:t>
            </a:r>
            <a:r>
              <a:rPr lang="en-ID" sz="1200" dirty="0" err="1"/>
              <a:t>akhir</a:t>
            </a:r>
            <a:r>
              <a:rPr lang="en-ID" sz="1200" dirty="0"/>
              <a:t> pekan, dan </a:t>
            </a:r>
            <a:r>
              <a:rPr lang="en-ID" sz="1200" dirty="0" err="1"/>
              <a:t>hari</a:t>
            </a:r>
            <a:r>
              <a:rPr lang="en-ID" sz="1200" dirty="0"/>
              <a:t> </a:t>
            </a:r>
            <a:r>
              <a:rPr lang="en-ID" sz="1200" dirty="0" err="1"/>
              <a:t>libur</a:t>
            </a:r>
            <a:r>
              <a:rPr lang="en-ID" sz="1200" dirty="0"/>
              <a:t>.</a:t>
            </a:r>
          </a:p>
          <a:p>
            <a:pPr algn="just"/>
            <a:endParaRPr lang="en-ID" sz="1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200" dirty="0"/>
              <a:t>Model GRU-ODE </a:t>
            </a:r>
            <a:r>
              <a:rPr lang="en-ID" sz="1200" dirty="0" err="1"/>
              <a:t>berhasil</a:t>
            </a:r>
            <a:r>
              <a:rPr lang="en-ID" sz="1200" dirty="0"/>
              <a:t> </a:t>
            </a:r>
            <a:r>
              <a:rPr lang="en-ID" sz="1200" dirty="0" err="1"/>
              <a:t>dibangun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b="1" dirty="0" err="1"/>
              <a:t>menggabungkan</a:t>
            </a:r>
            <a:r>
              <a:rPr lang="en-ID" sz="1200" b="1" dirty="0"/>
              <a:t> </a:t>
            </a:r>
            <a:r>
              <a:rPr lang="en-ID" sz="1200" b="1" dirty="0" err="1"/>
              <a:t>mekanisme</a:t>
            </a:r>
            <a:r>
              <a:rPr lang="en-ID" sz="1200" b="1" dirty="0"/>
              <a:t> </a:t>
            </a:r>
            <a:r>
              <a:rPr lang="en-ID" sz="1200" b="1" i="1" dirty="0"/>
              <a:t>gating</a:t>
            </a:r>
            <a:r>
              <a:rPr lang="en-ID" sz="1200" b="1" dirty="0"/>
              <a:t> pada GRU dan </a:t>
            </a:r>
            <a:r>
              <a:rPr lang="en-ID" sz="1200" b="1" dirty="0" err="1"/>
              <a:t>evolusi</a:t>
            </a:r>
            <a:r>
              <a:rPr lang="en-ID" sz="1200" b="1" dirty="0"/>
              <a:t> </a:t>
            </a:r>
            <a:r>
              <a:rPr lang="en-ID" sz="1200" b="1" i="1" dirty="0"/>
              <a:t>hidden state</a:t>
            </a:r>
            <a:r>
              <a:rPr lang="en-ID" sz="1200" b="1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kontinu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ODE </a:t>
            </a:r>
            <a:r>
              <a:rPr lang="en-ID" sz="1200" i="1" dirty="0"/>
              <a:t>solver</a:t>
            </a:r>
            <a:r>
              <a:rPr lang="en-ID" sz="1200" dirty="0"/>
              <a:t>. Model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menggunakan</a:t>
            </a:r>
            <a:r>
              <a:rPr lang="en-ID" sz="1200" dirty="0"/>
              <a:t> </a:t>
            </a:r>
            <a:r>
              <a:rPr lang="en-ID" sz="1200" i="1" dirty="0"/>
              <a:t>closing price</a:t>
            </a:r>
            <a:r>
              <a:rPr lang="en-ID" sz="1200" dirty="0"/>
              <a:t> dan </a:t>
            </a:r>
            <a:r>
              <a:rPr lang="en-ID" sz="1200" i="1" dirty="0"/>
              <a:t>elapsed time</a:t>
            </a:r>
            <a:r>
              <a:rPr lang="en-ID" sz="1200" dirty="0"/>
              <a:t> </a:t>
            </a:r>
            <a:r>
              <a:rPr lang="en-ID" sz="1200" dirty="0" err="1"/>
              <a:t>sebagai</a:t>
            </a:r>
            <a:r>
              <a:rPr lang="en-ID" sz="1200" dirty="0"/>
              <a:t> input </a:t>
            </a:r>
            <a:r>
              <a:rPr lang="en-ID" sz="1200" b="1" dirty="0" err="1"/>
              <a:t>untuk</a:t>
            </a:r>
            <a:r>
              <a:rPr lang="en-ID" sz="1200" b="1" dirty="0"/>
              <a:t> </a:t>
            </a:r>
            <a:r>
              <a:rPr lang="en-ID" sz="1200" b="1" dirty="0" err="1"/>
              <a:t>menangkap</a:t>
            </a:r>
            <a:r>
              <a:rPr lang="en-ID" sz="1200" b="1" dirty="0"/>
              <a:t> </a:t>
            </a:r>
            <a:r>
              <a:rPr lang="en-ID" sz="1200" b="1" dirty="0" err="1"/>
              <a:t>pola</a:t>
            </a:r>
            <a:r>
              <a:rPr lang="en-ID" sz="1200" b="1" dirty="0"/>
              <a:t> </a:t>
            </a:r>
            <a:r>
              <a:rPr lang="en-ID" sz="1200" b="1" dirty="0" err="1"/>
              <a:t>pergerakan</a:t>
            </a:r>
            <a:r>
              <a:rPr lang="en-ID" sz="1200" b="1" dirty="0"/>
              <a:t> </a:t>
            </a:r>
            <a:r>
              <a:rPr lang="en-ID" sz="1200" b="1" dirty="0" err="1"/>
              <a:t>harga</a:t>
            </a:r>
            <a:r>
              <a:rPr lang="en-ID" sz="1200" b="1" dirty="0"/>
              <a:t> </a:t>
            </a:r>
            <a:r>
              <a:rPr lang="en-ID" sz="1200" dirty="0" err="1"/>
              <a:t>sekaligus</a:t>
            </a:r>
            <a:r>
              <a:rPr lang="en-ID" sz="1200" dirty="0"/>
              <a:t> </a:t>
            </a:r>
            <a:r>
              <a:rPr lang="en-ID" sz="1200" b="1" dirty="0" err="1"/>
              <a:t>ketidakteraturan</a:t>
            </a:r>
            <a:r>
              <a:rPr lang="en-ID" sz="1200" b="1" dirty="0"/>
              <a:t> interval </a:t>
            </a:r>
            <a:r>
              <a:rPr lang="en-ID" sz="1200" b="1" dirty="0" err="1"/>
              <a:t>waktu</a:t>
            </a:r>
            <a:r>
              <a:rPr lang="en-ID" sz="1200" dirty="0"/>
              <a:t>. </a:t>
            </a:r>
          </a:p>
          <a:p>
            <a:pPr algn="just"/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200" dirty="0"/>
              <a:t>Hasil </a:t>
            </a:r>
            <a:r>
              <a:rPr lang="en-ID" sz="1200" i="1" dirty="0"/>
              <a:t>Grid Search</a:t>
            </a:r>
            <a:r>
              <a:rPr lang="en-ID" sz="1200" dirty="0"/>
              <a:t> </a:t>
            </a:r>
            <a:r>
              <a:rPr lang="en-ID" sz="1200" dirty="0" err="1"/>
              <a:t>menunjukkan</a:t>
            </a:r>
            <a:r>
              <a:rPr lang="en-ID" sz="1200" dirty="0"/>
              <a:t> </a:t>
            </a:r>
            <a:r>
              <a:rPr lang="en-ID" sz="1200" dirty="0" err="1"/>
              <a:t>konfigurasi</a:t>
            </a:r>
            <a:r>
              <a:rPr lang="en-ID" sz="1200" dirty="0"/>
              <a:t> </a:t>
            </a:r>
            <a:r>
              <a:rPr lang="en-ID" sz="1200" dirty="0" err="1"/>
              <a:t>terbaik</a:t>
            </a:r>
            <a:r>
              <a:rPr lang="en-ID" sz="1200" dirty="0"/>
              <a:t> </a:t>
            </a:r>
            <a:r>
              <a:rPr lang="en-ID" sz="1200" dirty="0" err="1"/>
              <a:t>diperoleh</a:t>
            </a:r>
            <a:r>
              <a:rPr lang="en-ID" sz="1200" dirty="0"/>
              <a:t> pada 32 </a:t>
            </a:r>
            <a:r>
              <a:rPr lang="en-ID" sz="1200" i="1" dirty="0"/>
              <a:t>hidden units</a:t>
            </a:r>
            <a:r>
              <a:rPr lang="en-ID" sz="1200" dirty="0"/>
              <a:t>, </a:t>
            </a:r>
            <a:r>
              <a:rPr lang="en-ID" sz="1200" i="1" dirty="0"/>
              <a:t>learning rate</a:t>
            </a:r>
            <a:r>
              <a:rPr lang="en-ID" sz="1200" dirty="0"/>
              <a:t> 0,001, </a:t>
            </a:r>
            <a:r>
              <a:rPr lang="en-ID" sz="1200" i="1" dirty="0"/>
              <a:t>batch size</a:t>
            </a:r>
            <a:r>
              <a:rPr lang="en-ID" sz="1200" dirty="0"/>
              <a:t> 16, dan </a:t>
            </a:r>
            <a:r>
              <a:rPr lang="en-ID" sz="1200" i="1" dirty="0"/>
              <a:t>solver</a:t>
            </a:r>
            <a:r>
              <a:rPr lang="en-ID" sz="1200" dirty="0"/>
              <a:t> RK4. Pada </a:t>
            </a:r>
            <a:r>
              <a:rPr lang="en-ID" sz="1200" i="1" dirty="0"/>
              <a:t>test set</a:t>
            </a:r>
            <a:r>
              <a:rPr lang="en-ID" sz="1200" dirty="0"/>
              <a:t>, model </a:t>
            </a:r>
            <a:r>
              <a:rPr lang="en-ID" sz="1200" dirty="0" err="1"/>
              <a:t>menghasilkan</a:t>
            </a:r>
            <a:r>
              <a:rPr lang="en-ID" sz="1200" dirty="0"/>
              <a:t> </a:t>
            </a:r>
            <a:r>
              <a:rPr lang="en-ID" sz="1200" b="1" dirty="0"/>
              <a:t>MAE 0,7831, RMSE 1,0955, dan MAPE 0,0918%. </a:t>
            </a:r>
            <a:r>
              <a:rPr lang="en-ID" sz="1200" dirty="0" err="1"/>
              <a:t>Dibandingkan</a:t>
            </a:r>
            <a:r>
              <a:rPr lang="en-ID" sz="1200" dirty="0"/>
              <a:t> GRU, GRU-ODE </a:t>
            </a:r>
            <a:r>
              <a:rPr lang="en-ID" sz="1200" dirty="0" err="1"/>
              <a:t>menurunkan</a:t>
            </a:r>
            <a:r>
              <a:rPr lang="en-ID" sz="1200" dirty="0"/>
              <a:t> error </a:t>
            </a:r>
            <a:r>
              <a:rPr lang="en-ID" sz="1200" dirty="0" err="1"/>
              <a:t>sebesar</a:t>
            </a:r>
            <a:r>
              <a:rPr lang="en-ID" sz="1200" dirty="0"/>
              <a:t> </a:t>
            </a:r>
            <a:r>
              <a:rPr lang="en-ID" sz="1200" b="1" dirty="0"/>
              <a:t>32,84% pada MAE, 26,28% pada RMSE, dan 32,89% pada MAPE</a:t>
            </a:r>
            <a:r>
              <a:rPr lang="en-ID" sz="1200" dirty="0"/>
              <a:t>, </a:t>
            </a:r>
            <a:r>
              <a:rPr lang="en-ID" sz="1200" dirty="0" err="1"/>
              <a:t>sehingga</a:t>
            </a:r>
            <a:r>
              <a:rPr lang="en-ID" sz="1200" dirty="0"/>
              <a:t> </a:t>
            </a:r>
            <a:r>
              <a:rPr lang="en-ID" sz="1200" b="1" dirty="0" err="1"/>
              <a:t>lebih</a:t>
            </a:r>
            <a:r>
              <a:rPr lang="en-ID" sz="1200" b="1" dirty="0"/>
              <a:t> </a:t>
            </a:r>
            <a:r>
              <a:rPr lang="en-ID" sz="1200" b="1" dirty="0" err="1"/>
              <a:t>sesuai</a:t>
            </a:r>
            <a:r>
              <a:rPr lang="en-ID" sz="1200" b="1" dirty="0"/>
              <a:t> </a:t>
            </a:r>
            <a:r>
              <a:rPr lang="en-ID" sz="1200" b="1" dirty="0" err="1"/>
              <a:t>untuk</a:t>
            </a:r>
            <a:r>
              <a:rPr lang="en-ID" sz="1200" b="1" dirty="0"/>
              <a:t> forecasting data LQ45 </a:t>
            </a:r>
            <a:r>
              <a:rPr lang="en-ID" sz="1200" b="1" i="1" dirty="0"/>
              <a:t>intraday</a:t>
            </a:r>
            <a:r>
              <a:rPr lang="en-ID" sz="1200" b="1" dirty="0"/>
              <a:t> </a:t>
            </a:r>
            <a:r>
              <a:rPr lang="en-ID" sz="1200" dirty="0"/>
              <a:t>yang </a:t>
            </a:r>
            <a:r>
              <a:rPr lang="en-ID" sz="1200" dirty="0" err="1"/>
              <a:t>bersifat</a:t>
            </a:r>
            <a:r>
              <a:rPr lang="en-ID" sz="1200" dirty="0"/>
              <a:t> irregular.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d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311BEFFA-E1E1-D2AC-5BEA-289D4A290957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80373" y="3223636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5" name="Rectangle 3">
            <a:extLst>
              <a:ext uri="{FF2B5EF4-FFF2-40B4-BE49-F238E27FC236}">
                <a16:creationId xmlns:a16="http://schemas.microsoft.com/office/drawing/2014/main" id="{58AEA5C0-59CB-EF85-D766-3F5CBF863AFB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80373" y="2250231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R="0" lvl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1ABACB69-1BFA-8F5E-2748-20490FCBC11A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80373" y="4180135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9" name="Rectangle 3">
            <a:extLst>
              <a:ext uri="{FF2B5EF4-FFF2-40B4-BE49-F238E27FC236}">
                <a16:creationId xmlns:a16="http://schemas.microsoft.com/office/drawing/2014/main" id="{A03A2964-893E-31D5-BF44-DABC19ACEFF4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0373" y="5136634"/>
            <a:ext cx="14012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spc="0" normalizeH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57560A2C-FAFD-CDE9-ADA1-2446AD8FF9B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03903" y="2250109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171F4103-644A-A911-E833-CADDED54050C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3903" y="3223514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75" name="Rectangle 3">
            <a:extLst>
              <a:ext uri="{FF2B5EF4-FFF2-40B4-BE49-F238E27FC236}">
                <a16:creationId xmlns:a16="http://schemas.microsoft.com/office/drawing/2014/main" id="{3CD64531-663D-4275-AFA4-9DFB437BB17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203903" y="4180013"/>
            <a:ext cx="1856497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77" name="Rectangle 3">
            <a:extLst>
              <a:ext uri="{FF2B5EF4-FFF2-40B4-BE49-F238E27FC236}">
                <a16:creationId xmlns:a16="http://schemas.microsoft.com/office/drawing/2014/main" id="{3170A1D9-A249-0654-CBDF-DAFBA3B6BBE3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203903" y="5136512"/>
            <a:ext cx="1401609" cy="674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cap="none" spc="0" normalizeH="0" baseline="0" noProof="0" dirty="0">
                <a:solidFill>
                  <a:srgbClr val="002060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E33787-C11E-F961-32B2-7234E1CE2142}"/>
              </a:ext>
            </a:extLst>
          </p:cNvPr>
          <p:cNvSpPr txBox="1"/>
          <p:nvPr/>
        </p:nvSpPr>
        <p:spPr>
          <a:xfrm>
            <a:off x="534642" y="246594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Pendahuluan</a:t>
            </a:r>
            <a:endParaRPr lang="en-ID" sz="115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DFCB451-EF16-6881-F4B1-E59FB9A3E7D4}"/>
              </a:ext>
            </a:extLst>
          </p:cNvPr>
          <p:cNvSpPr txBox="1"/>
          <p:nvPr/>
        </p:nvSpPr>
        <p:spPr>
          <a:xfrm>
            <a:off x="534642" y="3431650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/>
              <a:t>Model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0C6E800-862F-136B-88A9-8B2E352A9506}"/>
              </a:ext>
            </a:extLst>
          </p:cNvPr>
          <p:cNvSpPr txBox="1"/>
          <p:nvPr/>
        </p:nvSpPr>
        <p:spPr>
          <a:xfrm>
            <a:off x="534642" y="4388149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Implementasi</a:t>
            </a:r>
            <a:endParaRPr lang="en-ID" sz="115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25E738C-F51A-DDBA-DE1F-409C78A861A1}"/>
              </a:ext>
            </a:extLst>
          </p:cNvPr>
          <p:cNvSpPr txBox="1"/>
          <p:nvPr/>
        </p:nvSpPr>
        <p:spPr>
          <a:xfrm>
            <a:off x="534642" y="5348496"/>
            <a:ext cx="10944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50" dirty="0" err="1"/>
              <a:t>Penutup</a:t>
            </a:r>
            <a:endParaRPr lang="en-ID" sz="115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14BA449-AAFA-3565-F10D-81193EF1938B}"/>
              </a:ext>
            </a:extLst>
          </p:cNvPr>
          <p:cNvSpPr/>
          <p:nvPr/>
        </p:nvSpPr>
        <p:spPr>
          <a:xfrm>
            <a:off x="120848" y="2205103"/>
            <a:ext cx="1528712" cy="182565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1" name="Google Shape;18001;p253">
            <a:extLst>
              <a:ext uri="{FF2B5EF4-FFF2-40B4-BE49-F238E27FC236}">
                <a16:creationId xmlns:a16="http://schemas.microsoft.com/office/drawing/2014/main" id="{7BFD4BB2-E4F1-677A-5469-2CC83758D85B}"/>
              </a:ext>
            </a:extLst>
          </p:cNvPr>
          <p:cNvSpPr/>
          <p:nvPr/>
        </p:nvSpPr>
        <p:spPr>
          <a:xfrm>
            <a:off x="6191513" y="1992600"/>
            <a:ext cx="863825" cy="863825"/>
          </a:xfrm>
          <a:prstGeom prst="ellipse">
            <a:avLst/>
          </a:prstGeom>
          <a:solidFill>
            <a:srgbClr val="0038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7F8DB87-FF87-FA43-169A-E3DD0DE02544}"/>
              </a:ext>
            </a:extLst>
          </p:cNvPr>
          <p:cNvSpPr/>
          <p:nvPr/>
        </p:nvSpPr>
        <p:spPr>
          <a:xfrm>
            <a:off x="91553" y="3944000"/>
            <a:ext cx="1528712" cy="104123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3" name="Google Shape;18001;p253">
            <a:extLst>
              <a:ext uri="{FF2B5EF4-FFF2-40B4-BE49-F238E27FC236}">
                <a16:creationId xmlns:a16="http://schemas.microsoft.com/office/drawing/2014/main" id="{52C72DBA-4C32-466D-B915-049C27B2F8F4}"/>
              </a:ext>
            </a:extLst>
          </p:cNvPr>
          <p:cNvSpPr/>
          <p:nvPr/>
        </p:nvSpPr>
        <p:spPr>
          <a:xfrm>
            <a:off x="11120884" y="2958482"/>
            <a:ext cx="863825" cy="863825"/>
          </a:xfrm>
          <a:prstGeom prst="ellipse">
            <a:avLst/>
          </a:prstGeom>
          <a:solidFill>
            <a:srgbClr val="0038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95" name="Google Shape;18001;p253">
            <a:extLst>
              <a:ext uri="{FF2B5EF4-FFF2-40B4-BE49-F238E27FC236}">
                <a16:creationId xmlns:a16="http://schemas.microsoft.com/office/drawing/2014/main" id="{5510E61A-A9B4-AA2D-0701-922BE3D9A2B5}"/>
              </a:ext>
            </a:extLst>
          </p:cNvPr>
          <p:cNvSpPr/>
          <p:nvPr/>
        </p:nvSpPr>
        <p:spPr>
          <a:xfrm>
            <a:off x="6198000" y="4205117"/>
            <a:ext cx="863825" cy="863825"/>
          </a:xfrm>
          <a:prstGeom prst="ellipse">
            <a:avLst/>
          </a:prstGeom>
          <a:solidFill>
            <a:srgbClr val="0038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A822E6B-1848-18EF-4C07-2776E6003573}"/>
              </a:ext>
            </a:extLst>
          </p:cNvPr>
          <p:cNvSpPr txBox="1"/>
          <p:nvPr/>
        </p:nvSpPr>
        <p:spPr>
          <a:xfrm>
            <a:off x="7117494" y="2048833"/>
            <a:ext cx="487060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/>
              <a:t>Penelitian</a:t>
            </a:r>
            <a:r>
              <a:rPr lang="en-ID" sz="1400" dirty="0"/>
              <a:t> </a:t>
            </a:r>
            <a:r>
              <a:rPr lang="en-ID" sz="1400" dirty="0" err="1"/>
              <a:t>selanjutnya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menggunakan</a:t>
            </a:r>
            <a:r>
              <a:rPr lang="en-ID" sz="1400" dirty="0"/>
              <a:t> </a:t>
            </a:r>
            <a:r>
              <a:rPr lang="en-ID" sz="1400" dirty="0" err="1"/>
              <a:t>periode</a:t>
            </a:r>
            <a:r>
              <a:rPr lang="en-ID" sz="1400" dirty="0"/>
              <a:t> data yang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panjang</a:t>
            </a:r>
            <a:r>
              <a:rPr lang="en-ID" sz="1400" dirty="0"/>
              <a:t> 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indeks</a:t>
            </a:r>
            <a:r>
              <a:rPr lang="en-ID" sz="1400" dirty="0"/>
              <a:t> </a:t>
            </a:r>
            <a:r>
              <a:rPr lang="en-ID" sz="1400" dirty="0" err="1"/>
              <a:t>saham</a:t>
            </a:r>
            <a:r>
              <a:rPr lang="en-ID" sz="1400" dirty="0"/>
              <a:t> lain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menguji</a:t>
            </a:r>
            <a:r>
              <a:rPr lang="en-ID" sz="1400" dirty="0"/>
              <a:t> </a:t>
            </a:r>
            <a:r>
              <a:rPr lang="en-ID" sz="1400" dirty="0" err="1"/>
              <a:t>generalisasi</a:t>
            </a:r>
            <a:r>
              <a:rPr lang="en-ID" sz="1400" dirty="0"/>
              <a:t> model GRU-ODE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7EF9208-9B5B-5DC6-6D08-BC45FC7DAB37}"/>
              </a:ext>
            </a:extLst>
          </p:cNvPr>
          <p:cNvSpPr txBox="1"/>
          <p:nvPr/>
        </p:nvSpPr>
        <p:spPr>
          <a:xfrm>
            <a:off x="6224319" y="3076057"/>
            <a:ext cx="47280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/>
              <a:t>Penelitian</a:t>
            </a:r>
            <a:r>
              <a:rPr lang="en-ID" sz="1400" dirty="0"/>
              <a:t> </a:t>
            </a:r>
            <a:r>
              <a:rPr lang="en-ID" sz="1400" dirty="0" err="1"/>
              <a:t>lanjutan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membandingkan</a:t>
            </a:r>
            <a:r>
              <a:rPr lang="en-ID" sz="1400" dirty="0"/>
              <a:t> GRU-ODE </a:t>
            </a:r>
            <a:r>
              <a:rPr lang="en-ID" sz="1400" dirty="0" err="1"/>
              <a:t>dengan</a:t>
            </a:r>
            <a:r>
              <a:rPr lang="en-ID" sz="1400" dirty="0"/>
              <a:t> model </a:t>
            </a:r>
            <a:r>
              <a:rPr lang="en-ID" sz="1400" dirty="0" err="1"/>
              <a:t>berbasis</a:t>
            </a:r>
            <a:r>
              <a:rPr lang="en-ID" sz="1400" dirty="0"/>
              <a:t> Neural ODE lain, </a:t>
            </a:r>
            <a:r>
              <a:rPr lang="en-ID" sz="1400" dirty="0" err="1"/>
              <a:t>seperti</a:t>
            </a:r>
            <a:r>
              <a:rPr lang="en-ID" sz="1400" dirty="0"/>
              <a:t> Latent ODE, ODE-RNN, </a:t>
            </a:r>
            <a:r>
              <a:rPr lang="en-ID" sz="1400" dirty="0" err="1"/>
              <a:t>atau</a:t>
            </a:r>
            <a:r>
              <a:rPr lang="en-ID" sz="1400" dirty="0"/>
              <a:t> GRU-ODE-Bayes.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6A30A0F-826D-12DA-ABAA-0C1994CC72B3}"/>
              </a:ext>
            </a:extLst>
          </p:cNvPr>
          <p:cNvSpPr txBox="1"/>
          <p:nvPr/>
        </p:nvSpPr>
        <p:spPr>
          <a:xfrm>
            <a:off x="7085762" y="4369512"/>
            <a:ext cx="48706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/>
              <a:t>Penggunaan</a:t>
            </a:r>
            <a:r>
              <a:rPr lang="en-ID" sz="1400" dirty="0"/>
              <a:t> ODE </a:t>
            </a:r>
            <a:r>
              <a:rPr lang="en-ID" sz="1400" i="1" dirty="0"/>
              <a:t>solver</a:t>
            </a:r>
            <a:r>
              <a:rPr lang="en-ID" sz="1400" dirty="0"/>
              <a:t> </a:t>
            </a:r>
            <a:r>
              <a:rPr lang="en-ID" sz="1400" dirty="0" err="1"/>
              <a:t>adaptif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dieksplorasi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menangani</a:t>
            </a:r>
            <a:r>
              <a:rPr lang="en-ID" sz="1400" dirty="0"/>
              <a:t> </a:t>
            </a:r>
            <a:r>
              <a:rPr lang="en-ID" sz="1400" i="1" dirty="0"/>
              <a:t>gap</a:t>
            </a:r>
            <a:r>
              <a:rPr lang="en-ID" sz="1400" dirty="0"/>
              <a:t> </a:t>
            </a:r>
            <a:r>
              <a:rPr lang="en-ID" sz="1400" dirty="0" err="1"/>
              <a:t>waktu</a:t>
            </a:r>
            <a:r>
              <a:rPr lang="en-ID" sz="1400" dirty="0"/>
              <a:t> yang </a:t>
            </a:r>
            <a:r>
              <a:rPr lang="en-ID" sz="1400" dirty="0" err="1"/>
              <a:t>besar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akurat</a:t>
            </a:r>
            <a:r>
              <a:rPr lang="en-ID" sz="1400" dirty="0"/>
              <a:t>.</a:t>
            </a:r>
          </a:p>
        </p:txBody>
      </p:sp>
      <p:sp>
        <p:nvSpPr>
          <p:cNvPr id="105" name="Google Shape;18001;p253">
            <a:extLst>
              <a:ext uri="{FF2B5EF4-FFF2-40B4-BE49-F238E27FC236}">
                <a16:creationId xmlns:a16="http://schemas.microsoft.com/office/drawing/2014/main" id="{98D63964-E2C0-7F0B-694B-594629D1AC51}"/>
              </a:ext>
            </a:extLst>
          </p:cNvPr>
          <p:cNvSpPr/>
          <p:nvPr/>
        </p:nvSpPr>
        <p:spPr>
          <a:xfrm>
            <a:off x="11113331" y="5228449"/>
            <a:ext cx="863825" cy="863825"/>
          </a:xfrm>
          <a:prstGeom prst="ellipse">
            <a:avLst/>
          </a:prstGeom>
          <a:solidFill>
            <a:srgbClr val="0038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58DDA3B-5FCE-5E0F-1C02-A320C7062C3A}"/>
              </a:ext>
            </a:extLst>
          </p:cNvPr>
          <p:cNvSpPr txBox="1"/>
          <p:nvPr/>
        </p:nvSpPr>
        <p:spPr>
          <a:xfrm>
            <a:off x="6216766" y="5346024"/>
            <a:ext cx="47280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 err="1"/>
              <a:t>Penambahan</a:t>
            </a:r>
            <a:r>
              <a:rPr lang="en-ID" sz="1400" dirty="0"/>
              <a:t> </a:t>
            </a:r>
            <a:r>
              <a:rPr lang="en-ID" sz="1400" dirty="0" err="1"/>
              <a:t>fitur</a:t>
            </a:r>
            <a:r>
              <a:rPr lang="en-ID" sz="1400" dirty="0"/>
              <a:t> </a:t>
            </a:r>
            <a:r>
              <a:rPr lang="en-ID" sz="1400" dirty="0" err="1"/>
              <a:t>eksternal</a:t>
            </a:r>
            <a:r>
              <a:rPr lang="en-ID" sz="1400" dirty="0"/>
              <a:t>, </a:t>
            </a:r>
            <a:r>
              <a:rPr lang="en-ID" sz="1400" dirty="0" err="1"/>
              <a:t>seperti</a:t>
            </a:r>
            <a:r>
              <a:rPr lang="en-ID" sz="1400" dirty="0"/>
              <a:t> volume </a:t>
            </a:r>
            <a:r>
              <a:rPr lang="en-ID" sz="1400" dirty="0" err="1"/>
              <a:t>perdagangan</a:t>
            </a:r>
            <a:r>
              <a:rPr lang="en-ID" sz="1400" dirty="0"/>
              <a:t>, </a:t>
            </a:r>
            <a:r>
              <a:rPr lang="en-ID" sz="1400" dirty="0" err="1"/>
              <a:t>indeks</a:t>
            </a:r>
            <a:r>
              <a:rPr lang="en-ID" sz="1400" dirty="0"/>
              <a:t> global, 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sentimen</a:t>
            </a:r>
            <a:r>
              <a:rPr lang="en-ID" sz="1400" dirty="0"/>
              <a:t> </a:t>
            </a:r>
            <a:r>
              <a:rPr lang="en-ID" sz="1400" dirty="0" err="1"/>
              <a:t>berita</a:t>
            </a:r>
            <a:r>
              <a:rPr lang="en-ID" sz="1400" dirty="0"/>
              <a:t>,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dipertimbangkan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meningkatkan</a:t>
            </a:r>
            <a:r>
              <a:rPr lang="en-ID" sz="1400" dirty="0"/>
              <a:t> </a:t>
            </a:r>
            <a:r>
              <a:rPr lang="en-ID" sz="1400" dirty="0" err="1"/>
              <a:t>akurasi</a:t>
            </a:r>
            <a:r>
              <a:rPr lang="en-ID" sz="1400" dirty="0"/>
              <a:t> </a:t>
            </a:r>
            <a:r>
              <a:rPr lang="en-ID" sz="1400" dirty="0" err="1"/>
              <a:t>prediksi</a:t>
            </a:r>
            <a:r>
              <a:rPr lang="en-ID" sz="1400" dirty="0"/>
              <a:t>.</a:t>
            </a:r>
          </a:p>
        </p:txBody>
      </p:sp>
      <p:grpSp>
        <p:nvGrpSpPr>
          <p:cNvPr id="108" name="Google Shape;18007;p253">
            <a:extLst>
              <a:ext uri="{FF2B5EF4-FFF2-40B4-BE49-F238E27FC236}">
                <a16:creationId xmlns:a16="http://schemas.microsoft.com/office/drawing/2014/main" id="{BCC885C0-0A00-57E6-7151-71F144FE73F5}"/>
              </a:ext>
            </a:extLst>
          </p:cNvPr>
          <p:cNvGrpSpPr/>
          <p:nvPr/>
        </p:nvGrpSpPr>
        <p:grpSpPr>
          <a:xfrm>
            <a:off x="6365681" y="4362242"/>
            <a:ext cx="515488" cy="528170"/>
            <a:chOff x="10412004" y="3159871"/>
            <a:chExt cx="457200" cy="457200"/>
          </a:xfrm>
        </p:grpSpPr>
        <p:sp>
          <p:nvSpPr>
            <p:cNvPr id="109" name="Google Shape;18008;p253">
              <a:extLst>
                <a:ext uri="{FF2B5EF4-FFF2-40B4-BE49-F238E27FC236}">
                  <a16:creationId xmlns:a16="http://schemas.microsoft.com/office/drawing/2014/main" id="{46FE09D6-95B7-17F5-BF09-C667AFA9A2F4}"/>
                </a:ext>
              </a:extLst>
            </p:cNvPr>
            <p:cNvSpPr/>
            <p:nvPr/>
          </p:nvSpPr>
          <p:spPr>
            <a:xfrm>
              <a:off x="10826595" y="3377866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0" name="Google Shape;18009;p253">
              <a:extLst>
                <a:ext uri="{FF2B5EF4-FFF2-40B4-BE49-F238E27FC236}">
                  <a16:creationId xmlns:a16="http://schemas.microsoft.com/office/drawing/2014/main" id="{A30E5344-DB7E-6178-8420-2A601EAA99E8}"/>
                </a:ext>
              </a:extLst>
            </p:cNvPr>
            <p:cNvSpPr/>
            <p:nvPr/>
          </p:nvSpPr>
          <p:spPr>
            <a:xfrm>
              <a:off x="10787543" y="3377866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1" name="Google Shape;18010;p253">
              <a:extLst>
                <a:ext uri="{FF2B5EF4-FFF2-40B4-BE49-F238E27FC236}">
                  <a16:creationId xmlns:a16="http://schemas.microsoft.com/office/drawing/2014/main" id="{E6A2E795-38BB-33CA-BF6B-0D0452DA10C4}"/>
                </a:ext>
              </a:extLst>
            </p:cNvPr>
            <p:cNvSpPr/>
            <p:nvPr/>
          </p:nvSpPr>
          <p:spPr>
            <a:xfrm>
              <a:off x="10436070" y="3377866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2" name="Google Shape;18011;p253">
              <a:extLst>
                <a:ext uri="{FF2B5EF4-FFF2-40B4-BE49-F238E27FC236}">
                  <a16:creationId xmlns:a16="http://schemas.microsoft.com/office/drawing/2014/main" id="{C8B1FE7C-4C4A-E9D6-FBB9-BDC27CBB2DCE}"/>
                </a:ext>
              </a:extLst>
            </p:cNvPr>
            <p:cNvSpPr/>
            <p:nvPr/>
          </p:nvSpPr>
          <p:spPr>
            <a:xfrm>
              <a:off x="10826595" y="3486832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3" name="Google Shape;18012;p253">
              <a:extLst>
                <a:ext uri="{FF2B5EF4-FFF2-40B4-BE49-F238E27FC236}">
                  <a16:creationId xmlns:a16="http://schemas.microsoft.com/office/drawing/2014/main" id="{99527E65-51E4-5A73-9A47-3B9F613533F4}"/>
                </a:ext>
              </a:extLst>
            </p:cNvPr>
            <p:cNvSpPr/>
            <p:nvPr/>
          </p:nvSpPr>
          <p:spPr>
            <a:xfrm>
              <a:off x="10787543" y="3486832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4" name="Google Shape;18013;p253">
              <a:extLst>
                <a:ext uri="{FF2B5EF4-FFF2-40B4-BE49-F238E27FC236}">
                  <a16:creationId xmlns:a16="http://schemas.microsoft.com/office/drawing/2014/main" id="{AEEABC64-F1D1-F399-DD27-DA0DC1B247A0}"/>
                </a:ext>
              </a:extLst>
            </p:cNvPr>
            <p:cNvSpPr/>
            <p:nvPr/>
          </p:nvSpPr>
          <p:spPr>
            <a:xfrm>
              <a:off x="10436070" y="3486832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5" name="Google Shape;18014;p253">
              <a:extLst>
                <a:ext uri="{FF2B5EF4-FFF2-40B4-BE49-F238E27FC236}">
                  <a16:creationId xmlns:a16="http://schemas.microsoft.com/office/drawing/2014/main" id="{D613718B-CA28-8663-D0A2-132ABF68BE8F}"/>
                </a:ext>
              </a:extLst>
            </p:cNvPr>
            <p:cNvSpPr/>
            <p:nvPr/>
          </p:nvSpPr>
          <p:spPr>
            <a:xfrm>
              <a:off x="10412004" y="315987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extrusionOk="0">
                  <a:moveTo>
                    <a:pt x="0" y="0"/>
                  </a:move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  <a:moveTo>
                    <a:pt x="437674" y="437674"/>
                  </a:moveTo>
                  <a:lnTo>
                    <a:pt x="357156" y="437674"/>
                  </a:lnTo>
                  <a:lnTo>
                    <a:pt x="357156" y="398812"/>
                  </a:lnTo>
                  <a:lnTo>
                    <a:pt x="375476" y="417132"/>
                  </a:lnTo>
                  <a:lnTo>
                    <a:pt x="389287" y="403320"/>
                  </a:lnTo>
                  <a:lnTo>
                    <a:pt x="348012" y="362045"/>
                  </a:lnTo>
                  <a:lnTo>
                    <a:pt x="305499" y="404336"/>
                  </a:lnTo>
                  <a:lnTo>
                    <a:pt x="319310" y="418148"/>
                  </a:lnTo>
                  <a:lnTo>
                    <a:pt x="337630" y="399828"/>
                  </a:lnTo>
                  <a:lnTo>
                    <a:pt x="337630" y="437674"/>
                  </a:lnTo>
                  <a:lnTo>
                    <a:pt x="240221" y="437674"/>
                  </a:lnTo>
                  <a:lnTo>
                    <a:pt x="240221" y="173419"/>
                  </a:lnTo>
                  <a:lnTo>
                    <a:pt x="257175" y="190500"/>
                  </a:lnTo>
                  <a:lnTo>
                    <a:pt x="270986" y="176689"/>
                  </a:lnTo>
                  <a:lnTo>
                    <a:pt x="229711" y="135414"/>
                  </a:lnTo>
                  <a:lnTo>
                    <a:pt x="187325" y="177800"/>
                  </a:lnTo>
                  <a:lnTo>
                    <a:pt x="201136" y="191611"/>
                  </a:lnTo>
                  <a:lnTo>
                    <a:pt x="220758" y="171990"/>
                  </a:lnTo>
                  <a:lnTo>
                    <a:pt x="220758" y="437832"/>
                  </a:lnTo>
                  <a:lnTo>
                    <a:pt x="120650" y="437832"/>
                  </a:lnTo>
                  <a:lnTo>
                    <a:pt x="120650" y="293878"/>
                  </a:lnTo>
                  <a:lnTo>
                    <a:pt x="139002" y="312198"/>
                  </a:lnTo>
                  <a:lnTo>
                    <a:pt x="152813" y="298450"/>
                  </a:lnTo>
                  <a:lnTo>
                    <a:pt x="111538" y="257175"/>
                  </a:lnTo>
                  <a:lnTo>
                    <a:pt x="69025" y="299434"/>
                  </a:lnTo>
                  <a:lnTo>
                    <a:pt x="82836" y="313246"/>
                  </a:lnTo>
                  <a:lnTo>
                    <a:pt x="101156" y="294894"/>
                  </a:lnTo>
                  <a:lnTo>
                    <a:pt x="101156" y="437769"/>
                  </a:lnTo>
                  <a:lnTo>
                    <a:pt x="19526" y="437769"/>
                  </a:lnTo>
                  <a:lnTo>
                    <a:pt x="19526" y="128556"/>
                  </a:lnTo>
                  <a:lnTo>
                    <a:pt x="437674" y="128556"/>
                  </a:lnTo>
                  <a:close/>
                  <a:moveTo>
                    <a:pt x="437674" y="109030"/>
                  </a:moveTo>
                  <a:lnTo>
                    <a:pt x="19526" y="109030"/>
                  </a:lnTo>
                  <a:lnTo>
                    <a:pt x="19526" y="19526"/>
                  </a:lnTo>
                  <a:lnTo>
                    <a:pt x="437674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6" name="Google Shape;18015;p253">
              <a:extLst>
                <a:ext uri="{FF2B5EF4-FFF2-40B4-BE49-F238E27FC236}">
                  <a16:creationId xmlns:a16="http://schemas.microsoft.com/office/drawing/2014/main" id="{F51E68BD-CB1F-4AD7-FE8A-D3226868B8E1}"/>
                </a:ext>
              </a:extLst>
            </p:cNvPr>
            <p:cNvSpPr/>
            <p:nvPr/>
          </p:nvSpPr>
          <p:spPr>
            <a:xfrm>
              <a:off x="10748490" y="3377866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7" name="Google Shape;18016;p253">
              <a:extLst>
                <a:ext uri="{FF2B5EF4-FFF2-40B4-BE49-F238E27FC236}">
                  <a16:creationId xmlns:a16="http://schemas.microsoft.com/office/drawing/2014/main" id="{88DC171C-87AA-C722-AB65-13AC2BBE64FB}"/>
                </a:ext>
              </a:extLst>
            </p:cNvPr>
            <p:cNvSpPr/>
            <p:nvPr/>
          </p:nvSpPr>
          <p:spPr>
            <a:xfrm>
              <a:off x="10709438" y="3377866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8" name="Google Shape;18017;p253">
              <a:extLst>
                <a:ext uri="{FF2B5EF4-FFF2-40B4-BE49-F238E27FC236}">
                  <a16:creationId xmlns:a16="http://schemas.microsoft.com/office/drawing/2014/main" id="{08DCEEE4-8E0D-9816-7EE7-7D3D56632B1F}"/>
                </a:ext>
              </a:extLst>
            </p:cNvPr>
            <p:cNvSpPr/>
            <p:nvPr/>
          </p:nvSpPr>
          <p:spPr>
            <a:xfrm>
              <a:off x="10670385" y="3377866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9" name="Google Shape;18018;p253">
              <a:extLst>
                <a:ext uri="{FF2B5EF4-FFF2-40B4-BE49-F238E27FC236}">
                  <a16:creationId xmlns:a16="http://schemas.microsoft.com/office/drawing/2014/main" id="{4275E587-9690-452E-80B4-2D5E68306F00}"/>
                </a:ext>
              </a:extLst>
            </p:cNvPr>
            <p:cNvSpPr/>
            <p:nvPr/>
          </p:nvSpPr>
          <p:spPr>
            <a:xfrm>
              <a:off x="10592280" y="3377866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20" name="Google Shape;18019;p253">
              <a:extLst>
                <a:ext uri="{FF2B5EF4-FFF2-40B4-BE49-F238E27FC236}">
                  <a16:creationId xmlns:a16="http://schemas.microsoft.com/office/drawing/2014/main" id="{42C985EA-86E4-49C6-A4C8-D1E0877AF311}"/>
                </a:ext>
              </a:extLst>
            </p:cNvPr>
            <p:cNvSpPr/>
            <p:nvPr/>
          </p:nvSpPr>
          <p:spPr>
            <a:xfrm>
              <a:off x="10553228" y="3377866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21" name="Google Shape;18020;p253">
              <a:extLst>
                <a:ext uri="{FF2B5EF4-FFF2-40B4-BE49-F238E27FC236}">
                  <a16:creationId xmlns:a16="http://schemas.microsoft.com/office/drawing/2014/main" id="{E0595022-E939-6CE2-8448-8B4700F00DAB}"/>
                </a:ext>
              </a:extLst>
            </p:cNvPr>
            <p:cNvSpPr/>
            <p:nvPr/>
          </p:nvSpPr>
          <p:spPr>
            <a:xfrm>
              <a:off x="10514175" y="3377866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22" name="Google Shape;18021;p253">
              <a:extLst>
                <a:ext uri="{FF2B5EF4-FFF2-40B4-BE49-F238E27FC236}">
                  <a16:creationId xmlns:a16="http://schemas.microsoft.com/office/drawing/2014/main" id="{CF13F506-06C1-E021-1D43-42FBD38D6C1A}"/>
                </a:ext>
              </a:extLst>
            </p:cNvPr>
            <p:cNvSpPr/>
            <p:nvPr/>
          </p:nvSpPr>
          <p:spPr>
            <a:xfrm>
              <a:off x="10475123" y="3377866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23" name="Google Shape;18022;p253">
              <a:extLst>
                <a:ext uri="{FF2B5EF4-FFF2-40B4-BE49-F238E27FC236}">
                  <a16:creationId xmlns:a16="http://schemas.microsoft.com/office/drawing/2014/main" id="{C194991F-042C-737D-9250-CFB0582D7EF7}"/>
                </a:ext>
              </a:extLst>
            </p:cNvPr>
            <p:cNvSpPr/>
            <p:nvPr/>
          </p:nvSpPr>
          <p:spPr>
            <a:xfrm>
              <a:off x="10748490" y="3486832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24" name="Google Shape;18023;p253">
              <a:extLst>
                <a:ext uri="{FF2B5EF4-FFF2-40B4-BE49-F238E27FC236}">
                  <a16:creationId xmlns:a16="http://schemas.microsoft.com/office/drawing/2014/main" id="{73267DE4-EF8E-388A-ABB4-091A761162D0}"/>
                </a:ext>
              </a:extLst>
            </p:cNvPr>
            <p:cNvSpPr/>
            <p:nvPr/>
          </p:nvSpPr>
          <p:spPr>
            <a:xfrm>
              <a:off x="10709438" y="3486832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25" name="Google Shape;18024;p253">
              <a:extLst>
                <a:ext uri="{FF2B5EF4-FFF2-40B4-BE49-F238E27FC236}">
                  <a16:creationId xmlns:a16="http://schemas.microsoft.com/office/drawing/2014/main" id="{FC36965C-67DC-9465-7AC8-E0E47C11D9C1}"/>
                </a:ext>
              </a:extLst>
            </p:cNvPr>
            <p:cNvSpPr/>
            <p:nvPr/>
          </p:nvSpPr>
          <p:spPr>
            <a:xfrm>
              <a:off x="10670385" y="3486832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26" name="Google Shape;18025;p253">
              <a:extLst>
                <a:ext uri="{FF2B5EF4-FFF2-40B4-BE49-F238E27FC236}">
                  <a16:creationId xmlns:a16="http://schemas.microsoft.com/office/drawing/2014/main" id="{00F3C23B-FAEC-686B-F0C7-6EC7AAC6EE60}"/>
                </a:ext>
              </a:extLst>
            </p:cNvPr>
            <p:cNvSpPr/>
            <p:nvPr/>
          </p:nvSpPr>
          <p:spPr>
            <a:xfrm>
              <a:off x="10592280" y="3486832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27" name="Google Shape;18026;p253">
              <a:extLst>
                <a:ext uri="{FF2B5EF4-FFF2-40B4-BE49-F238E27FC236}">
                  <a16:creationId xmlns:a16="http://schemas.microsoft.com/office/drawing/2014/main" id="{2EA002CD-84A6-DBAD-B289-DEAB0B2322DD}"/>
                </a:ext>
              </a:extLst>
            </p:cNvPr>
            <p:cNvSpPr/>
            <p:nvPr/>
          </p:nvSpPr>
          <p:spPr>
            <a:xfrm>
              <a:off x="10553228" y="3486832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28" name="Google Shape;18027;p253">
              <a:extLst>
                <a:ext uri="{FF2B5EF4-FFF2-40B4-BE49-F238E27FC236}">
                  <a16:creationId xmlns:a16="http://schemas.microsoft.com/office/drawing/2014/main" id="{31F0F43A-F125-A4D6-57C9-8E91D4F71B8D}"/>
                </a:ext>
              </a:extLst>
            </p:cNvPr>
            <p:cNvSpPr/>
            <p:nvPr/>
          </p:nvSpPr>
          <p:spPr>
            <a:xfrm>
              <a:off x="10475123" y="3486832"/>
              <a:ext cx="19526" cy="19526"/>
            </a:xfrm>
            <a:custGeom>
              <a:avLst/>
              <a:gdLst/>
              <a:ahLst/>
              <a:cxnLst/>
              <a:rect l="l" t="t" r="r" b="b"/>
              <a:pathLst>
                <a:path w="19526" h="19526" extrusionOk="0">
                  <a:moveTo>
                    <a:pt x="0" y="0"/>
                  </a:moveTo>
                  <a:lnTo>
                    <a:pt x="19526" y="0"/>
                  </a:lnTo>
                  <a:lnTo>
                    <a:pt x="19526" y="19526"/>
                  </a:lnTo>
                  <a:lnTo>
                    <a:pt x="0" y="19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D04A0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</p:grpSp>
      <p:sp>
        <p:nvSpPr>
          <p:cNvPr id="130" name="Google Shape;4729;p124">
            <a:extLst>
              <a:ext uri="{FF2B5EF4-FFF2-40B4-BE49-F238E27FC236}">
                <a16:creationId xmlns:a16="http://schemas.microsoft.com/office/drawing/2014/main" id="{65C94946-5603-CE08-9A42-BB6C0A86EF64}"/>
              </a:ext>
            </a:extLst>
          </p:cNvPr>
          <p:cNvSpPr/>
          <p:nvPr/>
        </p:nvSpPr>
        <p:spPr>
          <a:xfrm>
            <a:off x="6182790" y="2143137"/>
            <a:ext cx="728269" cy="738663"/>
          </a:xfrm>
          <a:custGeom>
            <a:avLst/>
            <a:gdLst/>
            <a:ahLst/>
            <a:cxnLst/>
            <a:rect l="l" t="t" r="r" b="b"/>
            <a:pathLst>
              <a:path w="5287" h="5284" extrusionOk="0">
                <a:moveTo>
                  <a:pt x="202" y="5284"/>
                </a:moveTo>
                <a:lnTo>
                  <a:pt x="1846" y="3641"/>
                </a:lnTo>
                <a:lnTo>
                  <a:pt x="1846" y="3641"/>
                </a:lnTo>
                <a:lnTo>
                  <a:pt x="1918" y="3701"/>
                </a:lnTo>
                <a:lnTo>
                  <a:pt x="1992" y="3757"/>
                </a:lnTo>
                <a:lnTo>
                  <a:pt x="2068" y="3811"/>
                </a:lnTo>
                <a:lnTo>
                  <a:pt x="2148" y="3859"/>
                </a:lnTo>
                <a:lnTo>
                  <a:pt x="2228" y="3905"/>
                </a:lnTo>
                <a:lnTo>
                  <a:pt x="2310" y="3947"/>
                </a:lnTo>
                <a:lnTo>
                  <a:pt x="2394" y="3985"/>
                </a:lnTo>
                <a:lnTo>
                  <a:pt x="2480" y="4019"/>
                </a:lnTo>
                <a:lnTo>
                  <a:pt x="2566" y="4051"/>
                </a:lnTo>
                <a:lnTo>
                  <a:pt x="2657" y="4077"/>
                </a:lnTo>
                <a:lnTo>
                  <a:pt x="2745" y="4099"/>
                </a:lnTo>
                <a:lnTo>
                  <a:pt x="2837" y="4119"/>
                </a:lnTo>
                <a:lnTo>
                  <a:pt x="2929" y="4133"/>
                </a:lnTo>
                <a:lnTo>
                  <a:pt x="3021" y="4143"/>
                </a:lnTo>
                <a:lnTo>
                  <a:pt x="3115" y="4149"/>
                </a:lnTo>
                <a:lnTo>
                  <a:pt x="3211" y="4151"/>
                </a:lnTo>
                <a:lnTo>
                  <a:pt x="3211" y="4151"/>
                </a:lnTo>
                <a:lnTo>
                  <a:pt x="3263" y="4151"/>
                </a:lnTo>
                <a:lnTo>
                  <a:pt x="3315" y="4149"/>
                </a:lnTo>
                <a:lnTo>
                  <a:pt x="3365" y="4145"/>
                </a:lnTo>
                <a:lnTo>
                  <a:pt x="3417" y="4141"/>
                </a:lnTo>
                <a:lnTo>
                  <a:pt x="3467" y="4135"/>
                </a:lnTo>
                <a:lnTo>
                  <a:pt x="3519" y="4129"/>
                </a:lnTo>
                <a:lnTo>
                  <a:pt x="3569" y="4121"/>
                </a:lnTo>
                <a:lnTo>
                  <a:pt x="3619" y="4111"/>
                </a:lnTo>
                <a:lnTo>
                  <a:pt x="3669" y="4101"/>
                </a:lnTo>
                <a:lnTo>
                  <a:pt x="3717" y="4089"/>
                </a:lnTo>
                <a:lnTo>
                  <a:pt x="3767" y="4077"/>
                </a:lnTo>
                <a:lnTo>
                  <a:pt x="3815" y="4063"/>
                </a:lnTo>
                <a:lnTo>
                  <a:pt x="3863" y="4047"/>
                </a:lnTo>
                <a:lnTo>
                  <a:pt x="3911" y="4031"/>
                </a:lnTo>
                <a:lnTo>
                  <a:pt x="3959" y="4013"/>
                </a:lnTo>
                <a:lnTo>
                  <a:pt x="4005" y="3995"/>
                </a:lnTo>
                <a:lnTo>
                  <a:pt x="4053" y="3975"/>
                </a:lnTo>
                <a:lnTo>
                  <a:pt x="4099" y="3953"/>
                </a:lnTo>
                <a:lnTo>
                  <a:pt x="4143" y="3931"/>
                </a:lnTo>
                <a:lnTo>
                  <a:pt x="4189" y="3909"/>
                </a:lnTo>
                <a:lnTo>
                  <a:pt x="4233" y="3883"/>
                </a:lnTo>
                <a:lnTo>
                  <a:pt x="4277" y="3859"/>
                </a:lnTo>
                <a:lnTo>
                  <a:pt x="4319" y="3831"/>
                </a:lnTo>
                <a:lnTo>
                  <a:pt x="4363" y="3803"/>
                </a:lnTo>
                <a:lnTo>
                  <a:pt x="4405" y="3775"/>
                </a:lnTo>
                <a:lnTo>
                  <a:pt x="4445" y="3745"/>
                </a:lnTo>
                <a:lnTo>
                  <a:pt x="4487" y="3715"/>
                </a:lnTo>
                <a:lnTo>
                  <a:pt x="4527" y="3683"/>
                </a:lnTo>
                <a:lnTo>
                  <a:pt x="4565" y="3649"/>
                </a:lnTo>
                <a:lnTo>
                  <a:pt x="4603" y="3615"/>
                </a:lnTo>
                <a:lnTo>
                  <a:pt x="4641" y="3579"/>
                </a:lnTo>
                <a:lnTo>
                  <a:pt x="4679" y="3543"/>
                </a:lnTo>
                <a:lnTo>
                  <a:pt x="4679" y="3543"/>
                </a:lnTo>
                <a:lnTo>
                  <a:pt x="4717" y="3505"/>
                </a:lnTo>
                <a:lnTo>
                  <a:pt x="4753" y="3465"/>
                </a:lnTo>
                <a:lnTo>
                  <a:pt x="4787" y="3427"/>
                </a:lnTo>
                <a:lnTo>
                  <a:pt x="4821" y="3385"/>
                </a:lnTo>
                <a:lnTo>
                  <a:pt x="4853" y="3345"/>
                </a:lnTo>
                <a:lnTo>
                  <a:pt x="4885" y="3303"/>
                </a:lnTo>
                <a:lnTo>
                  <a:pt x="4915" y="3261"/>
                </a:lnTo>
                <a:lnTo>
                  <a:pt x="4945" y="3217"/>
                </a:lnTo>
                <a:lnTo>
                  <a:pt x="4973" y="3175"/>
                </a:lnTo>
                <a:lnTo>
                  <a:pt x="4999" y="3131"/>
                </a:lnTo>
                <a:lnTo>
                  <a:pt x="5025" y="3085"/>
                </a:lnTo>
                <a:lnTo>
                  <a:pt x="5049" y="3041"/>
                </a:lnTo>
                <a:lnTo>
                  <a:pt x="5073" y="2995"/>
                </a:lnTo>
                <a:lnTo>
                  <a:pt x="5095" y="2949"/>
                </a:lnTo>
                <a:lnTo>
                  <a:pt x="5115" y="2903"/>
                </a:lnTo>
                <a:lnTo>
                  <a:pt x="5135" y="2857"/>
                </a:lnTo>
                <a:lnTo>
                  <a:pt x="5153" y="2809"/>
                </a:lnTo>
                <a:lnTo>
                  <a:pt x="5169" y="2763"/>
                </a:lnTo>
                <a:lnTo>
                  <a:pt x="5185" y="2715"/>
                </a:lnTo>
                <a:lnTo>
                  <a:pt x="5201" y="2667"/>
                </a:lnTo>
                <a:lnTo>
                  <a:pt x="5215" y="2619"/>
                </a:lnTo>
                <a:lnTo>
                  <a:pt x="5227" y="2569"/>
                </a:lnTo>
                <a:lnTo>
                  <a:pt x="5239" y="2521"/>
                </a:lnTo>
                <a:lnTo>
                  <a:pt x="5249" y="2471"/>
                </a:lnTo>
                <a:lnTo>
                  <a:pt x="5265" y="2373"/>
                </a:lnTo>
                <a:lnTo>
                  <a:pt x="5277" y="2275"/>
                </a:lnTo>
                <a:lnTo>
                  <a:pt x="5283" y="2175"/>
                </a:lnTo>
                <a:lnTo>
                  <a:pt x="5287" y="2075"/>
                </a:lnTo>
                <a:lnTo>
                  <a:pt x="5283" y="1975"/>
                </a:lnTo>
                <a:lnTo>
                  <a:pt x="5277" y="1875"/>
                </a:lnTo>
                <a:lnTo>
                  <a:pt x="5265" y="1777"/>
                </a:lnTo>
                <a:lnTo>
                  <a:pt x="5249" y="1679"/>
                </a:lnTo>
                <a:lnTo>
                  <a:pt x="5239" y="1629"/>
                </a:lnTo>
                <a:lnTo>
                  <a:pt x="5227" y="1581"/>
                </a:lnTo>
                <a:lnTo>
                  <a:pt x="5215" y="1531"/>
                </a:lnTo>
                <a:lnTo>
                  <a:pt x="5201" y="1483"/>
                </a:lnTo>
                <a:lnTo>
                  <a:pt x="5185" y="1435"/>
                </a:lnTo>
                <a:lnTo>
                  <a:pt x="5169" y="1387"/>
                </a:lnTo>
                <a:lnTo>
                  <a:pt x="5153" y="1341"/>
                </a:lnTo>
                <a:lnTo>
                  <a:pt x="5135" y="1293"/>
                </a:lnTo>
                <a:lnTo>
                  <a:pt x="5115" y="1247"/>
                </a:lnTo>
                <a:lnTo>
                  <a:pt x="5095" y="1201"/>
                </a:lnTo>
                <a:lnTo>
                  <a:pt x="5073" y="1155"/>
                </a:lnTo>
                <a:lnTo>
                  <a:pt x="5049" y="1109"/>
                </a:lnTo>
                <a:lnTo>
                  <a:pt x="5025" y="1063"/>
                </a:lnTo>
                <a:lnTo>
                  <a:pt x="4999" y="1019"/>
                </a:lnTo>
                <a:lnTo>
                  <a:pt x="4973" y="976"/>
                </a:lnTo>
                <a:lnTo>
                  <a:pt x="4945" y="934"/>
                </a:lnTo>
                <a:lnTo>
                  <a:pt x="4915" y="890"/>
                </a:lnTo>
                <a:lnTo>
                  <a:pt x="4885" y="848"/>
                </a:lnTo>
                <a:lnTo>
                  <a:pt x="4853" y="806"/>
                </a:lnTo>
                <a:lnTo>
                  <a:pt x="4821" y="766"/>
                </a:lnTo>
                <a:lnTo>
                  <a:pt x="4787" y="724"/>
                </a:lnTo>
                <a:lnTo>
                  <a:pt x="4753" y="684"/>
                </a:lnTo>
                <a:lnTo>
                  <a:pt x="4717" y="646"/>
                </a:lnTo>
                <a:lnTo>
                  <a:pt x="4679" y="608"/>
                </a:lnTo>
                <a:lnTo>
                  <a:pt x="4679" y="608"/>
                </a:lnTo>
                <a:lnTo>
                  <a:pt x="4641" y="572"/>
                </a:lnTo>
                <a:lnTo>
                  <a:pt x="4603" y="536"/>
                </a:lnTo>
                <a:lnTo>
                  <a:pt x="4565" y="502"/>
                </a:lnTo>
                <a:lnTo>
                  <a:pt x="4527" y="468"/>
                </a:lnTo>
                <a:lnTo>
                  <a:pt x="4487" y="436"/>
                </a:lnTo>
                <a:lnTo>
                  <a:pt x="4445" y="406"/>
                </a:lnTo>
                <a:lnTo>
                  <a:pt x="4405" y="376"/>
                </a:lnTo>
                <a:lnTo>
                  <a:pt x="4363" y="348"/>
                </a:lnTo>
                <a:lnTo>
                  <a:pt x="4319" y="320"/>
                </a:lnTo>
                <a:lnTo>
                  <a:pt x="4277" y="292"/>
                </a:lnTo>
                <a:lnTo>
                  <a:pt x="4233" y="268"/>
                </a:lnTo>
                <a:lnTo>
                  <a:pt x="4189" y="242"/>
                </a:lnTo>
                <a:lnTo>
                  <a:pt x="4143" y="220"/>
                </a:lnTo>
                <a:lnTo>
                  <a:pt x="4099" y="198"/>
                </a:lnTo>
                <a:lnTo>
                  <a:pt x="4053" y="176"/>
                </a:lnTo>
                <a:lnTo>
                  <a:pt x="4005" y="156"/>
                </a:lnTo>
                <a:lnTo>
                  <a:pt x="3959" y="138"/>
                </a:lnTo>
                <a:lnTo>
                  <a:pt x="3911" y="120"/>
                </a:lnTo>
                <a:lnTo>
                  <a:pt x="3863" y="104"/>
                </a:lnTo>
                <a:lnTo>
                  <a:pt x="3815" y="88"/>
                </a:lnTo>
                <a:lnTo>
                  <a:pt x="3767" y="74"/>
                </a:lnTo>
                <a:lnTo>
                  <a:pt x="3717" y="62"/>
                </a:lnTo>
                <a:lnTo>
                  <a:pt x="3669" y="50"/>
                </a:lnTo>
                <a:lnTo>
                  <a:pt x="3619" y="40"/>
                </a:lnTo>
                <a:lnTo>
                  <a:pt x="3569" y="30"/>
                </a:lnTo>
                <a:lnTo>
                  <a:pt x="3519" y="22"/>
                </a:lnTo>
                <a:lnTo>
                  <a:pt x="3467" y="16"/>
                </a:lnTo>
                <a:lnTo>
                  <a:pt x="3417" y="10"/>
                </a:lnTo>
                <a:lnTo>
                  <a:pt x="3365" y="6"/>
                </a:lnTo>
                <a:lnTo>
                  <a:pt x="3315" y="2"/>
                </a:lnTo>
                <a:lnTo>
                  <a:pt x="3263" y="0"/>
                </a:lnTo>
                <a:lnTo>
                  <a:pt x="3211" y="0"/>
                </a:lnTo>
                <a:lnTo>
                  <a:pt x="3211" y="0"/>
                </a:lnTo>
                <a:lnTo>
                  <a:pt x="3159" y="0"/>
                </a:lnTo>
                <a:lnTo>
                  <a:pt x="3107" y="2"/>
                </a:lnTo>
                <a:lnTo>
                  <a:pt x="3055" y="6"/>
                </a:lnTo>
                <a:lnTo>
                  <a:pt x="3005" y="10"/>
                </a:lnTo>
                <a:lnTo>
                  <a:pt x="2953" y="16"/>
                </a:lnTo>
                <a:lnTo>
                  <a:pt x="2903" y="22"/>
                </a:lnTo>
                <a:lnTo>
                  <a:pt x="2853" y="30"/>
                </a:lnTo>
                <a:lnTo>
                  <a:pt x="2803" y="40"/>
                </a:lnTo>
                <a:lnTo>
                  <a:pt x="2753" y="50"/>
                </a:lnTo>
                <a:lnTo>
                  <a:pt x="2703" y="62"/>
                </a:lnTo>
                <a:lnTo>
                  <a:pt x="2655" y="74"/>
                </a:lnTo>
                <a:lnTo>
                  <a:pt x="2604" y="88"/>
                </a:lnTo>
                <a:lnTo>
                  <a:pt x="2556" y="104"/>
                </a:lnTo>
                <a:lnTo>
                  <a:pt x="2508" y="120"/>
                </a:lnTo>
                <a:lnTo>
                  <a:pt x="2462" y="138"/>
                </a:lnTo>
                <a:lnTo>
                  <a:pt x="2414" y="156"/>
                </a:lnTo>
                <a:lnTo>
                  <a:pt x="2368" y="176"/>
                </a:lnTo>
                <a:lnTo>
                  <a:pt x="2322" y="198"/>
                </a:lnTo>
                <a:lnTo>
                  <a:pt x="2276" y="220"/>
                </a:lnTo>
                <a:lnTo>
                  <a:pt x="2232" y="242"/>
                </a:lnTo>
                <a:lnTo>
                  <a:pt x="2188" y="268"/>
                </a:lnTo>
                <a:lnTo>
                  <a:pt x="2144" y="292"/>
                </a:lnTo>
                <a:lnTo>
                  <a:pt x="2100" y="320"/>
                </a:lnTo>
                <a:lnTo>
                  <a:pt x="2058" y="348"/>
                </a:lnTo>
                <a:lnTo>
                  <a:pt x="2016" y="376"/>
                </a:lnTo>
                <a:lnTo>
                  <a:pt x="1974" y="406"/>
                </a:lnTo>
                <a:lnTo>
                  <a:pt x="1934" y="436"/>
                </a:lnTo>
                <a:lnTo>
                  <a:pt x="1894" y="468"/>
                </a:lnTo>
                <a:lnTo>
                  <a:pt x="1854" y="502"/>
                </a:lnTo>
                <a:lnTo>
                  <a:pt x="1816" y="536"/>
                </a:lnTo>
                <a:lnTo>
                  <a:pt x="1778" y="572"/>
                </a:lnTo>
                <a:lnTo>
                  <a:pt x="1742" y="608"/>
                </a:lnTo>
                <a:lnTo>
                  <a:pt x="1742" y="608"/>
                </a:lnTo>
                <a:lnTo>
                  <a:pt x="1706" y="644"/>
                </a:lnTo>
                <a:lnTo>
                  <a:pt x="1670" y="682"/>
                </a:lnTo>
                <a:lnTo>
                  <a:pt x="1638" y="720"/>
                </a:lnTo>
                <a:lnTo>
                  <a:pt x="1604" y="758"/>
                </a:lnTo>
                <a:lnTo>
                  <a:pt x="1574" y="798"/>
                </a:lnTo>
                <a:lnTo>
                  <a:pt x="1542" y="838"/>
                </a:lnTo>
                <a:lnTo>
                  <a:pt x="1514" y="878"/>
                </a:lnTo>
                <a:lnTo>
                  <a:pt x="1486" y="918"/>
                </a:lnTo>
                <a:lnTo>
                  <a:pt x="1432" y="1001"/>
                </a:lnTo>
                <a:lnTo>
                  <a:pt x="1384" y="1087"/>
                </a:lnTo>
                <a:lnTo>
                  <a:pt x="1338" y="1173"/>
                </a:lnTo>
                <a:lnTo>
                  <a:pt x="1298" y="1261"/>
                </a:lnTo>
                <a:lnTo>
                  <a:pt x="1264" y="1351"/>
                </a:lnTo>
                <a:lnTo>
                  <a:pt x="1232" y="1443"/>
                </a:lnTo>
                <a:lnTo>
                  <a:pt x="1204" y="1535"/>
                </a:lnTo>
                <a:lnTo>
                  <a:pt x="1182" y="1629"/>
                </a:lnTo>
                <a:lnTo>
                  <a:pt x="1164" y="1723"/>
                </a:lnTo>
                <a:lnTo>
                  <a:pt x="1150" y="1817"/>
                </a:lnTo>
                <a:lnTo>
                  <a:pt x="1140" y="1913"/>
                </a:lnTo>
                <a:lnTo>
                  <a:pt x="1136" y="2009"/>
                </a:lnTo>
                <a:lnTo>
                  <a:pt x="1134" y="2103"/>
                </a:lnTo>
                <a:lnTo>
                  <a:pt x="1138" y="2199"/>
                </a:lnTo>
                <a:lnTo>
                  <a:pt x="1146" y="2295"/>
                </a:lnTo>
                <a:lnTo>
                  <a:pt x="1158" y="2389"/>
                </a:lnTo>
                <a:lnTo>
                  <a:pt x="1174" y="2483"/>
                </a:lnTo>
                <a:lnTo>
                  <a:pt x="1196" y="2577"/>
                </a:lnTo>
                <a:lnTo>
                  <a:pt x="1220" y="2669"/>
                </a:lnTo>
                <a:lnTo>
                  <a:pt x="1250" y="2761"/>
                </a:lnTo>
                <a:lnTo>
                  <a:pt x="1284" y="2853"/>
                </a:lnTo>
                <a:lnTo>
                  <a:pt x="1322" y="2941"/>
                </a:lnTo>
                <a:lnTo>
                  <a:pt x="1366" y="3029"/>
                </a:lnTo>
                <a:lnTo>
                  <a:pt x="1412" y="3115"/>
                </a:lnTo>
                <a:lnTo>
                  <a:pt x="1464" y="3199"/>
                </a:lnTo>
                <a:lnTo>
                  <a:pt x="1520" y="3281"/>
                </a:lnTo>
                <a:lnTo>
                  <a:pt x="1550" y="3321"/>
                </a:lnTo>
                <a:lnTo>
                  <a:pt x="1580" y="3361"/>
                </a:lnTo>
                <a:lnTo>
                  <a:pt x="1612" y="3401"/>
                </a:lnTo>
                <a:lnTo>
                  <a:pt x="1644" y="3439"/>
                </a:lnTo>
                <a:lnTo>
                  <a:pt x="0" y="5082"/>
                </a:lnTo>
                <a:lnTo>
                  <a:pt x="202" y="5284"/>
                </a:lnTo>
                <a:close/>
                <a:moveTo>
                  <a:pt x="4477" y="3343"/>
                </a:moveTo>
                <a:lnTo>
                  <a:pt x="4477" y="3343"/>
                </a:lnTo>
                <a:lnTo>
                  <a:pt x="4413" y="3403"/>
                </a:lnTo>
                <a:lnTo>
                  <a:pt x="4345" y="3461"/>
                </a:lnTo>
                <a:lnTo>
                  <a:pt x="4277" y="3517"/>
                </a:lnTo>
                <a:lnTo>
                  <a:pt x="4205" y="3567"/>
                </a:lnTo>
                <a:lnTo>
                  <a:pt x="4131" y="3613"/>
                </a:lnTo>
                <a:lnTo>
                  <a:pt x="4055" y="3657"/>
                </a:lnTo>
                <a:lnTo>
                  <a:pt x="3977" y="3697"/>
                </a:lnTo>
                <a:lnTo>
                  <a:pt x="3897" y="3731"/>
                </a:lnTo>
                <a:lnTo>
                  <a:pt x="3815" y="3763"/>
                </a:lnTo>
                <a:lnTo>
                  <a:pt x="3733" y="3791"/>
                </a:lnTo>
                <a:lnTo>
                  <a:pt x="3649" y="3813"/>
                </a:lnTo>
                <a:lnTo>
                  <a:pt x="3563" y="3833"/>
                </a:lnTo>
                <a:lnTo>
                  <a:pt x="3477" y="3847"/>
                </a:lnTo>
                <a:lnTo>
                  <a:pt x="3389" y="3859"/>
                </a:lnTo>
                <a:lnTo>
                  <a:pt x="3301" y="3865"/>
                </a:lnTo>
                <a:lnTo>
                  <a:pt x="3211" y="3867"/>
                </a:lnTo>
                <a:lnTo>
                  <a:pt x="3211" y="3867"/>
                </a:lnTo>
                <a:lnTo>
                  <a:pt x="3121" y="3865"/>
                </a:lnTo>
                <a:lnTo>
                  <a:pt x="3033" y="3859"/>
                </a:lnTo>
                <a:lnTo>
                  <a:pt x="2945" y="3847"/>
                </a:lnTo>
                <a:lnTo>
                  <a:pt x="2859" y="3833"/>
                </a:lnTo>
                <a:lnTo>
                  <a:pt x="2773" y="3813"/>
                </a:lnTo>
                <a:lnTo>
                  <a:pt x="2689" y="3791"/>
                </a:lnTo>
                <a:lnTo>
                  <a:pt x="2604" y="3763"/>
                </a:lnTo>
                <a:lnTo>
                  <a:pt x="2524" y="3731"/>
                </a:lnTo>
                <a:lnTo>
                  <a:pt x="2444" y="3697"/>
                </a:lnTo>
                <a:lnTo>
                  <a:pt x="2366" y="3657"/>
                </a:lnTo>
                <a:lnTo>
                  <a:pt x="2290" y="3613"/>
                </a:lnTo>
                <a:lnTo>
                  <a:pt x="2216" y="3567"/>
                </a:lnTo>
                <a:lnTo>
                  <a:pt x="2144" y="3517"/>
                </a:lnTo>
                <a:lnTo>
                  <a:pt x="2074" y="3461"/>
                </a:lnTo>
                <a:lnTo>
                  <a:pt x="2008" y="3403"/>
                </a:lnTo>
                <a:lnTo>
                  <a:pt x="1942" y="3343"/>
                </a:lnTo>
                <a:lnTo>
                  <a:pt x="1942" y="3343"/>
                </a:lnTo>
                <a:lnTo>
                  <a:pt x="1910" y="3307"/>
                </a:lnTo>
                <a:lnTo>
                  <a:pt x="1876" y="3273"/>
                </a:lnTo>
                <a:lnTo>
                  <a:pt x="1846" y="3237"/>
                </a:lnTo>
                <a:lnTo>
                  <a:pt x="1816" y="3201"/>
                </a:lnTo>
                <a:lnTo>
                  <a:pt x="1788" y="3165"/>
                </a:lnTo>
                <a:lnTo>
                  <a:pt x="1760" y="3127"/>
                </a:lnTo>
                <a:lnTo>
                  <a:pt x="1706" y="3051"/>
                </a:lnTo>
                <a:lnTo>
                  <a:pt x="1962" y="3051"/>
                </a:lnTo>
                <a:lnTo>
                  <a:pt x="2707" y="3051"/>
                </a:lnTo>
                <a:lnTo>
                  <a:pt x="2993" y="3051"/>
                </a:lnTo>
                <a:lnTo>
                  <a:pt x="3453" y="3051"/>
                </a:lnTo>
                <a:lnTo>
                  <a:pt x="3737" y="3051"/>
                </a:lnTo>
                <a:lnTo>
                  <a:pt x="4483" y="3051"/>
                </a:lnTo>
                <a:lnTo>
                  <a:pt x="4713" y="3051"/>
                </a:lnTo>
                <a:lnTo>
                  <a:pt x="4713" y="3051"/>
                </a:lnTo>
                <a:lnTo>
                  <a:pt x="4661" y="3127"/>
                </a:lnTo>
                <a:lnTo>
                  <a:pt x="4633" y="3165"/>
                </a:lnTo>
                <a:lnTo>
                  <a:pt x="4605" y="3201"/>
                </a:lnTo>
                <a:lnTo>
                  <a:pt x="4575" y="3237"/>
                </a:lnTo>
                <a:lnTo>
                  <a:pt x="4543" y="3273"/>
                </a:lnTo>
                <a:lnTo>
                  <a:pt x="4511" y="3307"/>
                </a:lnTo>
                <a:lnTo>
                  <a:pt x="4477" y="3343"/>
                </a:lnTo>
                <a:lnTo>
                  <a:pt x="4477" y="3343"/>
                </a:lnTo>
                <a:close/>
                <a:moveTo>
                  <a:pt x="2993" y="1481"/>
                </a:moveTo>
                <a:lnTo>
                  <a:pt x="2993" y="1201"/>
                </a:lnTo>
                <a:lnTo>
                  <a:pt x="3453" y="1201"/>
                </a:lnTo>
                <a:lnTo>
                  <a:pt x="3453" y="1867"/>
                </a:lnTo>
                <a:lnTo>
                  <a:pt x="3453" y="2765"/>
                </a:lnTo>
                <a:lnTo>
                  <a:pt x="2993" y="2765"/>
                </a:lnTo>
                <a:lnTo>
                  <a:pt x="2993" y="1481"/>
                </a:lnTo>
                <a:close/>
                <a:moveTo>
                  <a:pt x="4197" y="2765"/>
                </a:moveTo>
                <a:lnTo>
                  <a:pt x="3737" y="2765"/>
                </a:lnTo>
                <a:lnTo>
                  <a:pt x="3737" y="2151"/>
                </a:lnTo>
                <a:lnTo>
                  <a:pt x="4197" y="2151"/>
                </a:lnTo>
                <a:lnTo>
                  <a:pt x="4197" y="2765"/>
                </a:lnTo>
                <a:close/>
                <a:moveTo>
                  <a:pt x="2707" y="2765"/>
                </a:moveTo>
                <a:lnTo>
                  <a:pt x="2246" y="2765"/>
                </a:lnTo>
                <a:lnTo>
                  <a:pt x="2246" y="1765"/>
                </a:lnTo>
                <a:lnTo>
                  <a:pt x="2707" y="1765"/>
                </a:lnTo>
                <a:lnTo>
                  <a:pt x="2707" y="2765"/>
                </a:lnTo>
                <a:close/>
                <a:moveTo>
                  <a:pt x="1942" y="808"/>
                </a:moveTo>
                <a:lnTo>
                  <a:pt x="1942" y="808"/>
                </a:lnTo>
                <a:lnTo>
                  <a:pt x="2008" y="748"/>
                </a:lnTo>
                <a:lnTo>
                  <a:pt x="2074" y="690"/>
                </a:lnTo>
                <a:lnTo>
                  <a:pt x="2144" y="634"/>
                </a:lnTo>
                <a:lnTo>
                  <a:pt x="2216" y="584"/>
                </a:lnTo>
                <a:lnTo>
                  <a:pt x="2290" y="538"/>
                </a:lnTo>
                <a:lnTo>
                  <a:pt x="2366" y="494"/>
                </a:lnTo>
                <a:lnTo>
                  <a:pt x="2444" y="454"/>
                </a:lnTo>
                <a:lnTo>
                  <a:pt x="2524" y="420"/>
                </a:lnTo>
                <a:lnTo>
                  <a:pt x="2604" y="388"/>
                </a:lnTo>
                <a:lnTo>
                  <a:pt x="2689" y="360"/>
                </a:lnTo>
                <a:lnTo>
                  <a:pt x="2773" y="338"/>
                </a:lnTo>
                <a:lnTo>
                  <a:pt x="2859" y="318"/>
                </a:lnTo>
                <a:lnTo>
                  <a:pt x="2945" y="304"/>
                </a:lnTo>
                <a:lnTo>
                  <a:pt x="3033" y="292"/>
                </a:lnTo>
                <a:lnTo>
                  <a:pt x="3121" y="286"/>
                </a:lnTo>
                <a:lnTo>
                  <a:pt x="3211" y="284"/>
                </a:lnTo>
                <a:lnTo>
                  <a:pt x="3211" y="284"/>
                </a:lnTo>
                <a:lnTo>
                  <a:pt x="3301" y="286"/>
                </a:lnTo>
                <a:lnTo>
                  <a:pt x="3389" y="292"/>
                </a:lnTo>
                <a:lnTo>
                  <a:pt x="3477" y="304"/>
                </a:lnTo>
                <a:lnTo>
                  <a:pt x="3563" y="318"/>
                </a:lnTo>
                <a:lnTo>
                  <a:pt x="3649" y="338"/>
                </a:lnTo>
                <a:lnTo>
                  <a:pt x="3733" y="360"/>
                </a:lnTo>
                <a:lnTo>
                  <a:pt x="3815" y="388"/>
                </a:lnTo>
                <a:lnTo>
                  <a:pt x="3897" y="420"/>
                </a:lnTo>
                <a:lnTo>
                  <a:pt x="3977" y="454"/>
                </a:lnTo>
                <a:lnTo>
                  <a:pt x="4055" y="494"/>
                </a:lnTo>
                <a:lnTo>
                  <a:pt x="4131" y="538"/>
                </a:lnTo>
                <a:lnTo>
                  <a:pt x="4205" y="584"/>
                </a:lnTo>
                <a:lnTo>
                  <a:pt x="4277" y="634"/>
                </a:lnTo>
                <a:lnTo>
                  <a:pt x="4345" y="690"/>
                </a:lnTo>
                <a:lnTo>
                  <a:pt x="4413" y="748"/>
                </a:lnTo>
                <a:lnTo>
                  <a:pt x="4477" y="808"/>
                </a:lnTo>
                <a:lnTo>
                  <a:pt x="4477" y="808"/>
                </a:lnTo>
                <a:lnTo>
                  <a:pt x="4527" y="860"/>
                </a:lnTo>
                <a:lnTo>
                  <a:pt x="4573" y="910"/>
                </a:lnTo>
                <a:lnTo>
                  <a:pt x="4615" y="964"/>
                </a:lnTo>
                <a:lnTo>
                  <a:pt x="4657" y="1017"/>
                </a:lnTo>
                <a:lnTo>
                  <a:pt x="4697" y="1073"/>
                </a:lnTo>
                <a:lnTo>
                  <a:pt x="4733" y="1129"/>
                </a:lnTo>
                <a:lnTo>
                  <a:pt x="4767" y="1187"/>
                </a:lnTo>
                <a:lnTo>
                  <a:pt x="4799" y="1245"/>
                </a:lnTo>
                <a:lnTo>
                  <a:pt x="4829" y="1305"/>
                </a:lnTo>
                <a:lnTo>
                  <a:pt x="4855" y="1365"/>
                </a:lnTo>
                <a:lnTo>
                  <a:pt x="4881" y="1427"/>
                </a:lnTo>
                <a:lnTo>
                  <a:pt x="4903" y="1489"/>
                </a:lnTo>
                <a:lnTo>
                  <a:pt x="4923" y="1551"/>
                </a:lnTo>
                <a:lnTo>
                  <a:pt x="4941" y="1613"/>
                </a:lnTo>
                <a:lnTo>
                  <a:pt x="4957" y="1677"/>
                </a:lnTo>
                <a:lnTo>
                  <a:pt x="4971" y="1741"/>
                </a:lnTo>
                <a:lnTo>
                  <a:pt x="4981" y="1805"/>
                </a:lnTo>
                <a:lnTo>
                  <a:pt x="4989" y="1869"/>
                </a:lnTo>
                <a:lnTo>
                  <a:pt x="4995" y="1935"/>
                </a:lnTo>
                <a:lnTo>
                  <a:pt x="4999" y="1999"/>
                </a:lnTo>
                <a:lnTo>
                  <a:pt x="5001" y="2065"/>
                </a:lnTo>
                <a:lnTo>
                  <a:pt x="5001" y="2129"/>
                </a:lnTo>
                <a:lnTo>
                  <a:pt x="4997" y="2195"/>
                </a:lnTo>
                <a:lnTo>
                  <a:pt x="4991" y="2259"/>
                </a:lnTo>
                <a:lnTo>
                  <a:pt x="4983" y="2325"/>
                </a:lnTo>
                <a:lnTo>
                  <a:pt x="4973" y="2389"/>
                </a:lnTo>
                <a:lnTo>
                  <a:pt x="4961" y="2453"/>
                </a:lnTo>
                <a:lnTo>
                  <a:pt x="4947" y="2517"/>
                </a:lnTo>
                <a:lnTo>
                  <a:pt x="4929" y="2579"/>
                </a:lnTo>
                <a:lnTo>
                  <a:pt x="4909" y="2643"/>
                </a:lnTo>
                <a:lnTo>
                  <a:pt x="4887" y="2705"/>
                </a:lnTo>
                <a:lnTo>
                  <a:pt x="4863" y="2765"/>
                </a:lnTo>
                <a:lnTo>
                  <a:pt x="4483" y="2765"/>
                </a:lnTo>
                <a:lnTo>
                  <a:pt x="4483" y="1867"/>
                </a:lnTo>
                <a:lnTo>
                  <a:pt x="3737" y="1867"/>
                </a:lnTo>
                <a:lnTo>
                  <a:pt x="3737" y="916"/>
                </a:lnTo>
                <a:lnTo>
                  <a:pt x="2707" y="916"/>
                </a:lnTo>
                <a:lnTo>
                  <a:pt x="2707" y="1481"/>
                </a:lnTo>
                <a:lnTo>
                  <a:pt x="1962" y="1481"/>
                </a:lnTo>
                <a:lnTo>
                  <a:pt x="1962" y="2765"/>
                </a:lnTo>
                <a:lnTo>
                  <a:pt x="1558" y="2765"/>
                </a:lnTo>
                <a:lnTo>
                  <a:pt x="1558" y="2765"/>
                </a:lnTo>
                <a:lnTo>
                  <a:pt x="1532" y="2705"/>
                </a:lnTo>
                <a:lnTo>
                  <a:pt x="1510" y="2643"/>
                </a:lnTo>
                <a:lnTo>
                  <a:pt x="1492" y="2579"/>
                </a:lnTo>
                <a:lnTo>
                  <a:pt x="1474" y="2517"/>
                </a:lnTo>
                <a:lnTo>
                  <a:pt x="1460" y="2453"/>
                </a:lnTo>
                <a:lnTo>
                  <a:pt x="1446" y="2389"/>
                </a:lnTo>
                <a:lnTo>
                  <a:pt x="1436" y="2325"/>
                </a:lnTo>
                <a:lnTo>
                  <a:pt x="1428" y="2259"/>
                </a:lnTo>
                <a:lnTo>
                  <a:pt x="1424" y="2195"/>
                </a:lnTo>
                <a:lnTo>
                  <a:pt x="1420" y="2129"/>
                </a:lnTo>
                <a:lnTo>
                  <a:pt x="1420" y="2065"/>
                </a:lnTo>
                <a:lnTo>
                  <a:pt x="1420" y="1999"/>
                </a:lnTo>
                <a:lnTo>
                  <a:pt x="1424" y="1935"/>
                </a:lnTo>
                <a:lnTo>
                  <a:pt x="1430" y="1869"/>
                </a:lnTo>
                <a:lnTo>
                  <a:pt x="1440" y="1805"/>
                </a:lnTo>
                <a:lnTo>
                  <a:pt x="1450" y="1741"/>
                </a:lnTo>
                <a:lnTo>
                  <a:pt x="1464" y="1677"/>
                </a:lnTo>
                <a:lnTo>
                  <a:pt x="1478" y="1613"/>
                </a:lnTo>
                <a:lnTo>
                  <a:pt x="1496" y="1551"/>
                </a:lnTo>
                <a:lnTo>
                  <a:pt x="1516" y="1489"/>
                </a:lnTo>
                <a:lnTo>
                  <a:pt x="1540" y="1427"/>
                </a:lnTo>
                <a:lnTo>
                  <a:pt x="1564" y="1365"/>
                </a:lnTo>
                <a:lnTo>
                  <a:pt x="1592" y="1305"/>
                </a:lnTo>
                <a:lnTo>
                  <a:pt x="1622" y="1245"/>
                </a:lnTo>
                <a:lnTo>
                  <a:pt x="1654" y="1187"/>
                </a:lnTo>
                <a:lnTo>
                  <a:pt x="1688" y="1129"/>
                </a:lnTo>
                <a:lnTo>
                  <a:pt x="1724" y="1073"/>
                </a:lnTo>
                <a:lnTo>
                  <a:pt x="1764" y="1017"/>
                </a:lnTo>
                <a:lnTo>
                  <a:pt x="1804" y="964"/>
                </a:lnTo>
                <a:lnTo>
                  <a:pt x="1848" y="910"/>
                </a:lnTo>
                <a:lnTo>
                  <a:pt x="1894" y="860"/>
                </a:lnTo>
                <a:lnTo>
                  <a:pt x="1942" y="808"/>
                </a:lnTo>
                <a:lnTo>
                  <a:pt x="1942" y="8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78175" tIns="39075" rIns="78175" bIns="39075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539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8006;p253">
            <a:extLst>
              <a:ext uri="{FF2B5EF4-FFF2-40B4-BE49-F238E27FC236}">
                <a16:creationId xmlns:a16="http://schemas.microsoft.com/office/drawing/2014/main" id="{EDD7C715-01ED-CA7C-7D30-CDDD74EDF929}"/>
              </a:ext>
            </a:extLst>
          </p:cNvPr>
          <p:cNvSpPr/>
          <p:nvPr/>
        </p:nvSpPr>
        <p:spPr>
          <a:xfrm>
            <a:off x="11279196" y="3108715"/>
            <a:ext cx="547200" cy="541004"/>
          </a:xfrm>
          <a:custGeom>
            <a:avLst/>
            <a:gdLst/>
            <a:ahLst/>
            <a:cxnLst/>
            <a:rect l="l" t="t" r="r" b="b"/>
            <a:pathLst>
              <a:path w="704" h="706" extrusionOk="0">
                <a:moveTo>
                  <a:pt x="0" y="0"/>
                </a:moveTo>
                <a:lnTo>
                  <a:pt x="0" y="706"/>
                </a:lnTo>
                <a:lnTo>
                  <a:pt x="704" y="706"/>
                </a:lnTo>
                <a:lnTo>
                  <a:pt x="704" y="0"/>
                </a:lnTo>
                <a:lnTo>
                  <a:pt x="0" y="0"/>
                </a:lnTo>
                <a:close/>
                <a:moveTo>
                  <a:pt x="675" y="31"/>
                </a:moveTo>
                <a:lnTo>
                  <a:pt x="675" y="85"/>
                </a:lnTo>
                <a:lnTo>
                  <a:pt x="476" y="85"/>
                </a:lnTo>
                <a:lnTo>
                  <a:pt x="382" y="169"/>
                </a:lnTo>
                <a:lnTo>
                  <a:pt x="289" y="169"/>
                </a:lnTo>
                <a:lnTo>
                  <a:pt x="196" y="254"/>
                </a:lnTo>
                <a:lnTo>
                  <a:pt x="31" y="254"/>
                </a:lnTo>
                <a:lnTo>
                  <a:pt x="31" y="31"/>
                </a:lnTo>
                <a:lnTo>
                  <a:pt x="675" y="31"/>
                </a:lnTo>
                <a:close/>
                <a:moveTo>
                  <a:pt x="300" y="510"/>
                </a:moveTo>
                <a:lnTo>
                  <a:pt x="237" y="452"/>
                </a:lnTo>
                <a:lnTo>
                  <a:pt x="675" y="452"/>
                </a:lnTo>
                <a:lnTo>
                  <a:pt x="675" y="510"/>
                </a:lnTo>
                <a:lnTo>
                  <a:pt x="300" y="510"/>
                </a:lnTo>
                <a:close/>
                <a:moveTo>
                  <a:pt x="675" y="539"/>
                </a:moveTo>
                <a:lnTo>
                  <a:pt x="675" y="595"/>
                </a:lnTo>
                <a:lnTo>
                  <a:pt x="487" y="595"/>
                </a:lnTo>
                <a:lnTo>
                  <a:pt x="427" y="539"/>
                </a:lnTo>
                <a:lnTo>
                  <a:pt x="675" y="539"/>
                </a:lnTo>
                <a:close/>
                <a:moveTo>
                  <a:pt x="31" y="423"/>
                </a:moveTo>
                <a:lnTo>
                  <a:pt x="31" y="368"/>
                </a:lnTo>
                <a:lnTo>
                  <a:pt x="675" y="368"/>
                </a:lnTo>
                <a:lnTo>
                  <a:pt x="675" y="423"/>
                </a:lnTo>
                <a:lnTo>
                  <a:pt x="31" y="423"/>
                </a:lnTo>
                <a:close/>
                <a:moveTo>
                  <a:pt x="31" y="338"/>
                </a:moveTo>
                <a:lnTo>
                  <a:pt x="31" y="283"/>
                </a:lnTo>
                <a:lnTo>
                  <a:pt x="675" y="283"/>
                </a:lnTo>
                <a:lnTo>
                  <a:pt x="675" y="338"/>
                </a:lnTo>
                <a:lnTo>
                  <a:pt x="31" y="338"/>
                </a:lnTo>
                <a:close/>
                <a:moveTo>
                  <a:pt x="240" y="254"/>
                </a:moveTo>
                <a:lnTo>
                  <a:pt x="300" y="199"/>
                </a:lnTo>
                <a:lnTo>
                  <a:pt x="675" y="199"/>
                </a:lnTo>
                <a:lnTo>
                  <a:pt x="675" y="254"/>
                </a:lnTo>
                <a:lnTo>
                  <a:pt x="240" y="254"/>
                </a:lnTo>
                <a:close/>
                <a:moveTo>
                  <a:pt x="427" y="169"/>
                </a:moveTo>
                <a:lnTo>
                  <a:pt x="487" y="114"/>
                </a:lnTo>
                <a:lnTo>
                  <a:pt x="675" y="114"/>
                </a:lnTo>
                <a:lnTo>
                  <a:pt x="675" y="169"/>
                </a:lnTo>
                <a:lnTo>
                  <a:pt x="427" y="169"/>
                </a:lnTo>
                <a:close/>
                <a:moveTo>
                  <a:pt x="31" y="675"/>
                </a:moveTo>
                <a:lnTo>
                  <a:pt x="31" y="452"/>
                </a:lnTo>
                <a:lnTo>
                  <a:pt x="192" y="452"/>
                </a:lnTo>
                <a:lnTo>
                  <a:pt x="289" y="539"/>
                </a:lnTo>
                <a:lnTo>
                  <a:pt x="382" y="539"/>
                </a:lnTo>
                <a:lnTo>
                  <a:pt x="476" y="624"/>
                </a:lnTo>
                <a:lnTo>
                  <a:pt x="675" y="624"/>
                </a:lnTo>
                <a:lnTo>
                  <a:pt x="675" y="675"/>
                </a:lnTo>
                <a:lnTo>
                  <a:pt x="31" y="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D04A02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34" name="Google Shape;18032;p253">
            <a:extLst>
              <a:ext uri="{FF2B5EF4-FFF2-40B4-BE49-F238E27FC236}">
                <a16:creationId xmlns:a16="http://schemas.microsoft.com/office/drawing/2014/main" id="{B28C96D3-A80C-98D9-A72F-B6F608A51AC0}"/>
              </a:ext>
            </a:extLst>
          </p:cNvPr>
          <p:cNvSpPr/>
          <p:nvPr/>
        </p:nvSpPr>
        <p:spPr>
          <a:xfrm>
            <a:off x="11252819" y="5401938"/>
            <a:ext cx="599953" cy="489936"/>
          </a:xfrm>
          <a:custGeom>
            <a:avLst/>
            <a:gdLst/>
            <a:ahLst/>
            <a:cxnLst/>
            <a:rect l="l" t="t" r="r" b="b"/>
            <a:pathLst>
              <a:path w="576" h="576" extrusionOk="0">
                <a:moveTo>
                  <a:pt x="553" y="552"/>
                </a:moveTo>
                <a:cubicBezTo>
                  <a:pt x="477" y="552"/>
                  <a:pt x="477" y="552"/>
                  <a:pt x="477" y="552"/>
                </a:cubicBezTo>
                <a:cubicBezTo>
                  <a:pt x="464" y="458"/>
                  <a:pt x="464" y="458"/>
                  <a:pt x="464" y="458"/>
                </a:cubicBezTo>
                <a:cubicBezTo>
                  <a:pt x="456" y="433"/>
                  <a:pt x="437" y="412"/>
                  <a:pt x="412" y="404"/>
                </a:cubicBezTo>
                <a:cubicBezTo>
                  <a:pt x="338" y="379"/>
                  <a:pt x="338" y="379"/>
                  <a:pt x="338" y="379"/>
                </a:cubicBezTo>
                <a:cubicBezTo>
                  <a:pt x="329" y="376"/>
                  <a:pt x="319" y="378"/>
                  <a:pt x="312" y="385"/>
                </a:cubicBezTo>
                <a:cubicBezTo>
                  <a:pt x="307" y="391"/>
                  <a:pt x="307" y="391"/>
                  <a:pt x="307" y="391"/>
                </a:cubicBezTo>
                <a:cubicBezTo>
                  <a:pt x="302" y="396"/>
                  <a:pt x="295" y="399"/>
                  <a:pt x="288" y="399"/>
                </a:cubicBezTo>
                <a:cubicBezTo>
                  <a:pt x="282" y="399"/>
                  <a:pt x="276" y="396"/>
                  <a:pt x="270" y="391"/>
                </a:cubicBezTo>
                <a:cubicBezTo>
                  <a:pt x="265" y="385"/>
                  <a:pt x="265" y="385"/>
                  <a:pt x="265" y="385"/>
                </a:cubicBezTo>
                <a:cubicBezTo>
                  <a:pt x="258" y="378"/>
                  <a:pt x="248" y="376"/>
                  <a:pt x="238" y="379"/>
                </a:cubicBezTo>
                <a:cubicBezTo>
                  <a:pt x="209" y="389"/>
                  <a:pt x="209" y="389"/>
                  <a:pt x="209" y="389"/>
                </a:cubicBezTo>
                <a:cubicBezTo>
                  <a:pt x="204" y="342"/>
                  <a:pt x="204" y="342"/>
                  <a:pt x="204" y="342"/>
                </a:cubicBezTo>
                <a:cubicBezTo>
                  <a:pt x="203" y="341"/>
                  <a:pt x="203" y="341"/>
                  <a:pt x="203" y="341"/>
                </a:cubicBezTo>
                <a:cubicBezTo>
                  <a:pt x="198" y="324"/>
                  <a:pt x="185" y="310"/>
                  <a:pt x="168" y="304"/>
                </a:cubicBezTo>
                <a:cubicBezTo>
                  <a:pt x="123" y="289"/>
                  <a:pt x="123" y="289"/>
                  <a:pt x="123" y="289"/>
                </a:cubicBezTo>
                <a:cubicBezTo>
                  <a:pt x="116" y="287"/>
                  <a:pt x="108" y="289"/>
                  <a:pt x="103" y="294"/>
                </a:cubicBezTo>
                <a:cubicBezTo>
                  <a:pt x="99" y="297"/>
                  <a:pt x="99" y="297"/>
                  <a:pt x="99" y="297"/>
                </a:cubicBezTo>
                <a:cubicBezTo>
                  <a:pt x="97" y="300"/>
                  <a:pt x="94" y="301"/>
                  <a:pt x="91" y="301"/>
                </a:cubicBezTo>
                <a:cubicBezTo>
                  <a:pt x="88" y="301"/>
                  <a:pt x="85" y="300"/>
                  <a:pt x="83" y="297"/>
                </a:cubicBezTo>
                <a:cubicBezTo>
                  <a:pt x="79" y="294"/>
                  <a:pt x="79" y="294"/>
                  <a:pt x="79" y="294"/>
                </a:cubicBezTo>
                <a:cubicBezTo>
                  <a:pt x="74" y="289"/>
                  <a:pt x="66" y="287"/>
                  <a:pt x="59" y="289"/>
                </a:cubicBezTo>
                <a:cubicBezTo>
                  <a:pt x="24" y="301"/>
                  <a:pt x="24" y="301"/>
                  <a:pt x="24" y="301"/>
                </a:cubicBezTo>
                <a:cubicBezTo>
                  <a:pt x="24" y="23"/>
                  <a:pt x="24" y="23"/>
                  <a:pt x="24" y="23"/>
                </a:cubicBezTo>
                <a:cubicBezTo>
                  <a:pt x="244" y="23"/>
                  <a:pt x="244" y="23"/>
                  <a:pt x="244" y="23"/>
                </a:cubicBezTo>
                <a:cubicBezTo>
                  <a:pt x="244" y="0"/>
                  <a:pt x="244" y="0"/>
                  <a:pt x="24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76"/>
                  <a:pt x="0" y="576"/>
                  <a:pt x="0" y="576"/>
                </a:cubicBezTo>
                <a:cubicBezTo>
                  <a:pt x="121" y="576"/>
                  <a:pt x="121" y="576"/>
                  <a:pt x="121" y="576"/>
                </a:cubicBezTo>
                <a:cubicBezTo>
                  <a:pt x="135" y="465"/>
                  <a:pt x="135" y="465"/>
                  <a:pt x="135" y="465"/>
                </a:cubicBezTo>
                <a:cubicBezTo>
                  <a:pt x="140" y="447"/>
                  <a:pt x="155" y="432"/>
                  <a:pt x="173" y="426"/>
                </a:cubicBezTo>
                <a:cubicBezTo>
                  <a:pt x="246" y="401"/>
                  <a:pt x="246" y="401"/>
                  <a:pt x="246" y="401"/>
                </a:cubicBezTo>
                <a:cubicBezTo>
                  <a:pt x="247" y="401"/>
                  <a:pt x="247" y="401"/>
                  <a:pt x="247" y="401"/>
                </a:cubicBezTo>
                <a:cubicBezTo>
                  <a:pt x="247" y="401"/>
                  <a:pt x="247" y="401"/>
                  <a:pt x="247" y="401"/>
                </a:cubicBezTo>
                <a:cubicBezTo>
                  <a:pt x="253" y="408"/>
                  <a:pt x="253" y="408"/>
                  <a:pt x="253" y="408"/>
                </a:cubicBezTo>
                <a:cubicBezTo>
                  <a:pt x="263" y="417"/>
                  <a:pt x="276" y="423"/>
                  <a:pt x="288" y="423"/>
                </a:cubicBezTo>
                <a:cubicBezTo>
                  <a:pt x="301" y="423"/>
                  <a:pt x="314" y="417"/>
                  <a:pt x="324" y="408"/>
                </a:cubicBezTo>
                <a:cubicBezTo>
                  <a:pt x="329" y="402"/>
                  <a:pt x="329" y="402"/>
                  <a:pt x="329" y="402"/>
                </a:cubicBezTo>
                <a:cubicBezTo>
                  <a:pt x="329" y="401"/>
                  <a:pt x="329" y="401"/>
                  <a:pt x="330" y="401"/>
                </a:cubicBezTo>
                <a:cubicBezTo>
                  <a:pt x="330" y="401"/>
                  <a:pt x="330" y="401"/>
                  <a:pt x="330" y="401"/>
                </a:cubicBezTo>
                <a:cubicBezTo>
                  <a:pt x="404" y="426"/>
                  <a:pt x="404" y="426"/>
                  <a:pt x="404" y="426"/>
                </a:cubicBezTo>
                <a:cubicBezTo>
                  <a:pt x="422" y="432"/>
                  <a:pt x="436" y="447"/>
                  <a:pt x="441" y="463"/>
                </a:cubicBezTo>
                <a:cubicBezTo>
                  <a:pt x="456" y="576"/>
                  <a:pt x="456" y="576"/>
                  <a:pt x="45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266"/>
                  <a:pt x="576" y="266"/>
                  <a:pt x="576" y="266"/>
                </a:cubicBezTo>
                <a:cubicBezTo>
                  <a:pt x="553" y="266"/>
                  <a:pt x="553" y="266"/>
                  <a:pt x="553" y="266"/>
                </a:cubicBezTo>
                <a:lnTo>
                  <a:pt x="553" y="552"/>
                </a:lnTo>
                <a:close/>
                <a:moveTo>
                  <a:pt x="100" y="552"/>
                </a:moveTo>
                <a:cubicBezTo>
                  <a:pt x="24" y="552"/>
                  <a:pt x="24" y="552"/>
                  <a:pt x="24" y="552"/>
                </a:cubicBezTo>
                <a:cubicBezTo>
                  <a:pt x="24" y="326"/>
                  <a:pt x="24" y="326"/>
                  <a:pt x="24" y="326"/>
                </a:cubicBezTo>
                <a:cubicBezTo>
                  <a:pt x="64" y="313"/>
                  <a:pt x="64" y="313"/>
                  <a:pt x="64" y="313"/>
                </a:cubicBezTo>
                <a:cubicBezTo>
                  <a:pt x="66" y="314"/>
                  <a:pt x="66" y="314"/>
                  <a:pt x="66" y="314"/>
                </a:cubicBezTo>
                <a:cubicBezTo>
                  <a:pt x="72" y="321"/>
                  <a:pt x="82" y="324"/>
                  <a:pt x="91" y="324"/>
                </a:cubicBezTo>
                <a:cubicBezTo>
                  <a:pt x="101" y="324"/>
                  <a:pt x="109" y="321"/>
                  <a:pt x="116" y="314"/>
                </a:cubicBezTo>
                <a:cubicBezTo>
                  <a:pt x="118" y="313"/>
                  <a:pt x="118" y="313"/>
                  <a:pt x="118" y="313"/>
                </a:cubicBezTo>
                <a:cubicBezTo>
                  <a:pt x="160" y="326"/>
                  <a:pt x="160" y="326"/>
                  <a:pt x="160" y="326"/>
                </a:cubicBezTo>
                <a:cubicBezTo>
                  <a:pt x="169" y="330"/>
                  <a:pt x="177" y="338"/>
                  <a:pt x="180" y="347"/>
                </a:cubicBezTo>
                <a:cubicBezTo>
                  <a:pt x="186" y="396"/>
                  <a:pt x="186" y="396"/>
                  <a:pt x="186" y="396"/>
                </a:cubicBezTo>
                <a:cubicBezTo>
                  <a:pt x="165" y="404"/>
                  <a:pt x="165" y="404"/>
                  <a:pt x="165" y="404"/>
                </a:cubicBezTo>
                <a:cubicBezTo>
                  <a:pt x="139" y="413"/>
                  <a:pt x="120" y="433"/>
                  <a:pt x="112" y="460"/>
                </a:cubicBezTo>
                <a:lnTo>
                  <a:pt x="100" y="552"/>
                </a:lnTo>
                <a:close/>
                <a:moveTo>
                  <a:pt x="289" y="186"/>
                </a:moveTo>
                <a:cubicBezTo>
                  <a:pt x="252" y="186"/>
                  <a:pt x="222" y="219"/>
                  <a:pt x="222" y="260"/>
                </a:cubicBezTo>
                <a:cubicBezTo>
                  <a:pt x="222" y="301"/>
                  <a:pt x="229" y="329"/>
                  <a:pt x="244" y="345"/>
                </a:cubicBezTo>
                <a:cubicBezTo>
                  <a:pt x="257" y="360"/>
                  <a:pt x="268" y="371"/>
                  <a:pt x="289" y="371"/>
                </a:cubicBezTo>
                <a:cubicBezTo>
                  <a:pt x="311" y="371"/>
                  <a:pt x="323" y="358"/>
                  <a:pt x="334" y="345"/>
                </a:cubicBezTo>
                <a:cubicBezTo>
                  <a:pt x="349" y="329"/>
                  <a:pt x="357" y="300"/>
                  <a:pt x="357" y="260"/>
                </a:cubicBezTo>
                <a:cubicBezTo>
                  <a:pt x="357" y="219"/>
                  <a:pt x="326" y="186"/>
                  <a:pt x="289" y="186"/>
                </a:cubicBezTo>
                <a:close/>
                <a:moveTo>
                  <a:pt x="289" y="347"/>
                </a:moveTo>
                <a:cubicBezTo>
                  <a:pt x="280" y="347"/>
                  <a:pt x="274" y="343"/>
                  <a:pt x="262" y="330"/>
                </a:cubicBezTo>
                <a:cubicBezTo>
                  <a:pt x="251" y="318"/>
                  <a:pt x="246" y="294"/>
                  <a:pt x="246" y="260"/>
                </a:cubicBezTo>
                <a:cubicBezTo>
                  <a:pt x="246" y="232"/>
                  <a:pt x="265" y="210"/>
                  <a:pt x="289" y="210"/>
                </a:cubicBezTo>
                <a:cubicBezTo>
                  <a:pt x="313" y="210"/>
                  <a:pt x="333" y="232"/>
                  <a:pt x="333" y="260"/>
                </a:cubicBezTo>
                <a:cubicBezTo>
                  <a:pt x="333" y="292"/>
                  <a:pt x="327" y="317"/>
                  <a:pt x="317" y="330"/>
                </a:cubicBezTo>
                <a:cubicBezTo>
                  <a:pt x="304" y="343"/>
                  <a:pt x="299" y="347"/>
                  <a:pt x="289" y="347"/>
                </a:cubicBezTo>
                <a:close/>
                <a:moveTo>
                  <a:pt x="46" y="206"/>
                </a:moveTo>
                <a:cubicBezTo>
                  <a:pt x="46" y="232"/>
                  <a:pt x="51" y="251"/>
                  <a:pt x="61" y="261"/>
                </a:cubicBezTo>
                <a:cubicBezTo>
                  <a:pt x="69" y="271"/>
                  <a:pt x="77" y="279"/>
                  <a:pt x="92" y="279"/>
                </a:cubicBezTo>
                <a:cubicBezTo>
                  <a:pt x="107" y="279"/>
                  <a:pt x="116" y="270"/>
                  <a:pt x="123" y="261"/>
                </a:cubicBezTo>
                <a:cubicBezTo>
                  <a:pt x="133" y="251"/>
                  <a:pt x="138" y="232"/>
                  <a:pt x="138" y="206"/>
                </a:cubicBezTo>
                <a:cubicBezTo>
                  <a:pt x="138" y="178"/>
                  <a:pt x="118" y="156"/>
                  <a:pt x="92" y="156"/>
                </a:cubicBezTo>
                <a:cubicBezTo>
                  <a:pt x="66" y="156"/>
                  <a:pt x="46" y="178"/>
                  <a:pt x="46" y="206"/>
                </a:cubicBezTo>
                <a:close/>
                <a:moveTo>
                  <a:pt x="92" y="255"/>
                </a:moveTo>
                <a:cubicBezTo>
                  <a:pt x="88" y="255"/>
                  <a:pt x="86" y="254"/>
                  <a:pt x="79" y="246"/>
                </a:cubicBezTo>
                <a:cubicBezTo>
                  <a:pt x="73" y="239"/>
                  <a:pt x="70" y="226"/>
                  <a:pt x="70" y="206"/>
                </a:cubicBezTo>
                <a:cubicBezTo>
                  <a:pt x="70" y="191"/>
                  <a:pt x="79" y="180"/>
                  <a:pt x="92" y="180"/>
                </a:cubicBezTo>
                <a:cubicBezTo>
                  <a:pt x="104" y="180"/>
                  <a:pt x="114" y="192"/>
                  <a:pt x="114" y="206"/>
                </a:cubicBezTo>
                <a:cubicBezTo>
                  <a:pt x="114" y="224"/>
                  <a:pt x="111" y="239"/>
                  <a:pt x="106" y="246"/>
                </a:cubicBezTo>
                <a:cubicBezTo>
                  <a:pt x="98" y="254"/>
                  <a:pt x="95" y="255"/>
                  <a:pt x="92" y="255"/>
                </a:cubicBezTo>
                <a:close/>
                <a:moveTo>
                  <a:pt x="576" y="0"/>
                </a:moveTo>
                <a:cubicBezTo>
                  <a:pt x="576" y="237"/>
                  <a:pt x="576" y="237"/>
                  <a:pt x="576" y="237"/>
                </a:cubicBezTo>
                <a:cubicBezTo>
                  <a:pt x="522" y="237"/>
                  <a:pt x="522" y="237"/>
                  <a:pt x="522" y="237"/>
                </a:cubicBezTo>
                <a:cubicBezTo>
                  <a:pt x="423" y="334"/>
                  <a:pt x="423" y="334"/>
                  <a:pt x="423" y="334"/>
                </a:cubicBezTo>
                <a:cubicBezTo>
                  <a:pt x="423" y="237"/>
                  <a:pt x="423" y="237"/>
                  <a:pt x="423" y="237"/>
                </a:cubicBezTo>
                <a:cubicBezTo>
                  <a:pt x="381" y="237"/>
                  <a:pt x="381" y="237"/>
                  <a:pt x="381" y="237"/>
                </a:cubicBezTo>
                <a:cubicBezTo>
                  <a:pt x="381" y="214"/>
                  <a:pt x="381" y="214"/>
                  <a:pt x="381" y="214"/>
                </a:cubicBezTo>
                <a:cubicBezTo>
                  <a:pt x="446" y="214"/>
                  <a:pt x="446" y="214"/>
                  <a:pt x="446" y="214"/>
                </a:cubicBezTo>
                <a:cubicBezTo>
                  <a:pt x="446" y="282"/>
                  <a:pt x="446" y="282"/>
                  <a:pt x="446" y="282"/>
                </a:cubicBezTo>
                <a:cubicBezTo>
                  <a:pt x="513" y="214"/>
                  <a:pt x="513" y="214"/>
                  <a:pt x="513" y="214"/>
                </a:cubicBezTo>
                <a:cubicBezTo>
                  <a:pt x="554" y="214"/>
                  <a:pt x="554" y="214"/>
                  <a:pt x="554" y="214"/>
                </a:cubicBezTo>
                <a:cubicBezTo>
                  <a:pt x="554" y="22"/>
                  <a:pt x="554" y="22"/>
                  <a:pt x="554" y="22"/>
                </a:cubicBezTo>
                <a:cubicBezTo>
                  <a:pt x="300" y="22"/>
                  <a:pt x="300" y="22"/>
                  <a:pt x="300" y="22"/>
                </a:cubicBezTo>
                <a:cubicBezTo>
                  <a:pt x="300" y="161"/>
                  <a:pt x="300" y="161"/>
                  <a:pt x="300" y="161"/>
                </a:cubicBezTo>
                <a:cubicBezTo>
                  <a:pt x="279" y="161"/>
                  <a:pt x="279" y="161"/>
                  <a:pt x="279" y="161"/>
                </a:cubicBezTo>
                <a:cubicBezTo>
                  <a:pt x="279" y="0"/>
                  <a:pt x="279" y="0"/>
                  <a:pt x="279" y="0"/>
                </a:cubicBezTo>
                <a:lnTo>
                  <a:pt x="576" y="0"/>
                </a:lnTo>
                <a:close/>
                <a:moveTo>
                  <a:pt x="498" y="104"/>
                </a:moveTo>
                <a:cubicBezTo>
                  <a:pt x="356" y="104"/>
                  <a:pt x="356" y="104"/>
                  <a:pt x="356" y="104"/>
                </a:cubicBezTo>
                <a:cubicBezTo>
                  <a:pt x="356" y="82"/>
                  <a:pt x="356" y="82"/>
                  <a:pt x="356" y="82"/>
                </a:cubicBezTo>
                <a:cubicBezTo>
                  <a:pt x="498" y="82"/>
                  <a:pt x="498" y="82"/>
                  <a:pt x="498" y="82"/>
                </a:cubicBezTo>
                <a:lnTo>
                  <a:pt x="498" y="104"/>
                </a:lnTo>
                <a:close/>
                <a:moveTo>
                  <a:pt x="356" y="132"/>
                </a:moveTo>
                <a:cubicBezTo>
                  <a:pt x="498" y="132"/>
                  <a:pt x="498" y="132"/>
                  <a:pt x="498" y="132"/>
                </a:cubicBezTo>
                <a:cubicBezTo>
                  <a:pt x="498" y="153"/>
                  <a:pt x="498" y="153"/>
                  <a:pt x="498" y="153"/>
                </a:cubicBezTo>
                <a:cubicBezTo>
                  <a:pt x="356" y="153"/>
                  <a:pt x="356" y="153"/>
                  <a:pt x="356" y="153"/>
                </a:cubicBezTo>
                <a:lnTo>
                  <a:pt x="356" y="1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D04A02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52002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1C619-D324-EAFF-E2D4-ED14EB6D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5A7B9526-3EF1-CA96-A7A4-4E085C56038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B1BF9E-996D-260B-4BA1-DFE97A1CBD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6E7A9DE-1A83-96AC-240A-18DA4F0A3FAF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8C92D53-E4F0-F175-2D32-2F48238D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34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A204E8-9D16-11CA-2AEB-67F24C8DB36D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Google Shape;105;p15">
            <a:extLst>
              <a:ext uri="{FF2B5EF4-FFF2-40B4-BE49-F238E27FC236}">
                <a16:creationId xmlns:a16="http://schemas.microsoft.com/office/drawing/2014/main" id="{22A1309D-1DDA-4768-27D1-0C4ECBE26B33}"/>
              </a:ext>
            </a:extLst>
          </p:cNvPr>
          <p:cNvSpPr/>
          <p:nvPr/>
        </p:nvSpPr>
        <p:spPr>
          <a:xfrm>
            <a:off x="3907200" y="100998"/>
            <a:ext cx="4377600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ea typeface="Calibri"/>
                <a:cs typeface="Calibri"/>
                <a:sym typeface="Calibri"/>
              </a:rPr>
              <a:t>Daftar </a:t>
            </a: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Referensi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19F579-191D-0B37-ABC3-6D859CF6442B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CA825-B844-0729-CC1F-F9DAFF221DD2}"/>
              </a:ext>
            </a:extLst>
          </p:cNvPr>
          <p:cNvSpPr txBox="1"/>
          <p:nvPr/>
        </p:nvSpPr>
        <p:spPr>
          <a:xfrm>
            <a:off x="1716733" y="1412558"/>
            <a:ext cx="1020422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000" dirty="0"/>
              <a:t>Adebiyi, A. A., Adewumi, A. O., and Ayo, C. K. (2014). Comparison of ARIMA and artificial neural networks models for stock price prediction. </a:t>
            </a:r>
            <a:r>
              <a:rPr lang="en-ID" sz="1000" i="1" dirty="0"/>
              <a:t>Journal of Applied Mathematics</a:t>
            </a:r>
            <a:r>
              <a:rPr lang="en-ID" sz="1000" dirty="0"/>
              <a:t>, 2014:1–7.</a:t>
            </a:r>
          </a:p>
          <a:p>
            <a:r>
              <a:rPr lang="en-ID" sz="1000" dirty="0"/>
              <a:t>Arthur, W. B. (1999). Complexity and the economy. </a:t>
            </a:r>
            <a:r>
              <a:rPr lang="en-ID" sz="1000" i="1" dirty="0"/>
              <a:t>Science</a:t>
            </a:r>
            <a:r>
              <a:rPr lang="en-ID" sz="1000" dirty="0"/>
              <a:t>, 284(5411):107–109.</a:t>
            </a:r>
          </a:p>
          <a:p>
            <a:r>
              <a:rPr lang="en-ID" sz="1000" dirty="0"/>
              <a:t>Bao, W., Yue, J., and Rao, Y. (2017). A deep learning framework for financial time series using stacked autoencoders and long-short term memory. </a:t>
            </a:r>
            <a:r>
              <a:rPr lang="en-ID" sz="1000" i="1" dirty="0" err="1"/>
              <a:t>PLoS</a:t>
            </a:r>
            <a:r>
              <a:rPr lang="en-ID" sz="1000" i="1" dirty="0"/>
              <a:t> ONE</a:t>
            </a:r>
            <a:r>
              <a:rPr lang="en-ID" sz="1000" dirty="0"/>
              <a:t>, 12(7):e0180944.</a:t>
            </a:r>
          </a:p>
          <a:p>
            <a:r>
              <a:rPr lang="en-ID" sz="1000" dirty="0" err="1"/>
              <a:t>Baydin</a:t>
            </a:r>
            <a:r>
              <a:rPr lang="en-ID" sz="1000" dirty="0"/>
              <a:t>, A. G., Pearlmutter, B. A., Radul, A. A., and Siskind, J. M. (2018). Automatic differentiation in machine learning: A survey. </a:t>
            </a:r>
            <a:r>
              <a:rPr lang="en-ID" sz="1000" i="1" dirty="0"/>
              <a:t>Journal of Machine Learning Research</a:t>
            </a:r>
            <a:r>
              <a:rPr lang="en-ID" sz="1000" dirty="0"/>
              <a:t>, 18(153):1–43.</a:t>
            </a:r>
          </a:p>
          <a:p>
            <a:r>
              <a:rPr lang="en-ID" sz="1000" dirty="0"/>
              <a:t>Bengio, Y., Simard, P., and </a:t>
            </a:r>
            <a:r>
              <a:rPr lang="en-ID" sz="1000" dirty="0" err="1"/>
              <a:t>Frasconi</a:t>
            </a:r>
            <a:r>
              <a:rPr lang="en-ID" sz="1000" dirty="0"/>
              <a:t>, P. (1994). Learning long-term dependencies with gradient descent is difficult. </a:t>
            </a:r>
            <a:r>
              <a:rPr lang="en-ID" sz="1000" i="1" dirty="0"/>
              <a:t>IEEE Transactions on Neural Networks</a:t>
            </a:r>
            <a:r>
              <a:rPr lang="en-ID" sz="1000" dirty="0"/>
              <a:t>, 5(2):157–166.</a:t>
            </a:r>
          </a:p>
          <a:p>
            <a:r>
              <a:rPr lang="en-ID" sz="1000" dirty="0" err="1"/>
              <a:t>Bergmeir</a:t>
            </a:r>
            <a:r>
              <a:rPr lang="en-ID" sz="1000" dirty="0"/>
              <a:t>, C. and Benítez, J. M. (2012). On the use of cross-validation for time series predictor evaluation. </a:t>
            </a:r>
            <a:r>
              <a:rPr lang="en-ID" sz="1000" i="1" dirty="0"/>
              <a:t>Information Sciences</a:t>
            </a:r>
            <a:r>
              <a:rPr lang="en-ID" sz="1000" dirty="0"/>
              <a:t>, 191:192–213.</a:t>
            </a:r>
          </a:p>
          <a:p>
            <a:r>
              <a:rPr lang="en-ID" sz="1000" dirty="0"/>
              <a:t>Bursa </a:t>
            </a:r>
            <a:r>
              <a:rPr lang="en-ID" sz="1000" dirty="0" err="1"/>
              <a:t>Efek</a:t>
            </a:r>
            <a:r>
              <a:rPr lang="en-ID" sz="1000" dirty="0"/>
              <a:t> Indonesia (2022). </a:t>
            </a:r>
            <a:r>
              <a:rPr lang="en-ID" sz="1000" dirty="0" err="1"/>
              <a:t>Indeks</a:t>
            </a:r>
            <a:r>
              <a:rPr lang="en-ID" sz="1000" dirty="0"/>
              <a:t> </a:t>
            </a:r>
            <a:r>
              <a:rPr lang="en-ID" sz="1000" dirty="0" err="1"/>
              <a:t>saham</a:t>
            </a:r>
            <a:r>
              <a:rPr lang="en-ID" sz="1000" dirty="0"/>
              <a:t> LQ45. </a:t>
            </a:r>
            <a:r>
              <a:rPr lang="en-ID" sz="1000" dirty="0">
                <a:hlinkClick r:id="rId6"/>
              </a:rPr>
              <a:t>https://www.idx.co.id/</a:t>
            </a:r>
            <a:r>
              <a:rPr lang="en-ID" sz="1000" dirty="0"/>
              <a:t>. </a:t>
            </a:r>
            <a:r>
              <a:rPr lang="en-ID" sz="1000" dirty="0" err="1"/>
              <a:t>Diakses</a:t>
            </a:r>
            <a:r>
              <a:rPr lang="en-ID" sz="1000" dirty="0"/>
              <a:t> 2025.</a:t>
            </a:r>
          </a:p>
          <a:p>
            <a:r>
              <a:rPr lang="en-ID" sz="1000" dirty="0"/>
              <a:t>Bursa </a:t>
            </a:r>
            <a:r>
              <a:rPr lang="en-ID" sz="1000" dirty="0" err="1"/>
              <a:t>Efek</a:t>
            </a:r>
            <a:r>
              <a:rPr lang="en-ID" sz="1000" dirty="0"/>
              <a:t> Indonesia (2024). </a:t>
            </a:r>
            <a:r>
              <a:rPr lang="en-ID" sz="1000" dirty="0" err="1"/>
              <a:t>Statistik</a:t>
            </a:r>
            <a:r>
              <a:rPr lang="en-ID" sz="1000" dirty="0"/>
              <a:t> pasar modal </a:t>
            </a:r>
            <a:r>
              <a:rPr lang="en-ID" sz="1000" dirty="0" err="1"/>
              <a:t>indonesia</a:t>
            </a:r>
            <a:r>
              <a:rPr lang="en-ID" sz="1000" dirty="0"/>
              <a:t> 2024. </a:t>
            </a:r>
            <a:r>
              <a:rPr lang="en-ID" sz="1000" dirty="0">
                <a:hlinkClick r:id="rId6"/>
              </a:rPr>
              <a:t>https://www.idx.co.id/</a:t>
            </a:r>
            <a:r>
              <a:rPr lang="en-ID" sz="1000" dirty="0"/>
              <a:t>. </a:t>
            </a:r>
            <a:r>
              <a:rPr lang="en-ID" sz="1000" dirty="0" err="1"/>
              <a:t>Diakses</a:t>
            </a:r>
            <a:r>
              <a:rPr lang="en-ID" sz="1000" dirty="0"/>
              <a:t> 2025.</a:t>
            </a:r>
          </a:p>
          <a:p>
            <a:r>
              <a:rPr lang="en-ID" sz="1000" dirty="0"/>
              <a:t>Bursa </a:t>
            </a:r>
            <a:r>
              <a:rPr lang="en-ID" sz="1000" dirty="0" err="1"/>
              <a:t>Efek</a:t>
            </a:r>
            <a:r>
              <a:rPr lang="en-ID" sz="1000" dirty="0"/>
              <a:t> Indonesia (2025). Data </a:t>
            </a:r>
            <a:r>
              <a:rPr lang="en-ID" sz="1000" dirty="0" err="1"/>
              <a:t>historis</a:t>
            </a:r>
            <a:r>
              <a:rPr lang="en-ID" sz="1000" dirty="0"/>
              <a:t> </a:t>
            </a:r>
            <a:r>
              <a:rPr lang="en-ID" sz="1000" dirty="0" err="1"/>
              <a:t>indeks</a:t>
            </a:r>
            <a:r>
              <a:rPr lang="en-ID" sz="1000" dirty="0"/>
              <a:t> LQ45 </a:t>
            </a:r>
            <a:r>
              <a:rPr lang="en-ID" sz="1000" dirty="0" err="1"/>
              <a:t>tahun</a:t>
            </a:r>
            <a:r>
              <a:rPr lang="en-ID" sz="1000" dirty="0"/>
              <a:t> 2025. </a:t>
            </a:r>
            <a:r>
              <a:rPr lang="en-ID" sz="1000" dirty="0">
                <a:hlinkClick r:id="rId6"/>
              </a:rPr>
              <a:t>https://www.idx.co.id/</a:t>
            </a:r>
            <a:r>
              <a:rPr lang="en-ID" sz="1000" dirty="0"/>
              <a:t>. </a:t>
            </a:r>
            <a:r>
              <a:rPr lang="en-ID" sz="1000" dirty="0" err="1"/>
              <a:t>Diakses</a:t>
            </a:r>
            <a:r>
              <a:rPr lang="en-ID" sz="1000" dirty="0"/>
              <a:t> 2025.</a:t>
            </a:r>
          </a:p>
          <a:p>
            <a:r>
              <a:rPr lang="en-ID" sz="1000" dirty="0"/>
              <a:t>Chai, T. and Draxler, R. R. (2014). Root mean square error (RMSE) or mean absolute error (MAE)? – arguments against avoiding RMSE in the literature. </a:t>
            </a:r>
            <a:r>
              <a:rPr lang="en-ID" sz="1000" i="1" dirty="0"/>
              <a:t>Geoscientific Model Development</a:t>
            </a:r>
            <a:r>
              <a:rPr lang="en-ID" sz="1000" dirty="0"/>
              <a:t>, 7(3):1247–1250.</a:t>
            </a:r>
          </a:p>
          <a:p>
            <a:r>
              <a:rPr lang="en-ID" sz="1000" dirty="0"/>
              <a:t>Chen, R. T. Q., </a:t>
            </a:r>
            <a:r>
              <a:rPr lang="en-ID" sz="1000" dirty="0" err="1"/>
              <a:t>Rubanova</a:t>
            </a:r>
            <a:r>
              <a:rPr lang="en-ID" sz="1000" dirty="0"/>
              <a:t>, Y., Bettencourt, J., and </a:t>
            </a:r>
            <a:r>
              <a:rPr lang="en-ID" sz="1000" dirty="0" err="1"/>
              <a:t>Duvenaud</a:t>
            </a:r>
            <a:r>
              <a:rPr lang="en-ID" sz="1000" dirty="0"/>
              <a:t>, D. K. (2018). Neural ordinary differential equations. In </a:t>
            </a:r>
            <a:r>
              <a:rPr lang="en-ID" sz="1000" i="1" dirty="0"/>
              <a:t>Advances in Neural Information Processing Systems (</a:t>
            </a:r>
            <a:r>
              <a:rPr lang="en-ID" sz="1000" i="1" dirty="0" err="1"/>
              <a:t>NeurIPS</a:t>
            </a:r>
            <a:r>
              <a:rPr lang="en-ID" sz="1000" i="1" dirty="0"/>
              <a:t>)</a:t>
            </a:r>
            <a:r>
              <a:rPr lang="en-ID" sz="1000" dirty="0"/>
              <a:t>.</a:t>
            </a:r>
          </a:p>
          <a:p>
            <a:r>
              <a:rPr lang="en-ID" sz="1000" dirty="0"/>
              <a:t>Cho, K., van </a:t>
            </a:r>
            <a:r>
              <a:rPr lang="en-ID" sz="1000" dirty="0" err="1"/>
              <a:t>Merriënboer</a:t>
            </a:r>
            <a:r>
              <a:rPr lang="en-ID" sz="1000" dirty="0"/>
              <a:t>, B., </a:t>
            </a:r>
            <a:r>
              <a:rPr lang="en-ID" sz="1000" dirty="0" err="1"/>
              <a:t>Gulcehre</a:t>
            </a:r>
            <a:r>
              <a:rPr lang="en-ID" sz="1000" dirty="0"/>
              <a:t>, C., </a:t>
            </a:r>
            <a:r>
              <a:rPr lang="en-ID" sz="1000" dirty="0" err="1"/>
              <a:t>Bahdanau</a:t>
            </a:r>
            <a:r>
              <a:rPr lang="en-ID" sz="1000" dirty="0"/>
              <a:t>, D., </a:t>
            </a:r>
            <a:r>
              <a:rPr lang="en-ID" sz="1000" dirty="0" err="1"/>
              <a:t>Bougares</a:t>
            </a:r>
            <a:r>
              <a:rPr lang="en-ID" sz="1000" dirty="0"/>
              <a:t>, F., Schwenk, H., and Bengio, Y. (2014). Learning phrase representations using RNN encoder–decoder for statistical machine translation. In </a:t>
            </a:r>
            <a:r>
              <a:rPr lang="en-ID" sz="1000" i="1" dirty="0"/>
              <a:t>Proceedings of the 2014 Conference on Empirical Methods in Natural Language Processing (EMNLP)</a:t>
            </a:r>
            <a:r>
              <a:rPr lang="en-ID" sz="1000" dirty="0"/>
              <a:t>, pages 1724–1734.</a:t>
            </a:r>
          </a:p>
          <a:p>
            <a:r>
              <a:rPr lang="en-ID" sz="1000" dirty="0"/>
              <a:t>Chung, J., </a:t>
            </a:r>
            <a:r>
              <a:rPr lang="en-ID" sz="1000" dirty="0" err="1"/>
              <a:t>Gulcehre</a:t>
            </a:r>
            <a:r>
              <a:rPr lang="en-ID" sz="1000" dirty="0"/>
              <a:t>, C., Cho, K., and Bengio, Y. (2014). Empirical evaluation of gated recurrent neural networks on sequence </a:t>
            </a:r>
            <a:r>
              <a:rPr lang="en-ID" sz="1000" dirty="0" err="1"/>
              <a:t>modeling</a:t>
            </a:r>
            <a:r>
              <a:rPr lang="en-ID" sz="1000" dirty="0"/>
              <a:t>. In </a:t>
            </a:r>
            <a:r>
              <a:rPr lang="en-ID" sz="1000" i="1" dirty="0"/>
              <a:t>NIPS 2014 Workshop on Deep Learning and Representation Learning</a:t>
            </a:r>
            <a:r>
              <a:rPr lang="en-ID" sz="1000" dirty="0"/>
              <a:t>. arXiv:1412.3555.</a:t>
            </a:r>
          </a:p>
          <a:p>
            <a:r>
              <a:rPr lang="en-ID" sz="1000" dirty="0"/>
              <a:t>Cryer, J. D. and Chan, K.-S. (2008). </a:t>
            </a:r>
            <a:r>
              <a:rPr lang="en-ID" sz="1000" i="1" dirty="0"/>
              <a:t>Time Series Analysis: With Applications in R</a:t>
            </a:r>
            <a:r>
              <a:rPr lang="en-ID" sz="1000" dirty="0"/>
              <a:t>. Springer, 2 edition.</a:t>
            </a:r>
          </a:p>
          <a:p>
            <a:r>
              <a:rPr lang="en-ID" sz="1000" dirty="0"/>
              <a:t>De Brouwer, E., Simm, J., Arany, A., and Moreau, Y. (2019). GRU-ODE-Bayes: Continuous </a:t>
            </a:r>
            <a:r>
              <a:rPr lang="en-ID" sz="1000" dirty="0" err="1"/>
              <a:t>modeling</a:t>
            </a:r>
            <a:r>
              <a:rPr lang="en-ID" sz="1000" dirty="0"/>
              <a:t> of sporadically-observed time series. In </a:t>
            </a:r>
            <a:r>
              <a:rPr lang="en-ID" sz="1000" i="1" dirty="0"/>
              <a:t>Advances in Neural Information Processing Systems 32 (</a:t>
            </a:r>
            <a:r>
              <a:rPr lang="en-ID" sz="1000" i="1" dirty="0" err="1"/>
              <a:t>NeurIPS</a:t>
            </a:r>
            <a:r>
              <a:rPr lang="en-ID" sz="1000" i="1" dirty="0"/>
              <a:t> 2019)</a:t>
            </a:r>
            <a:r>
              <a:rPr lang="en-ID" sz="1000" dirty="0"/>
              <a:t>, pages 7379–7390.</a:t>
            </a:r>
          </a:p>
          <a:p>
            <a:r>
              <a:rPr lang="en-ID" sz="1000" dirty="0" err="1"/>
              <a:t>GeeksforGeeks</a:t>
            </a:r>
            <a:r>
              <a:rPr lang="en-ID" sz="1000" dirty="0"/>
              <a:t> (2025). Backpropagation in neural network. </a:t>
            </a:r>
            <a:r>
              <a:rPr lang="en-ID" sz="1000" dirty="0" err="1"/>
              <a:t>Diakses</a:t>
            </a:r>
            <a:r>
              <a:rPr lang="en-ID" sz="1000" dirty="0"/>
              <a:t> pada: 25 Mei 2026.</a:t>
            </a:r>
          </a:p>
          <a:p>
            <a:r>
              <a:rPr lang="en-ID" sz="1000" dirty="0" err="1"/>
              <a:t>GeeksforGeeks</a:t>
            </a:r>
            <a:r>
              <a:rPr lang="en-ID" sz="1000" dirty="0"/>
              <a:t> (2026). Derivative of the sigmoid function. </a:t>
            </a:r>
            <a:r>
              <a:rPr lang="en-ID" sz="1000" dirty="0" err="1"/>
              <a:t>Diakses</a:t>
            </a:r>
            <a:r>
              <a:rPr lang="en-ID" sz="1000" dirty="0"/>
              <a:t> pada 25 Mei 2026.</a:t>
            </a:r>
          </a:p>
          <a:p>
            <a:r>
              <a:rPr lang="en-ID" sz="1000" dirty="0" err="1"/>
              <a:t>Glorot</a:t>
            </a:r>
            <a:r>
              <a:rPr lang="en-ID" sz="1000" dirty="0"/>
              <a:t>, X. and Bengio, Y. (2010). Understanding the difficulty of training deep feedforward neural networks. In </a:t>
            </a:r>
            <a:r>
              <a:rPr lang="en-ID" sz="1000" i="1" dirty="0"/>
              <a:t>Proceedings of the 13th International Conference on Artificial Intelligence and Statistics (AISTATS)</a:t>
            </a:r>
            <a:r>
              <a:rPr lang="en-ID" sz="1000" dirty="0"/>
              <a:t>, volume 9 of </a:t>
            </a:r>
            <a:r>
              <a:rPr lang="en-ID" sz="1000" i="1" dirty="0"/>
              <a:t>Proceedings of Machine Learning Research</a:t>
            </a:r>
            <a:r>
              <a:rPr lang="en-ID" sz="1000" dirty="0"/>
              <a:t>, pages 249–256. PMLR.</a:t>
            </a:r>
          </a:p>
          <a:p>
            <a:r>
              <a:rPr lang="en-ID" sz="1000" dirty="0"/>
              <a:t>Goodfellow, I., Bengio, Y., and Courville, A. (2016). </a:t>
            </a:r>
            <a:r>
              <a:rPr lang="en-ID" sz="1000" i="1" dirty="0"/>
              <a:t>Deep Learning</a:t>
            </a:r>
            <a:r>
              <a:rPr lang="en-ID" sz="1000" dirty="0"/>
              <a:t>. MIT Press, Cambridge, MA.</a:t>
            </a:r>
          </a:p>
          <a:p>
            <a:r>
              <a:rPr lang="en-ID" sz="1000" dirty="0"/>
              <a:t>Hadi, F., </a:t>
            </a:r>
            <a:r>
              <a:rPr lang="en-ID" sz="1000" dirty="0" err="1"/>
              <a:t>Pristyanto</a:t>
            </a:r>
            <a:r>
              <a:rPr lang="en-ID" sz="1000" dirty="0"/>
              <a:t>, Y., and </a:t>
            </a:r>
            <a:r>
              <a:rPr lang="en-ID" sz="1000" dirty="0" err="1"/>
              <a:t>Prastyo</a:t>
            </a:r>
            <a:r>
              <a:rPr lang="en-ID" sz="1000" dirty="0"/>
              <a:t>, P. H. (2021). Predicting LQ45 financial sector indices using RNN-LSTM. </a:t>
            </a:r>
            <a:r>
              <a:rPr lang="en-ID" sz="1000" i="1" dirty="0"/>
              <a:t>Journal of Big Data</a:t>
            </a:r>
            <a:r>
              <a:rPr lang="en-ID" sz="1000" dirty="0"/>
              <a:t>, 8(1):104.</a:t>
            </a:r>
          </a:p>
          <a:p>
            <a:r>
              <a:rPr lang="en-ID" sz="1000" dirty="0"/>
              <a:t>Han, J., Kamber, M., and Pei, J. (2011). </a:t>
            </a:r>
            <a:r>
              <a:rPr lang="en-ID" sz="1000" i="1" dirty="0"/>
              <a:t>Data Mining: Concepts and Techniques</a:t>
            </a:r>
            <a:r>
              <a:rPr lang="en-ID" sz="1000" dirty="0"/>
              <a:t>. Morgan Kaufmann, Waltham, MA, 3rd edition.</a:t>
            </a:r>
          </a:p>
          <a:p>
            <a:r>
              <a:rPr lang="en-ID" sz="1000" dirty="0" err="1"/>
              <a:t>Haykin</a:t>
            </a:r>
            <a:r>
              <a:rPr lang="en-ID" sz="1000" dirty="0"/>
              <a:t>, S. (2009). </a:t>
            </a:r>
            <a:r>
              <a:rPr lang="en-ID" sz="1000" i="1" dirty="0"/>
              <a:t>Neural Networks and Learning Machines</a:t>
            </a:r>
            <a:r>
              <a:rPr lang="en-ID" sz="1000" dirty="0"/>
              <a:t>. Pearson, Upper Saddle River, NJ, 3 edition.</a:t>
            </a:r>
          </a:p>
          <a:p>
            <a:r>
              <a:rPr lang="en-ID" sz="1000" dirty="0"/>
              <a:t>Hyndman, R. J. and Athanasopoulos, G. (2018). </a:t>
            </a:r>
            <a:r>
              <a:rPr lang="en-ID" sz="1000" i="1" dirty="0"/>
              <a:t>Forecasting: Principles and Practice</a:t>
            </a:r>
            <a:r>
              <a:rPr lang="en-ID" sz="1000" dirty="0"/>
              <a:t>. </a:t>
            </a:r>
            <a:r>
              <a:rPr lang="en-ID" sz="1000" dirty="0" err="1"/>
              <a:t>OTexts</a:t>
            </a:r>
            <a:r>
              <a:rPr lang="en-ID" sz="1000" dirty="0"/>
              <a:t>, Melbourne, 2 edition.</a:t>
            </a:r>
          </a:p>
          <a:p>
            <a:r>
              <a:rPr lang="en-ID" sz="1000" dirty="0"/>
              <a:t>Hyndman, R. J. and Koehler, A. B. (2006). Another look at measures of forecast accuracy. </a:t>
            </a:r>
            <a:r>
              <a:rPr lang="en-ID" sz="1000" i="1" dirty="0"/>
              <a:t>International Journal of Forecasting</a:t>
            </a:r>
            <a:r>
              <a:rPr lang="en-ID" sz="1000" dirty="0"/>
              <a:t>, 22(4):679–688.</a:t>
            </a:r>
          </a:p>
          <a:p>
            <a:r>
              <a:rPr lang="en-ID" sz="1000" dirty="0"/>
              <a:t>Kaufman, S., Rosset, S., Perlich, C., and </a:t>
            </a:r>
            <a:r>
              <a:rPr lang="en-ID" sz="1000" dirty="0" err="1"/>
              <a:t>Stitelman</a:t>
            </a:r>
            <a:r>
              <a:rPr lang="en-ID" sz="1000" dirty="0"/>
              <a:t>, O. (2012). Leakage in data mining: Formulation, detection, and avoidance. </a:t>
            </a:r>
            <a:r>
              <a:rPr lang="en-ID" sz="1000" i="1" dirty="0"/>
              <a:t>ACM Transactions on Knowledge Discovery from Data</a:t>
            </a:r>
            <a:r>
              <a:rPr lang="en-ID" sz="1000" dirty="0"/>
              <a:t>, 6(4):1–21.</a:t>
            </a:r>
          </a:p>
          <a:p>
            <a:r>
              <a:rPr lang="en-ID" sz="1000" dirty="0"/>
              <a:t>Kim, J. et al. (2024). Neural differential equation models for financial time-series forecasting. </a:t>
            </a:r>
            <a:r>
              <a:rPr lang="en-ID" sz="1000" i="1" dirty="0"/>
              <a:t>Expert Systems with Applications</a:t>
            </a:r>
            <a:r>
              <a:rPr lang="en-ID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0252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C26C-6833-A5C8-247C-9677D534B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3B1BF9E-996D-260B-4BA1-DFE97A1CBD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997E12-4F36-0145-22FC-56DE4A2BE8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1EB51F0C-3464-A287-4A61-2A2C462DE536}"/>
              </a:ext>
            </a:extLst>
          </p:cNvPr>
          <p:cNvSpPr/>
          <p:nvPr/>
        </p:nvSpPr>
        <p:spPr>
          <a:xfrm>
            <a:off x="10610400" y="6438764"/>
            <a:ext cx="1581600" cy="419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720B4273-AC46-B744-1176-29C09ED5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25" y="6465737"/>
            <a:ext cx="2743200" cy="365125"/>
          </a:xfrm>
        </p:spPr>
        <p:txBody>
          <a:bodyPr/>
          <a:lstStyle/>
          <a:p>
            <a:fld id="{5EE0BDE2-5DF1-4EE7-A693-CA505B8990AC}" type="slidenum">
              <a:rPr lang="en-US" sz="1400" b="1" smtClean="0">
                <a:solidFill>
                  <a:schemeClr val="bg1"/>
                </a:solidFill>
              </a:rPr>
              <a:t>35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A7CB25-5C94-9F19-4F15-024B40948C70}"/>
              </a:ext>
            </a:extLst>
          </p:cNvPr>
          <p:cNvSpPr/>
          <p:nvPr/>
        </p:nvSpPr>
        <p:spPr>
          <a:xfrm>
            <a:off x="1718400" y="1212555"/>
            <a:ext cx="10473600" cy="1343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Google Shape;105;p15">
            <a:extLst>
              <a:ext uri="{FF2B5EF4-FFF2-40B4-BE49-F238E27FC236}">
                <a16:creationId xmlns:a16="http://schemas.microsoft.com/office/drawing/2014/main" id="{47663458-6459-6E87-191D-DCA78C9EFA8F}"/>
              </a:ext>
            </a:extLst>
          </p:cNvPr>
          <p:cNvSpPr/>
          <p:nvPr/>
        </p:nvSpPr>
        <p:spPr>
          <a:xfrm>
            <a:off x="3907200" y="100998"/>
            <a:ext cx="4377600" cy="9675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ea typeface="Calibri"/>
                <a:cs typeface="Calibri"/>
                <a:sym typeface="Calibri"/>
              </a:rPr>
              <a:t>Daftar </a:t>
            </a:r>
            <a:r>
              <a:rPr lang="en-US" sz="3600" dirty="0" err="1">
                <a:latin typeface="+mj-lt"/>
                <a:ea typeface="Calibri"/>
                <a:cs typeface="Calibri"/>
                <a:sym typeface="Calibri"/>
              </a:rPr>
              <a:t>Referensi</a:t>
            </a:r>
            <a:endParaRPr lang="en-US" sz="360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8A18ED-B0A4-C9B1-4218-BEF0980E2708}"/>
              </a:ext>
            </a:extLst>
          </p:cNvPr>
          <p:cNvSpPr/>
          <p:nvPr/>
        </p:nvSpPr>
        <p:spPr>
          <a:xfrm>
            <a:off x="0" y="6438600"/>
            <a:ext cx="10610400" cy="41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95AD8-8AB2-609C-EDB5-E94E5F5D1B76}"/>
              </a:ext>
            </a:extLst>
          </p:cNvPr>
          <p:cNvSpPr txBox="1"/>
          <p:nvPr/>
        </p:nvSpPr>
        <p:spPr>
          <a:xfrm>
            <a:off x="1716733" y="1412558"/>
            <a:ext cx="102042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000" dirty="0"/>
              <a:t>Kingma, D. P. and Ba, J. (2015). Adam: A method for stochastic optimization. In </a:t>
            </a:r>
            <a:r>
              <a:rPr lang="en-ID" sz="1000" i="1" dirty="0"/>
              <a:t>3rd International Conference on Learning Representations (ICLR 2015)</a:t>
            </a:r>
            <a:r>
              <a:rPr lang="en-ID" sz="1000" dirty="0"/>
              <a:t>. arXiv:1412.6980.</a:t>
            </a:r>
          </a:p>
          <a:p>
            <a:r>
              <a:rPr lang="en-ID" sz="1000" dirty="0"/>
              <a:t>Kumari, P. and Swarnkar, P. (2020). Importance of data standardization methods on stock indices prediction accuracy. In </a:t>
            </a:r>
            <a:r>
              <a:rPr lang="en-ID" sz="1000" i="1" dirty="0"/>
              <a:t>Proceedings of the International Conference on Paradigms of Computing, Communication and Data Sciences</a:t>
            </a:r>
            <a:r>
              <a:rPr lang="en-ID" sz="1000" dirty="0"/>
              <a:t>, pages 427–435. Springer.</a:t>
            </a:r>
          </a:p>
          <a:p>
            <a:r>
              <a:rPr lang="en-ID" sz="1000" dirty="0"/>
              <a:t>LeBaron, B. (2000). Agent-based computational finance: Suggested readings and early research. </a:t>
            </a:r>
            <a:r>
              <a:rPr lang="en-ID" sz="1000" i="1" dirty="0"/>
              <a:t>Journal of Economic Dynamics and Control</a:t>
            </a:r>
            <a:r>
              <a:rPr lang="en-ID" sz="1000" dirty="0"/>
              <a:t>, 24(5–7):679–702.</a:t>
            </a:r>
          </a:p>
          <a:p>
            <a:r>
              <a:rPr lang="en-ID" sz="1000" dirty="0"/>
              <a:t>LeCun, Y., Bengio, Y., and Hinton, G. (2015). Deep learning. </a:t>
            </a:r>
            <a:r>
              <a:rPr lang="en-ID" sz="1000" i="1" dirty="0"/>
              <a:t>Nature</a:t>
            </a:r>
            <a:r>
              <a:rPr lang="en-ID" sz="1000" dirty="0"/>
              <a:t>, 521(7553):436–444.</a:t>
            </a:r>
          </a:p>
          <a:p>
            <a:r>
              <a:rPr lang="en-ID" sz="1000" dirty="0"/>
              <a:t>LeCun, Y. A., </a:t>
            </a:r>
            <a:r>
              <a:rPr lang="en-ID" sz="1000" dirty="0" err="1"/>
              <a:t>Bottou</a:t>
            </a:r>
            <a:r>
              <a:rPr lang="en-ID" sz="1000" dirty="0"/>
              <a:t>, L., Orr, G. B., and Müller, K.-R. (2012). Efficient </a:t>
            </a:r>
            <a:r>
              <a:rPr lang="en-ID" sz="1000" dirty="0" err="1"/>
              <a:t>BackProp</a:t>
            </a:r>
            <a:r>
              <a:rPr lang="en-ID" sz="1000" dirty="0"/>
              <a:t>. In </a:t>
            </a:r>
            <a:r>
              <a:rPr lang="en-ID" sz="1000" i="1" dirty="0"/>
              <a:t>Neural Networks: Tricks of the Trade</a:t>
            </a:r>
            <a:r>
              <a:rPr lang="en-ID" sz="1000" dirty="0"/>
              <a:t>, pages 9–48. Springer, 2 edition.</a:t>
            </a:r>
          </a:p>
          <a:p>
            <a:r>
              <a:rPr lang="en-ID" sz="1000" dirty="0"/>
              <a:t>Nair, V. and Hinton, G. E. (2010). Rectified linear units improve restricted Boltzmann machines. In </a:t>
            </a:r>
            <a:r>
              <a:rPr lang="en-ID" sz="1000" i="1" dirty="0"/>
              <a:t>Proceedings of the 27th International Conference on Machine Learning (ICML)</a:t>
            </a:r>
            <a:r>
              <a:rPr lang="en-ID" sz="1000" dirty="0"/>
              <a:t>, pages 807–814.</a:t>
            </a:r>
          </a:p>
          <a:p>
            <a:r>
              <a:rPr lang="en-ID" sz="1000" dirty="0"/>
              <a:t>Nelson, D. M. Q., Pereira, A. C. M., and de Oliveira, R. A. (2017). Stock market’s price movement prediction with LSTM neural networks. </a:t>
            </a:r>
            <a:r>
              <a:rPr lang="en-ID" sz="1000" i="1" dirty="0"/>
              <a:t>2017 International Joint Conference on Neural Networks (IJCNN)</a:t>
            </a:r>
            <a:r>
              <a:rPr lang="en-ID" sz="1000" dirty="0"/>
              <a:t>, pages 1419–1426.</a:t>
            </a:r>
          </a:p>
          <a:p>
            <a:r>
              <a:rPr lang="en-ID" sz="1000" dirty="0" err="1"/>
              <a:t>Pascanu</a:t>
            </a:r>
            <a:r>
              <a:rPr lang="en-ID" sz="1000" dirty="0"/>
              <a:t>, R., </a:t>
            </a:r>
            <a:r>
              <a:rPr lang="en-ID" sz="1000" dirty="0" err="1"/>
              <a:t>Mikolov</a:t>
            </a:r>
            <a:r>
              <a:rPr lang="en-ID" sz="1000" dirty="0"/>
              <a:t>, T., and Bengio, Y. (2013). On the difficulty of training recurrent neural networks. In Dasgupta, S. and McAllester, D., editors, </a:t>
            </a:r>
            <a:r>
              <a:rPr lang="en-ID" sz="1000" i="1" dirty="0"/>
              <a:t>Proceedings of the 30th International Conference on Machine Learning (ICML)</a:t>
            </a:r>
            <a:r>
              <a:rPr lang="en-ID" sz="1000" dirty="0"/>
              <a:t>, volume 28 of </a:t>
            </a:r>
            <a:r>
              <a:rPr lang="en-ID" sz="1000" i="1" dirty="0"/>
              <a:t>Proceedings of Machine Learning Research</a:t>
            </a:r>
            <a:r>
              <a:rPr lang="en-ID" sz="1000" dirty="0"/>
              <a:t>, pages 1310–1318, Atlanta, Georgia, USA. PMLR.</a:t>
            </a:r>
          </a:p>
          <a:p>
            <a:r>
              <a:rPr lang="en-ID" sz="1000" dirty="0" err="1"/>
              <a:t>Pranolo</a:t>
            </a:r>
            <a:r>
              <a:rPr lang="en-ID" sz="1000" dirty="0"/>
              <a:t>, A. et al. (2023). Enhanced multivariate time series analysis using LSTM: A comparative study of min-max and z-score normalization techniques. </a:t>
            </a:r>
            <a:r>
              <a:rPr lang="en-ID" sz="1000" i="1" dirty="0"/>
              <a:t>Journal of Big Data</a:t>
            </a:r>
            <a:r>
              <a:rPr lang="en-ID" sz="1000" dirty="0"/>
              <a:t>, 10(1):1–25.</a:t>
            </a:r>
          </a:p>
          <a:p>
            <a:r>
              <a:rPr lang="en-ID" sz="1000" dirty="0"/>
              <a:t>Qian, N. (1999). On the momentum term in gradient descent learning algorithms. </a:t>
            </a:r>
            <a:r>
              <a:rPr lang="en-ID" sz="1000" i="1" dirty="0"/>
              <a:t>Neural Networks</a:t>
            </a:r>
            <a:r>
              <a:rPr lang="en-ID" sz="1000" dirty="0"/>
              <a:t>, 12(1):145–151.</a:t>
            </a:r>
          </a:p>
          <a:p>
            <a:r>
              <a:rPr lang="en-ID" sz="1000" dirty="0" err="1"/>
              <a:t>Rebala</a:t>
            </a:r>
            <a:r>
              <a:rPr lang="en-ID" sz="1000" dirty="0"/>
              <a:t>, G., Ravi, A., and </a:t>
            </a:r>
            <a:r>
              <a:rPr lang="en-ID" sz="1000" dirty="0" err="1"/>
              <a:t>Churiwala</a:t>
            </a:r>
            <a:r>
              <a:rPr lang="en-ID" sz="1000" dirty="0"/>
              <a:t>, S. (2019). </a:t>
            </a:r>
            <a:r>
              <a:rPr lang="en-ID" sz="1000" i="1" dirty="0"/>
              <a:t>An Introduction to Machine Learning</a:t>
            </a:r>
            <a:r>
              <a:rPr lang="en-ID" sz="1000" dirty="0"/>
              <a:t>. Springer.</a:t>
            </a:r>
          </a:p>
          <a:p>
            <a:r>
              <a:rPr lang="en-ID" sz="1000" dirty="0"/>
              <a:t>Rumelhart, D. E., Hinton, G. E., and Williams, R. J. (1986). Learning representations by back-propagating errors. </a:t>
            </a:r>
            <a:r>
              <a:rPr lang="en-ID" sz="1000" i="1" dirty="0"/>
              <a:t>Nature</a:t>
            </a:r>
            <a:r>
              <a:rPr lang="en-ID" sz="1000" dirty="0"/>
              <a:t>, 323(6088):533–536.</a:t>
            </a:r>
          </a:p>
          <a:p>
            <a:r>
              <a:rPr lang="en-ID" sz="1000" dirty="0"/>
              <a:t>Sethia, A. and Raut, P. (2019). Application of LSTM, GRU and ICA for stock price prediction. </a:t>
            </a:r>
            <a:r>
              <a:rPr lang="en-ID" sz="1000" i="1" dirty="0"/>
              <a:t>Information and Communication Technology for Intelligent Systems</a:t>
            </a:r>
            <a:r>
              <a:rPr lang="en-ID" sz="1000" dirty="0"/>
              <a:t>, pages 479–487.</a:t>
            </a:r>
          </a:p>
          <a:p>
            <a:r>
              <a:rPr lang="en-ID" sz="1000" dirty="0"/>
              <a:t>Shi, J., Jain, M., and Narasimhan, G. (2022). Time series forecasting (TSF) using various deep learning models.</a:t>
            </a:r>
          </a:p>
          <a:p>
            <a:r>
              <a:rPr lang="en-ID" sz="1000" dirty="0"/>
              <a:t>Siami-Namini, S., Tavakoli, N., and Siami </a:t>
            </a:r>
            <a:r>
              <a:rPr lang="en-ID" sz="1000" dirty="0" err="1"/>
              <a:t>Namin</a:t>
            </a:r>
            <a:r>
              <a:rPr lang="en-ID" sz="1000" dirty="0"/>
              <a:t>, A. (2019). The performance of LSTM and </a:t>
            </a:r>
            <a:r>
              <a:rPr lang="en-ID" sz="1000" dirty="0" err="1"/>
              <a:t>BiLSTM</a:t>
            </a:r>
            <a:r>
              <a:rPr lang="en-ID" sz="1000" dirty="0"/>
              <a:t> in forecasting time series. In </a:t>
            </a:r>
            <a:r>
              <a:rPr lang="en-ID" sz="1000" i="1" dirty="0"/>
              <a:t>2019 IEEE International Conference on Big Data (Big Data)</a:t>
            </a:r>
            <a:r>
              <a:rPr lang="en-ID" sz="1000" dirty="0"/>
              <a:t>, pages 3285–3292.</a:t>
            </a:r>
          </a:p>
          <a:p>
            <a:r>
              <a:rPr lang="en-ID" sz="1000" dirty="0"/>
              <a:t>Simon, P. and Singh, P. (2015). </a:t>
            </a:r>
            <a:r>
              <a:rPr lang="en-ID" sz="1000" i="1" dirty="0"/>
              <a:t>Too Big to Ignore: The Business Case for Big Data</a:t>
            </a:r>
            <a:r>
              <a:rPr lang="en-ID" sz="1000" dirty="0"/>
              <a:t>. Wiley.</a:t>
            </a:r>
          </a:p>
          <a:p>
            <a:r>
              <a:rPr lang="en-ID" sz="1000" dirty="0"/>
              <a:t>Susilowati, E. et al. (2012). </a:t>
            </a:r>
            <a:r>
              <a:rPr lang="en-ID" sz="1000" dirty="0" err="1"/>
              <a:t>Analisis</a:t>
            </a:r>
            <a:r>
              <a:rPr lang="en-ID" sz="1000" dirty="0"/>
              <a:t> </a:t>
            </a:r>
            <a:r>
              <a:rPr lang="en-ID" sz="1000" dirty="0" err="1"/>
              <a:t>saham</a:t>
            </a:r>
            <a:r>
              <a:rPr lang="en-ID" sz="1000" dirty="0"/>
              <a:t> LQ45 di Bursa </a:t>
            </a:r>
            <a:r>
              <a:rPr lang="en-ID" sz="1000" dirty="0" err="1"/>
              <a:t>Efek</a:t>
            </a:r>
            <a:r>
              <a:rPr lang="en-ID" sz="1000" dirty="0"/>
              <a:t> Indonesia. </a:t>
            </a:r>
            <a:r>
              <a:rPr lang="en-ID" sz="1000" i="1" dirty="0" err="1"/>
              <a:t>Jurnal</a:t>
            </a:r>
            <a:r>
              <a:rPr lang="en-ID" sz="1000" i="1" dirty="0"/>
              <a:t> Ekonomi dan </a:t>
            </a:r>
            <a:r>
              <a:rPr lang="en-ID" sz="1000" i="1" dirty="0" err="1"/>
              <a:t>Bisnis</a:t>
            </a:r>
            <a:r>
              <a:rPr lang="en-ID" sz="1000" dirty="0"/>
              <a:t>.</a:t>
            </a:r>
          </a:p>
          <a:p>
            <a:r>
              <a:rPr lang="en-ID" sz="1000" dirty="0"/>
              <a:t>Tieleman, T. and Hinton, G. (2012). Lecture 6.5—</a:t>
            </a:r>
            <a:r>
              <a:rPr lang="en-ID" sz="1000" dirty="0" err="1"/>
              <a:t>RMSProp</a:t>
            </a:r>
            <a:r>
              <a:rPr lang="en-ID" sz="1000" dirty="0"/>
              <a:t>: Divide the gradient by a running average of its recent magnitude. COURSERA: Neural Networks for Machine Learning.</a:t>
            </a:r>
          </a:p>
          <a:p>
            <a:r>
              <a:rPr lang="en-ID" sz="1000" dirty="0"/>
              <a:t>Willmott, C. J. and Matsuura, K. (2005). Advantages of the mean absolute error (MAE) over the root mean square error (RMSE) in assessing average model performance. </a:t>
            </a:r>
            <a:r>
              <a:rPr lang="en-ID" sz="1000" i="1" dirty="0"/>
              <a:t>Climate Research</a:t>
            </a:r>
            <a:r>
              <a:rPr lang="en-ID" sz="1000" dirty="0"/>
              <a:t>, 30(1):79–82.</a:t>
            </a:r>
          </a:p>
          <a:p>
            <a:r>
              <a:rPr lang="en-ID" sz="1000" dirty="0"/>
              <a:t>Zill, D. G. (2013). </a:t>
            </a:r>
            <a:r>
              <a:rPr lang="en-ID" sz="1000" i="1" dirty="0"/>
              <a:t>A First Course in Differential Equations with </a:t>
            </a:r>
            <a:r>
              <a:rPr lang="en-ID" sz="1000" i="1" dirty="0" err="1"/>
              <a:t>Modeling</a:t>
            </a:r>
            <a:r>
              <a:rPr lang="en-ID" sz="1000" i="1" dirty="0"/>
              <a:t> Applications</a:t>
            </a:r>
            <a:r>
              <a:rPr lang="en-ID" sz="1000" dirty="0"/>
              <a:t>. Brooks/Cole, 10 edition.</a:t>
            </a:r>
          </a:p>
          <a:p>
            <a:endParaRPr lang="en-ID" sz="1000" dirty="0"/>
          </a:p>
          <a:p>
            <a:endParaRPr lang="en-ID" sz="1000" dirty="0"/>
          </a:p>
        </p:txBody>
      </p:sp>
    </p:spTree>
    <p:extLst>
      <p:ext uri="{BB962C8B-B14F-4D97-AF65-F5344CB8AC3E}">
        <p14:creationId xmlns:p14="http://schemas.microsoft.com/office/powerpoint/2010/main" val="39969127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/>
          <p:cNvPicPr preferRelativeResize="0"/>
          <p:nvPr/>
        </p:nvPicPr>
        <p:blipFill rotWithShape="1">
          <a:blip r:embed="rId3">
            <a:alphaModFix/>
          </a:blip>
          <a:srcRect t="7317" b="1768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0" y="0"/>
            <a:ext cx="12192000" cy="6964361"/>
          </a:xfrm>
          <a:custGeom>
            <a:avLst/>
            <a:gdLst/>
            <a:ahLst/>
            <a:cxnLst/>
            <a:rect l="l" t="t" r="r" b="b"/>
            <a:pathLst>
              <a:path w="6671512" h="3885860" extrusionOk="0">
                <a:moveTo>
                  <a:pt x="0" y="0"/>
                </a:moveTo>
                <a:lnTo>
                  <a:pt x="6671512" y="0"/>
                </a:lnTo>
                <a:lnTo>
                  <a:pt x="6671512" y="3885860"/>
                </a:lnTo>
                <a:lnTo>
                  <a:pt x="0" y="388586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1176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506663" y="3000375"/>
            <a:ext cx="7178675" cy="857250"/>
          </a:xfrm>
          <a:prstGeom prst="roundRect">
            <a:avLst>
              <a:gd name="adj" fmla="val 16667"/>
            </a:avLst>
          </a:prstGeom>
          <a:solidFill>
            <a:srgbClr val="7F7F7F">
              <a:alpha val="5803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405063" y="2913063"/>
            <a:ext cx="73342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6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Terima Kasih</a:t>
            </a:r>
            <a:endParaRPr/>
          </a:p>
        </p:txBody>
      </p:sp>
      <p:grpSp>
        <p:nvGrpSpPr>
          <p:cNvPr id="206" name="Google Shape;206;p20"/>
          <p:cNvGrpSpPr/>
          <p:nvPr/>
        </p:nvGrpSpPr>
        <p:grpSpPr>
          <a:xfrm>
            <a:off x="1072363" y="5722120"/>
            <a:ext cx="10730856" cy="1118123"/>
            <a:chOff x="739492" y="5759774"/>
            <a:chExt cx="10729392" cy="1118145"/>
          </a:xfrm>
        </p:grpSpPr>
        <p:sp>
          <p:nvSpPr>
            <p:cNvPr id="207" name="Google Shape;207;p20"/>
            <p:cNvSpPr/>
            <p:nvPr/>
          </p:nvSpPr>
          <p:spPr>
            <a:xfrm>
              <a:off x="739492" y="6167045"/>
              <a:ext cx="10720513" cy="710874"/>
            </a:xfrm>
            <a:custGeom>
              <a:avLst/>
              <a:gdLst/>
              <a:ahLst/>
              <a:cxnLst/>
              <a:rect l="l" t="t" r="r" b="b"/>
              <a:pathLst>
                <a:path w="1881624" h="525363" extrusionOk="0">
                  <a:moveTo>
                    <a:pt x="0" y="0"/>
                  </a:moveTo>
                  <a:lnTo>
                    <a:pt x="1881624" y="0"/>
                  </a:lnTo>
                  <a:lnTo>
                    <a:pt x="1881624" y="525363"/>
                  </a:lnTo>
                  <a:lnTo>
                    <a:pt x="0" y="525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748371" y="5759774"/>
              <a:ext cx="10720513" cy="413588"/>
            </a:xfrm>
            <a:custGeom>
              <a:avLst/>
              <a:gdLst/>
              <a:ahLst/>
              <a:cxnLst/>
              <a:rect l="l" t="t" r="r" b="b"/>
              <a:pathLst>
                <a:path w="3003165" h="525363" extrusionOk="0">
                  <a:moveTo>
                    <a:pt x="0" y="0"/>
                  </a:moveTo>
                  <a:lnTo>
                    <a:pt x="3003165" y="0"/>
                  </a:lnTo>
                  <a:lnTo>
                    <a:pt x="3003165" y="525363"/>
                  </a:lnTo>
                  <a:lnTo>
                    <a:pt x="0" y="525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20"/>
          <p:cNvSpPr txBox="1"/>
          <p:nvPr/>
        </p:nvSpPr>
        <p:spPr>
          <a:xfrm>
            <a:off x="1116367" y="6237997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Fakultas</a:t>
            </a:r>
            <a:r>
              <a:rPr lang="en-US" sz="1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Matematika dan </a:t>
            </a:r>
            <a:r>
              <a:rPr lang="en-US" sz="1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Ilmu</a:t>
            </a:r>
            <a:r>
              <a:rPr lang="en-US" sz="1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Pengetahuan</a:t>
            </a:r>
            <a:r>
              <a:rPr lang="en-US" sz="1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Alam (FMIPA) - Universitas Indonesia</a:t>
            </a:r>
            <a:endParaRPr dirty="0"/>
          </a:p>
        </p:txBody>
      </p:sp>
      <p:sp>
        <p:nvSpPr>
          <p:cNvPr id="210" name="Google Shape;210;p20"/>
          <p:cNvSpPr txBox="1"/>
          <p:nvPr/>
        </p:nvSpPr>
        <p:spPr>
          <a:xfrm>
            <a:off x="450850" y="6532563"/>
            <a:ext cx="11445875" cy="26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Gedung D, Kampus UI, Depok 16424, Telp. +62-21-7862719, Fax. +62-21-7863439, Email. </a:t>
            </a:r>
            <a:r>
              <a:rPr lang="en-US" sz="11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dep.math@ui.ac.id</a:t>
            </a:r>
            <a:endParaRPr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2575464" y="5234006"/>
            <a:ext cx="7146925" cy="1040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38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 Studi S1 Matematika </a:t>
            </a:r>
            <a:r>
              <a:rPr lang="en-US" sz="20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Departemen</a:t>
            </a:r>
            <a:r>
              <a:rPr lang="en-US" sz="2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Matematika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607A30-0A68-EC61-277D-FA772CB30D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214" y="0"/>
            <a:ext cx="2337786" cy="9765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2E1DDB-6CF4-9F18-603B-29C7209A17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72" y="1"/>
            <a:ext cx="1210543" cy="195292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0FB60-2B1B-F711-7BE6-42846091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0BDE2-5DF1-4EE7-A693-CA505B8990AC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2499</TotalTime>
  <Words>6596</Words>
  <Application>Microsoft Office PowerPoint</Application>
  <PresentationFormat>Widescreen</PresentationFormat>
  <Paragraphs>773</Paragraphs>
  <Slides>36</Slides>
  <Notes>25</Notes>
  <HiddenSlides>9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Aptos (Body)</vt:lpstr>
      <vt:lpstr>Aptos Display</vt:lpstr>
      <vt:lpstr>Arial</vt:lpstr>
      <vt:lpstr>Calibri</vt:lpstr>
      <vt:lpstr>Cambria Math</vt:lpstr>
      <vt:lpstr>Office Theme</vt:lpstr>
      <vt:lpstr>think-cell Slide</vt:lpstr>
      <vt:lpstr>Prediksi Indeks Harga Saham LQ45 dengan Model Gated Recurrent Unit – Ordinary Differential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Judul Skripsi (font: 36)</dc:title>
  <dc:creator>Maulana Malik</dc:creator>
  <cp:lastModifiedBy>Fattan Raditya Anggoro</cp:lastModifiedBy>
  <cp:revision>32</cp:revision>
  <cp:lastPrinted>2026-06-22T16:26:08Z</cp:lastPrinted>
  <dcterms:created xsi:type="dcterms:W3CDTF">2026-03-12T03:26:34Z</dcterms:created>
  <dcterms:modified xsi:type="dcterms:W3CDTF">2026-06-23T07:00:13Z</dcterms:modified>
</cp:coreProperties>
</file>